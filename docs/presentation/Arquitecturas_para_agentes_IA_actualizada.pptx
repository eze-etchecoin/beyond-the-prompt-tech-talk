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22"/>
  </p:notesMasterIdLst>
  <p:sldIdLst>
    <p:sldId id="256" r:id="rId2"/>
    <p:sldId id="275" r:id="rId3"/>
    <p:sldId id="27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2" r:id="rId19"/>
    <p:sldId id="273" r:id="rId20"/>
    <p:sldId id="274" r:id="rId21"/>
  </p:sldIdLst>
  <p:sldSz cx="12192000" cy="6858000"/>
  <p:notesSz cx="6858000" cy="9144000"/>
  <p:embeddedFontLst>
    <p:embeddedFont>
      <p:font typeface="Tahoma" panose="020B0604030504040204" pitchFamily="34" charset="0"/>
      <p:regular r:id="rId23"/>
      <p:bold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-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Tiempo </a:t>
            </a:r>
            <a:r>
              <a:rPr dirty="0" err="1"/>
              <a:t>sugerido</a:t>
            </a:r>
            <a:r>
              <a:rPr dirty="0"/>
              <a:t>: 2 </a:t>
            </a:r>
            <a:r>
              <a:rPr dirty="0" err="1"/>
              <a:t>minutos</a:t>
            </a:r>
            <a:r>
              <a:rPr dirty="0"/>
              <a:t>.</a:t>
            </a:r>
          </a:p>
          <a:p>
            <a:r>
              <a:rPr dirty="0" err="1"/>
              <a:t>Abrir</a:t>
            </a:r>
            <a:r>
              <a:rPr dirty="0"/>
              <a:t> con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pregunta</a:t>
            </a:r>
            <a:r>
              <a:rPr dirty="0"/>
              <a:t>: ¿</a:t>
            </a:r>
            <a:r>
              <a:rPr dirty="0" err="1"/>
              <a:t>cuánto</a:t>
            </a:r>
            <a:r>
              <a:rPr dirty="0"/>
              <a:t> de </a:t>
            </a:r>
            <a:r>
              <a:rPr dirty="0" err="1"/>
              <a:t>nuestro</a:t>
            </a:r>
            <a:r>
              <a:rPr dirty="0"/>
              <a:t> </a:t>
            </a:r>
            <a:r>
              <a:rPr dirty="0" err="1"/>
              <a:t>trabajo</a:t>
            </a:r>
            <a:r>
              <a:rPr dirty="0"/>
              <a:t> con IA </a:t>
            </a:r>
            <a:r>
              <a:rPr dirty="0" err="1"/>
              <a:t>sigue</a:t>
            </a:r>
            <a:r>
              <a:rPr dirty="0"/>
              <a:t> </a:t>
            </a:r>
            <a:r>
              <a:rPr dirty="0" err="1"/>
              <a:t>dependiendo</a:t>
            </a:r>
            <a:r>
              <a:rPr dirty="0"/>
              <a:t> de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persona </a:t>
            </a:r>
            <a:r>
              <a:rPr dirty="0" err="1"/>
              <a:t>escriba</a:t>
            </a:r>
            <a:r>
              <a:rPr dirty="0"/>
              <a:t> el </a:t>
            </a:r>
            <a:r>
              <a:rPr dirty="0" err="1"/>
              <a:t>próximo</a:t>
            </a:r>
            <a:r>
              <a:rPr dirty="0"/>
              <a:t> prompt?</a:t>
            </a:r>
          </a:p>
          <a:p>
            <a:r>
              <a:rPr dirty="0" err="1"/>
              <a:t>Anticipar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la </a:t>
            </a:r>
            <a:r>
              <a:rPr dirty="0" err="1"/>
              <a:t>charla</a:t>
            </a:r>
            <a:r>
              <a:rPr dirty="0"/>
              <a:t> </a:t>
            </a:r>
            <a:r>
              <a:rPr dirty="0" err="1"/>
              <a:t>alternará</a:t>
            </a:r>
            <a:r>
              <a:rPr dirty="0"/>
              <a:t> </a:t>
            </a:r>
            <a:r>
              <a:rPr dirty="0" err="1"/>
              <a:t>conceptos</a:t>
            </a:r>
            <a:r>
              <a:rPr dirty="0"/>
              <a:t> breves con </a:t>
            </a:r>
            <a:r>
              <a:rPr dirty="0" err="1"/>
              <a:t>demostraciones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vivo.</a:t>
            </a:r>
          </a:p>
          <a:p>
            <a:endParaRPr dirty="0"/>
          </a:p>
          <a:p>
            <a:r>
              <a:rPr dirty="0"/>
              <a:t>[Sources]</a:t>
            </a:r>
          </a:p>
          <a:p>
            <a:r>
              <a:rPr dirty="0"/>
              <a:t>- User-provided </a:t>
            </a:r>
            <a:r>
              <a:rPr dirty="0" err="1"/>
              <a:t>Avenga</a:t>
            </a:r>
            <a:r>
              <a:rPr dirty="0"/>
              <a:t> template deck (visual assets and brand styling).</a:t>
            </a:r>
          </a:p>
          <a:p>
            <a:r>
              <a:rPr dirty="0"/>
              <a:t>- Presentation concepts and demo plan supplied by Ezequiel Etchecoin.</a:t>
            </a:r>
          </a:p>
          <a:p>
            <a:r>
              <a:rPr dirty="0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1A33F-2270-55B5-BF3A-EC0B39F830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B07679-B208-64D2-FCD3-5518F22005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6A5E95-AC65-DD92-AD03-0244D347F3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7404F7-68A9-5EA2-47BD-E066CFAF2E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7802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Tiempo sugerido: 3 minutos.</a:t>
            </a:r>
          </a:p>
          <a:p>
            <a:r>
              <a:t>Diferenciar una respuesta plausible de un proceso confiable.</a:t>
            </a:r>
          </a:p>
          <a:p>
            <a:r>
              <a:t>Introducir el cambio de foco: instrucción, información disponible, capacidad de actuar y control del progreso.</a:t>
            </a:r>
          </a:p>
          <a:p>
            <a:endParaRPr/>
          </a:p>
          <a:p>
            <a:r>
              <a:t>[Sources]</a:t>
            </a:r>
          </a:p>
          <a:p>
            <a:r>
              <a:t>- User-provided Avenga template deck (visual assets and brand styling).</a:t>
            </a:r>
          </a:p>
          <a:p>
            <a:r>
              <a:t>- Flowtivity, “From Loops to Graphs: The Next Paradigm in AI Agent Engineering”, 2026: https://flowtivity.ai/blog/graph-engineering-2026-guide-openclaw-codex/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Tiempo sugerido: 4 minutos.</a:t>
            </a:r>
          </a:p>
          <a:p>
            <a:r>
              <a:t>Presentar la secuencia como un modelo didáctico, no como una taxonomía universal ni una carrera hacia el grafo.</a:t>
            </a:r>
          </a:p>
          <a:p>
            <a:r>
              <a:t>Prompt diseña la instrucción. Context diseña lo que el modelo puede ver. Harness vuelve ese contexto ejecutable. Loop diseña la iteración. Graph diseña la topología del trabajo.</a:t>
            </a:r>
          </a:p>
          <a:p>
            <a:endParaRPr/>
          </a:p>
          <a:p>
            <a:r>
              <a:t>[Sources]</a:t>
            </a:r>
          </a:p>
          <a:p>
            <a:r>
              <a:t>- User-provided Avenga template deck (visual assets and brand styling).</a:t>
            </a:r>
          </a:p>
          <a:p>
            <a:r>
              <a:t>- Flowtivity, “The Evolution: Four Paradigms in Four Years”, 2026: https://flowtivity.ai/blog/graph-engineering-2026-guide-openclaw-codex/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Tiempo </a:t>
            </a:r>
            <a:r>
              <a:rPr dirty="0" err="1"/>
              <a:t>sugerido</a:t>
            </a:r>
            <a:r>
              <a:rPr dirty="0"/>
              <a:t> del </a:t>
            </a:r>
            <a:r>
              <a:rPr dirty="0" err="1"/>
              <a:t>bloque</a:t>
            </a:r>
            <a:r>
              <a:rPr dirty="0"/>
              <a:t>: 8 </a:t>
            </a:r>
            <a:r>
              <a:rPr dirty="0" err="1"/>
              <a:t>minutos</a:t>
            </a:r>
            <a:r>
              <a:rPr dirty="0"/>
              <a:t>.</a:t>
            </a:r>
          </a:p>
          <a:p>
            <a:r>
              <a:rPr dirty="0"/>
              <a:t>Cambiar a Visual Studio y </a:t>
            </a:r>
            <a:r>
              <a:rPr dirty="0" err="1"/>
              <a:t>comenzar</a:t>
            </a:r>
            <a:r>
              <a:rPr dirty="0"/>
              <a:t> </a:t>
            </a:r>
            <a:r>
              <a:rPr dirty="0" err="1"/>
              <a:t>desde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aplicación</a:t>
            </a:r>
            <a:r>
              <a:rPr dirty="0"/>
              <a:t> de </a:t>
            </a:r>
            <a:r>
              <a:rPr dirty="0" err="1"/>
              <a:t>consola</a:t>
            </a:r>
            <a:r>
              <a:rPr dirty="0"/>
              <a:t> </a:t>
            </a:r>
            <a:r>
              <a:rPr dirty="0" err="1"/>
              <a:t>vacía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[Sources]</a:t>
            </a:r>
          </a:p>
          <a:p>
            <a:r>
              <a:rPr dirty="0"/>
              <a:t>- User-provided </a:t>
            </a:r>
            <a:r>
              <a:rPr dirty="0" err="1"/>
              <a:t>Avenga</a:t>
            </a:r>
            <a:r>
              <a:rPr dirty="0"/>
              <a:t> template deck (visual assets and brand styling).</a:t>
            </a:r>
          </a:p>
          <a:p>
            <a:r>
              <a:rPr dirty="0"/>
              <a:t>- Presentation concepts and demo plan supplied by Ezequiel Etchecoin.</a:t>
            </a:r>
          </a:p>
          <a:p>
            <a:r>
              <a:rPr dirty="0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Tiempo sugerido: 4 minutos, después de la primera demo.</a:t>
            </a:r>
          </a:p>
          <a:p>
            <a:r>
              <a:t>Explicar que un buen prompt puede fallar si recibe información irrelevante, incompleta o desactualizada.</a:t>
            </a:r>
          </a:p>
          <a:p>
            <a:r>
              <a:t>Context engineering incluye system prompts, ejemplos, RAG, memoria, tool descriptions y el estado actual de la tarea.</a:t>
            </a:r>
          </a:p>
          <a:p>
            <a:r>
              <a:t>Transición: seleccionar información todavía no le da al modelo capacidad para actuar. Esa capacidad aparece en el harness.</a:t>
            </a:r>
          </a:p>
          <a:p>
            <a:endParaRPr/>
          </a:p>
          <a:p>
            <a:r>
              <a:t>[Sources]</a:t>
            </a:r>
          </a:p>
          <a:p>
            <a:r>
              <a:t>- User-provided Avenga template deck (visual assets and brand styling).</a:t>
            </a:r>
          </a:p>
          <a:p>
            <a:r>
              <a:t>- Flowtivity, “The Evolution: Four Paradigms in Four Years”, 2026: https://flowtivity.ai/blog/graph-engineering-2026-guide-openclaw-codex/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Tiempo sugerido del bloque: 12 minutos.</a:t>
            </a:r>
          </a:p>
          <a:p>
            <a:r>
              <a:t>El contexto define qué información recibe el modelo. El harness añade la interfaz para actuar sobre el entorno y obtener feedback verificable.</a:t>
            </a:r>
          </a:p>
          <a:p>
            <a:endParaRPr/>
          </a:p>
          <a:p>
            <a:r>
              <a:t>[Sources]</a:t>
            </a:r>
          </a:p>
          <a:p>
            <a:r>
              <a:t>- User-provided Avenga template deck (visual assets and brand styling).</a:t>
            </a:r>
          </a:p>
          <a:p>
            <a:r>
              <a:t>- Presentation concepts and demo plan supplied by Ezequiel Etchecoin.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El contexto responde “qué necesita saber”. El harness responde “qué puede hacer, bajo qué reglas y con qué evidencia”.</a:t>
            </a:r>
          </a:p>
          <a:p>
            <a:r>
              <a:t>Un prompt largo no reemplaza ninguna de las dos capas.</a:t>
            </a:r>
          </a:p>
          <a:p>
            <a:endParaRPr/>
          </a:p>
          <a:p>
            <a:r>
              <a:t>[Sources]</a:t>
            </a:r>
          </a:p>
          <a:p>
            <a:r>
              <a:t>- User-provided Avenga template deck (visual assets and brand styling).</a:t>
            </a:r>
          </a:p>
          <a:p>
            <a:r>
              <a:t>- Flowtivity, “The Evolution: Four Paradigms in Four Years”, 2026: https://flowtivity.ai/blog/graph-engineering-2026-guide-openclaw-codex/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Cambiar a la demo.</a:t>
            </a:r>
          </a:p>
          <a:p>
            <a:r>
              <a:t>Entregar un objetivo más general y mostrar cómo el agente inspecciona, modifica, compila y prueba dentro del harness.</a:t>
            </a:r>
          </a:p>
          <a:p>
            <a:r>
              <a:t>No buscar perfección arquitectónica: la evidencia clave es una entrega funcional y verificada.</a:t>
            </a:r>
          </a:p>
          <a:p>
            <a:endParaRPr/>
          </a:p>
          <a:p>
            <a:r>
              <a:t>[Sources]</a:t>
            </a:r>
          </a:p>
          <a:p>
            <a:r>
              <a:t>- User-provided Avenga template deck (visual assets and brand styling).</a:t>
            </a:r>
          </a:p>
          <a:p>
            <a:r>
              <a:t>- Presentation concepts and demo plan supplied by Ezequiel Etchecoin.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Tiempo sugerido del bloque: 15 minutos.</a:t>
            </a:r>
          </a:p>
          <a:p>
            <a:r>
              <a:t>Abrir el tablero Kanban preparado con issues pequeños y criterios de aceptación claros.</a:t>
            </a:r>
          </a:p>
          <a:p>
            <a:endParaRPr/>
          </a:p>
          <a:p>
            <a:r>
              <a:t>[Sources]</a:t>
            </a:r>
          </a:p>
          <a:p>
            <a:r>
              <a:t>- User-provided Avenga template deck (visual assets and brand styling).</a:t>
            </a:r>
          </a:p>
          <a:p>
            <a:r>
              <a:t>- Presentation concepts and demo plan supplied by Ezequiel Etchecoin.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tomar un issue del tablero, aplicar TDD y dejar que el agente itere.</a:t>
            </a:r>
          </a:p>
          <a:p>
            <a:r>
              <a:t>Marcar explícitamente la condición de salida: criterios aceptados, tests verdes y cambio listo para revisión.</a:t>
            </a:r>
          </a:p>
          <a:p>
            <a:r>
              <a:t>Si una iteración se desvía, usarlo como evidencia de por qué límites y observabilidad importan.</a:t>
            </a:r>
          </a:p>
          <a:p>
            <a:endParaRPr/>
          </a:p>
          <a:p>
            <a:r>
              <a:t>[Sources]</a:t>
            </a:r>
          </a:p>
          <a:p>
            <a:r>
              <a:t>- User-provided Avenga template deck (visual assets and brand styling).</a:t>
            </a:r>
          </a:p>
          <a:p>
            <a:r>
              <a:t>- Presentation concepts and demo plan supplied by Ezequiel Etchecoin.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Tiempo sugerido del bloque: 15 minutos.</a:t>
            </a:r>
          </a:p>
          <a:p>
            <a:r>
              <a:t>Explicar que el grafo agrega estructura explícita al flujo: nodos, transiciones, dependencias y condiciones.</a:t>
            </a:r>
          </a:p>
          <a:p>
            <a:endParaRPr/>
          </a:p>
          <a:p>
            <a:r>
              <a:t>[Sources]</a:t>
            </a:r>
          </a:p>
          <a:p>
            <a:r>
              <a:t>- User-provided Avenga template deck (visual assets and brand styling).</a:t>
            </a:r>
          </a:p>
          <a:p>
            <a:r>
              <a:t>- Presentation concepts and demo plan supplied by Ezequiel Etchecoin.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Mostrar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topología</a:t>
            </a:r>
            <a:r>
              <a:rPr dirty="0"/>
              <a:t> </a:t>
            </a:r>
            <a:r>
              <a:rPr dirty="0" err="1"/>
              <a:t>concreta</a:t>
            </a:r>
            <a:r>
              <a:rPr dirty="0"/>
              <a:t>: Planner, Worker, </a:t>
            </a:r>
            <a:r>
              <a:rPr dirty="0" err="1"/>
              <a:t>tres</a:t>
            </a:r>
            <a:r>
              <a:rPr dirty="0"/>
              <a:t> reviewers </a:t>
            </a:r>
            <a:r>
              <a:rPr dirty="0" err="1"/>
              <a:t>paralelos</a:t>
            </a:r>
            <a:r>
              <a:rPr dirty="0"/>
              <a:t>, Synthesizer y gate.</a:t>
            </a:r>
          </a:p>
          <a:p>
            <a:r>
              <a:rPr dirty="0"/>
              <a:t>La </a:t>
            </a:r>
            <a:r>
              <a:rPr dirty="0" err="1"/>
              <a:t>ganancia</a:t>
            </a:r>
            <a:r>
              <a:rPr dirty="0"/>
              <a:t> no </a:t>
            </a:r>
            <a:r>
              <a:rPr dirty="0" err="1"/>
              <a:t>proviene</a:t>
            </a:r>
            <a:r>
              <a:rPr dirty="0"/>
              <a:t> de </a:t>
            </a:r>
            <a:r>
              <a:rPr dirty="0" err="1"/>
              <a:t>agregar</a:t>
            </a:r>
            <a:r>
              <a:rPr dirty="0"/>
              <a:t> </a:t>
            </a:r>
            <a:r>
              <a:rPr dirty="0" err="1"/>
              <a:t>personajes</a:t>
            </a:r>
            <a:r>
              <a:rPr dirty="0"/>
              <a:t>, </a:t>
            </a:r>
            <a:r>
              <a:rPr dirty="0" err="1"/>
              <a:t>sino</a:t>
            </a:r>
            <a:r>
              <a:rPr dirty="0"/>
              <a:t> de </a:t>
            </a:r>
            <a:r>
              <a:rPr dirty="0" err="1"/>
              <a:t>separar</a:t>
            </a:r>
            <a:r>
              <a:rPr dirty="0"/>
              <a:t> </a:t>
            </a:r>
            <a:r>
              <a:rPr dirty="0" err="1"/>
              <a:t>responsabilidades</a:t>
            </a:r>
            <a:r>
              <a:rPr dirty="0"/>
              <a:t>, </a:t>
            </a:r>
            <a:r>
              <a:rPr dirty="0" err="1"/>
              <a:t>permitir</a:t>
            </a:r>
            <a:r>
              <a:rPr dirty="0"/>
              <a:t> </a:t>
            </a:r>
            <a:r>
              <a:rPr dirty="0" err="1"/>
              <a:t>concurrencia</a:t>
            </a:r>
            <a:r>
              <a:rPr dirty="0"/>
              <a:t> y </a:t>
            </a:r>
            <a:r>
              <a:rPr dirty="0" err="1"/>
              <a:t>enrutar</a:t>
            </a:r>
            <a:r>
              <a:rPr dirty="0"/>
              <a:t> feedback al </a:t>
            </a:r>
            <a:r>
              <a:rPr dirty="0" err="1"/>
              <a:t>nodo</a:t>
            </a:r>
            <a:r>
              <a:rPr dirty="0"/>
              <a:t> </a:t>
            </a:r>
            <a:r>
              <a:rPr dirty="0" err="1"/>
              <a:t>correcto</a:t>
            </a:r>
            <a:r>
              <a:rPr dirty="0"/>
              <a:t>.</a:t>
            </a:r>
          </a:p>
          <a:p>
            <a:r>
              <a:rPr dirty="0"/>
              <a:t>Un reviewer </a:t>
            </a:r>
            <a:r>
              <a:rPr dirty="0" err="1"/>
              <a:t>independiente</a:t>
            </a:r>
            <a:r>
              <a:rPr dirty="0"/>
              <a:t> </a:t>
            </a:r>
            <a:r>
              <a:rPr dirty="0" err="1"/>
              <a:t>necesita</a:t>
            </a:r>
            <a:r>
              <a:rPr dirty="0"/>
              <a:t> </a:t>
            </a:r>
            <a:r>
              <a:rPr dirty="0" err="1"/>
              <a:t>criterios</a:t>
            </a:r>
            <a:r>
              <a:rPr dirty="0"/>
              <a:t> y </a:t>
            </a:r>
            <a:r>
              <a:rPr dirty="0" err="1"/>
              <a:t>evidencia</a:t>
            </a:r>
            <a:r>
              <a:rPr dirty="0"/>
              <a:t> </a:t>
            </a:r>
            <a:r>
              <a:rPr dirty="0" err="1"/>
              <a:t>propios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[Sources]</a:t>
            </a:r>
          </a:p>
          <a:p>
            <a:r>
              <a:rPr dirty="0"/>
              <a:t>- User-provided </a:t>
            </a:r>
            <a:r>
              <a:rPr dirty="0" err="1"/>
              <a:t>Avenga</a:t>
            </a:r>
            <a:r>
              <a:rPr dirty="0"/>
              <a:t> template deck (visual assets and brand styling).</a:t>
            </a:r>
          </a:p>
          <a:p>
            <a:r>
              <a:rPr dirty="0"/>
              <a:t>- </a:t>
            </a:r>
            <a:r>
              <a:rPr dirty="0" err="1"/>
              <a:t>Flowtivity</a:t>
            </a:r>
            <a:r>
              <a:rPr dirty="0"/>
              <a:t>, “Graph Topology in Action: The Parallel Review Pattern”, 2026: https://flowtivity.ai/blog/graph-engineering-2026-guide-openclaw-codex/</a:t>
            </a:r>
          </a:p>
          <a:p>
            <a:r>
              <a:rPr dirty="0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Tiempo sugerido: 4 minutos.</a:t>
            </a:r>
          </a:p>
          <a:p>
            <a:r>
              <a:t>Explicar que Graph no representa un nivel obligatorio de madurez. La topología debe responder a la forma del trabajo.</a:t>
            </a:r>
          </a:p>
          <a:p>
            <a:r>
              <a:t>Single loop sirve para tareas simples. Parallel loops para unidades independientes. Staged loop para procesos complejos pero secuenciales. Graph para complejidad con verificaciones independientes y routing condicional.</a:t>
            </a:r>
          </a:p>
          <a:p>
            <a:r>
              <a:t>Frase clave: un graph organiza nodos; muchos de esos nodos ejecutan sus propios loops.</a:t>
            </a:r>
          </a:p>
          <a:p>
            <a:endParaRPr/>
          </a:p>
          <a:p>
            <a:r>
              <a:t>[Sources]</a:t>
            </a:r>
          </a:p>
          <a:p>
            <a:r>
              <a:t>- User-provided Avenga template deck (visual assets and brand styling).</a:t>
            </a:r>
          </a:p>
          <a:p>
            <a:r>
              <a:t>- Flowtivity, “When to Use Loops vs Graphs: The Decision Matrix”, 2026: https://flowtivity.ai/blog/graph-engineering-2026-guide-openclaw-codex/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Tiempo sugerido: 3 minutos.</a:t>
            </a:r>
          </a:p>
          <a:p>
            <a:r>
              <a:t>Aclarar que los checkpoints deben ubicarse por riesgo y costo de reversión, no después de cada acción.</a:t>
            </a:r>
          </a:p>
          <a:p>
            <a:endParaRPr/>
          </a:p>
          <a:p>
            <a:r>
              <a:t>[Sources]</a:t>
            </a:r>
          </a:p>
          <a:p>
            <a:r>
              <a:t>- User-provided Avenga template deck (visual assets and brand styling).</a:t>
            </a:r>
          </a:p>
          <a:p>
            <a:r>
              <a:t>- Presentation concepts and demo plan supplied by Ezequiel Etchecoin.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Tiempo sugerido: 3 minutos.</a:t>
            </a:r>
          </a:p>
          <a:p>
            <a:r>
              <a:t>Conectar con la experiencia real del equipo: metodología, Definition of Done, convenciones, revisión y delivery se convierten en artefactos consumibles por agentes.</a:t>
            </a:r>
          </a:p>
          <a:p>
            <a:r>
              <a:t>Esta es la transición desde prompt engineering hacia ingeniería agéntica.</a:t>
            </a:r>
          </a:p>
          <a:p>
            <a:endParaRPr/>
          </a:p>
          <a:p>
            <a:r>
              <a:t>[Sources]</a:t>
            </a:r>
          </a:p>
          <a:p>
            <a:r>
              <a:t>- User-provided Avenga template deck (visual assets and brand styling).</a:t>
            </a:r>
          </a:p>
          <a:p>
            <a:r>
              <a:t>- Presentation concepts and demo plan supplied by Ezequiel Etchecoin.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Tiempo sugerido: 3 minutos más preguntas.</a:t>
            </a:r>
          </a:p>
          <a:p>
            <a:r>
              <a:t>Cerrar retomando la pregunta inicial.</a:t>
            </a:r>
          </a:p>
          <a:p>
            <a:r>
              <a:t>Síntesis: Prompt expresa intención. Context selecciona información. Harness aporta capacidad de actuar. Loop aporta persistencia. Graph aporta coordinación. Los artefactos conectan todo con el SDLC.</a:t>
            </a:r>
          </a:p>
          <a:p>
            <a:endParaRPr/>
          </a:p>
          <a:p>
            <a:r>
              <a:t>[Sources]</a:t>
            </a:r>
          </a:p>
          <a:p>
            <a:r>
              <a:t>- User-provided Avenga template deck (visual assets and brand styling).</a:t>
            </a:r>
          </a:p>
          <a:p>
            <a:r>
              <a:t>- Presentation concepts and demo plan supplied by Ezequiel Etchecoin.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43F392-74A1-4EF9-8107-400BCFBF2D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buNone/>
              <a:defRPr sz="60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84B0D0-0921-48DA-AA6F-D21B7D6A34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7FEAFC-BF11-4427-989F-2FD73F667A6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994223-4B66-41D0-BB72-D6F222D6AAB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1B1DA2-07C4-4F40-81C9-F609810701B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8F63A3B-78C7-47BE-AE5E-E10140E04643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2E2BCE-C6BF-4F13-AC84-B4321D7DE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68E6FE-BD00-4039-8007-F3FD772BDE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21625E-74FD-4311-9101-831818E94B7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3A2E47-7634-411F-82D3-BE9AFEE585E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A5BBF1-6A48-4262-9FC4-7D6FA9B7249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8F63A3B-78C7-47BE-AE5E-E10140E04643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7515B-FC82-40D7-B7F5-712E9825A6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buNone/>
              <a:defRPr sz="60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03226E-1E48-482E-B839-DCBCD3F14B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C68C73-A29B-4A80-946E-1EEFC5A2357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D8F8BC-F450-4A1E-9D4A-69603D1C120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0B74F9-F94C-40D0-A0ED-E4A14C293BC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8F63A3B-78C7-47BE-AE5E-E10140E04643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EC1CE-8B57-4DBF-902E-67AAF846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10D49E-60BD-40A8-B4E1-52D86BBC86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DE2704-33CE-4FA4-AACC-BD2245B66B04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9E3849-F4E0-4BA5-9C67-91BDD451D76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D63D1F-7241-47E4-B930-DCBA77F3018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20A56D-0803-4DBD-9CD8-90FF38BD22E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8F63A3B-78C7-47BE-AE5E-E10140E04643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86C94-55D9-4E57-B997-EFB7CD856C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A5347A-FEEB-4675-AAA8-30AEF70422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ECA4C2-6E85-4C8B-881E-06F1866697F0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32AC19D-16D5-4323-90C0-C4C02D541603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AF6F532-D2EC-4A0F-84B2-CD63BE50DE73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B57FAAC-0DE6-4A71-B16D-6F3EFB18B4F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CA48D12-241C-4FE4-9C6A-107391147BA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74B17C0-C0EC-4ED4-8B63-434DBE6A313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8F63A3B-78C7-47BE-AE5E-E10140E04643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F8079-C5B0-4588-A3EE-B85F555B0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D9882F-F168-4A1E-95BE-63CC5C7DFBA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D4144A-F1F9-4567-9DD6-DDEBE3AAF2F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26E74D-0D78-4591-9D46-AB0E7311EBD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8F63A3B-78C7-47BE-AE5E-E10140E04643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461707-E4DA-4AC4-9074-DF99035B0B7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D35E4C-4059-41EA-805F-7B46B84B300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EB5CE1-623D-434F-8C8A-73890EA40A7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8F63A3B-78C7-47BE-AE5E-E10140E04643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8D8FE2-2388-4EA6-8760-2CCB6FE13A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0B657B-2776-45EC-9727-1AF47EDD8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C9DC9F-EF6E-45B6-BA65-AD004FB2110D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73740C-C5E0-4685-90F4-400D9BD4FF5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D4C67F-4A11-473D-A1C1-D5883330C1D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3F46A6-9F2F-424E-B5FC-7AC1489E069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8F63A3B-78C7-47BE-AE5E-E10140E04643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30ADAD-0E26-477C-A901-43C0268696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299FE20-5866-4A8A-A7B7-2DB96DB0CB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2D37B0-5B01-4AA8-8267-EC61D076C4E1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5FAD60-CB5C-48A5-B9C7-6A2D491D460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AFCD47-51BC-483C-BBA9-122B5E33FD3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F33042-34CC-4DAA-899F-D5BA62CADCC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8F63A3B-78C7-47BE-AE5E-E10140E04643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CCE7F1-A05C-4F9C-9E83-2B0BEC5641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AC3157-3692-4CA1-8F46-8AF6B1FEEE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0D65F7-C148-45EE-BB24-4BB938072D8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0A7FAE-9984-44EC-B2CE-62C76992304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040C59-F4A1-45D4-B15E-1F02393B8C8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8F63A3B-78C7-47BE-AE5E-E10140E04643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F1E4A48-09CE-4D5F-AFD4-4BCBBA7CD9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DF7029-37B7-455D-B8F5-6CCD655B31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F20C60-D2AD-41B3-A0A5-33CE92D235D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D8F96E-AB68-4BB0-9657-480CC8CAFB9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05CF0A-DF0A-4D1F-BEDF-1526EFEC352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8F63A3B-78C7-47BE-AE5E-E10140E04643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mpty">
    <p:bg>
      <p:bgPr>
        <a:solidFill>
          <a:srgbClr val="FCF9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8712CE33-3693-F2FE-1179-3CE810920C44}"/>
              </a:ext>
            </a:extLst>
          </p:cNvPr>
          <p:cNvSpPr>
            <a:spLocks noGrp="1"/>
          </p:cNvSpPr>
          <p:nvPr>
            <p:ph type="sldNum" idx="26"/>
          </p:nvPr>
        </p:nvSpPr>
        <p:spPr>
          <a:xfrm>
            <a:off x="9216660" y="6356350"/>
            <a:ext cx="2743200" cy="365125"/>
          </a:xfrm>
        </p:spPr>
        <p:txBody>
          <a:bodyPr/>
          <a:lstStyle>
            <a:lvl1pPr>
              <a:buNone/>
              <a:defRPr sz="800">
                <a:solidFill>
                  <a:schemeClr val="tx2"/>
                </a:solidFill>
                <a:latin typeface="Tahoma"/>
                <a:ea typeface="Tahoma"/>
                <a:cs typeface="Tahoma"/>
              </a:defRPr>
            </a:lvl1pPr>
          </a:lstStyle>
          <a:p>
            <a:fld id="{1AD6CA63-AF0D-8049-A3D3-C10DC7CEFA53}" type="slidenum">
              <a:t>‹Nº›</a:t>
            </a:fld>
            <a:endParaRPr>
              <a:solidFill>
                <a:schemeClr val="tx2"/>
              </a:solidFill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ckground Logo">
    <p:bg>
      <p:bgPr>
        <a:solidFill>
          <a:srgbClr val="FCF9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 8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750551" y="400051"/>
            <a:ext cx="867792" cy="183659"/>
          </a:xfrm>
          <a:prstGeom prst="rect">
            <a:avLst/>
          </a:prstGeom>
        </p:spPr>
      </p:pic>
      <p:sp>
        <p:nvSpPr>
          <p:cNvPr id="7" name="Text Placeholder 13">
            <a:extLst>
              <a:ext uri="{FF2B5EF4-FFF2-40B4-BE49-F238E27FC236}">
                <a16:creationId xmlns:a16="http://schemas.microsoft.com/office/drawing/2014/main" id="{883BA7EF-F283-4FBC-6F04-F7779E5922C1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446163" y="662838"/>
            <a:ext cx="2242915" cy="304165"/>
          </a:xfrm>
          <a:prstGeom prst="rect">
            <a:avLst/>
          </a:prstGeom>
        </p:spPr>
        <p:txBody>
          <a:bodyPr anchor="ctr"/>
          <a:lstStyle>
            <a:lvl1pPr>
              <a:buNone/>
              <a:defRPr sz="2700">
                <a:solidFill>
                  <a:srgbClr val="DD2C00"/>
                </a:solidFill>
                <a:latin typeface="Tahoma"/>
                <a:ea typeface="Tahoma"/>
                <a:cs typeface="Tahoma"/>
              </a:defRPr>
            </a:lvl1pPr>
          </a:lstStyle>
          <a:p>
            <a:r>
              <a:t>Headline</a:t>
            </a:r>
          </a:p>
        </p:txBody>
      </p:sp>
      <p:sp>
        <p:nvSpPr>
          <p:cNvPr id="13" name="Text Placeholder 15">
            <a:extLst>
              <a:ext uri="{FF2B5EF4-FFF2-40B4-BE49-F238E27FC236}">
                <a16:creationId xmlns:a16="http://schemas.microsoft.com/office/drawing/2014/main" id="{1A6152B7-87A6-13AF-9BDB-91410A288F74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446163" y="1384938"/>
            <a:ext cx="5578671" cy="304165"/>
          </a:xfrm>
          <a:prstGeom prst="rect">
            <a:avLst/>
          </a:prstGeom>
        </p:spPr>
        <p:txBody>
          <a:bodyPr anchor="ctr"/>
          <a:lstStyle>
            <a:lvl1pPr marL="0" indent="0" algn="l">
              <a:lnSpc>
                <a:spcPct val="100000"/>
              </a:lnSpc>
              <a:buFont typeface="Arial"/>
              <a:buNone/>
              <a:defRPr sz="1500">
                <a:latin typeface="Tahoma"/>
                <a:ea typeface="Tahoma"/>
                <a:cs typeface="Tahoma"/>
              </a:defRPr>
            </a:lvl1pPr>
          </a:lstStyle>
          <a:p>
            <a:pPr marL="0" indent="0" algn="l">
              <a:lnSpc>
                <a:spcPts val="1069"/>
              </a:lnSpc>
              <a:buNone/>
            </a:pPr>
            <a:r>
              <a:rPr sz="12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Every engagement is powered by three proprietary assets a philosophy, a platform, and a measurement framework.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232BE06-8039-9805-88D1-5871A888763F}"/>
              </a:ext>
            </a:extLst>
          </p:cNvPr>
          <p:cNvSpPr>
            <a:spLocks noGrp="1"/>
          </p:cNvSpPr>
          <p:nvPr>
            <p:ph type="sldNum" idx="26"/>
          </p:nvPr>
        </p:nvSpPr>
        <p:spPr>
          <a:xfrm>
            <a:off x="9216660" y="6356350"/>
            <a:ext cx="2743200" cy="365125"/>
          </a:xfrm>
        </p:spPr>
        <p:txBody>
          <a:bodyPr/>
          <a:lstStyle>
            <a:lvl1pPr>
              <a:buNone/>
              <a:defRPr sz="800">
                <a:solidFill>
                  <a:schemeClr val="tx1"/>
                </a:solidFill>
                <a:latin typeface="Tahoma"/>
                <a:ea typeface="Tahoma"/>
                <a:cs typeface="Tahoma"/>
              </a:defRPr>
            </a:lvl1pPr>
          </a:lstStyle>
          <a:p>
            <a:fld id="{48F63A3B-78C7-47BE-AE5E-E10140E04643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8B660ED-668C-483C-B265-48A621BDE5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075BCA-504D-4540-9BFF-63EC944D52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5F4AE9-807D-4606-9802-C3BFD7BC32A5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168D15-9D2F-4735-9847-CFCCE828975B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1C9BA6-D195-43C0-8EF1-24203F837125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ftr="0" dt="0"/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2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2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750551" y="400051"/>
            <a:ext cx="867792" cy="183659"/>
          </a:xfrm>
          <a:prstGeom prst="rect">
            <a:avLst/>
          </a:prstGeom>
        </p:spPr>
      </p:pic>
      <p:sp>
        <p:nvSpPr>
          <p:cNvPr id="3" name="Shape 0">
            <a:extLst>
              <a:ext uri="{FF2B5EF4-FFF2-40B4-BE49-F238E27FC236}">
                <a16:creationId xmlns:a16="http://schemas.microsoft.com/office/drawing/2014/main" id="{01810C90-0760-C58D-E274-703C94BC6B0C}"/>
              </a:ext>
            </a:extLst>
          </p:cNvPr>
          <p:cNvSpPr>
            <a:spLocks noGrp="1"/>
          </p:cNvSpPr>
          <p:nvPr/>
        </p:nvSpPr>
        <p:spPr>
          <a:xfrm>
            <a:off x="0" y="-38099"/>
            <a:ext cx="12192000" cy="6896100"/>
          </a:xfrm>
          <a:prstGeom prst="rect">
            <a:avLst/>
          </a:prstGeom>
          <a:solidFill>
            <a:srgbClr val="FCF9F3"/>
          </a:solidFill>
        </p:spPr>
        <p:txBody>
          <a:bodyPr/>
          <a:lstStyle/>
          <a:p>
            <a:endParaRPr sz="3200"/>
          </a:p>
        </p:txBody>
      </p:sp>
      <p:sp>
        <p:nvSpPr>
          <p:cNvPr id="5" name="Shape 1">
            <a:extLst>
              <a:ext uri="{FF2B5EF4-FFF2-40B4-BE49-F238E27FC236}">
                <a16:creationId xmlns:a16="http://schemas.microsoft.com/office/drawing/2014/main" id="{EFEF2530-ED9F-A5D5-FF05-3C7AE2DCC8A8}"/>
              </a:ext>
            </a:extLst>
          </p:cNvPr>
          <p:cNvSpPr>
            <a:spLocks noGrp="1"/>
          </p:cNvSpPr>
          <p:nvPr/>
        </p:nvSpPr>
        <p:spPr>
          <a:xfrm rot="10800000">
            <a:off x="2813051" y="-555391"/>
            <a:ext cx="9883140" cy="8115300"/>
          </a:xfrm>
          <a:prstGeom prst="rect">
            <a:avLst/>
          </a:prstGeom>
          <a:noFill/>
        </p:spPr>
        <p:txBody>
          <a:bodyPr/>
          <a:lstStyle/>
          <a:p>
            <a:endParaRPr sz="3200"/>
          </a:p>
        </p:txBody>
      </p:sp>
      <p:pic>
        <p:nvPicPr>
          <p:cNvPr id="22" name="Picture 16"/>
          <p:cNvPicPr>
            <a:picLocks noChangeAspect="1"/>
          </p:cNvPicPr>
          <p:nvPr/>
        </p:nvPicPr>
        <p:blipFill>
          <a:blip r:embed="rId4"/>
          <a:srcRect t="2852" r="15632" b="2122"/>
          <a:stretch>
            <a:fillRect/>
          </a:stretch>
        </p:blipFill>
        <p:spPr>
          <a:xfrm>
            <a:off x="2052056" y="-288174"/>
            <a:ext cx="10151514" cy="7146174"/>
          </a:xfrm>
          <a:prstGeom prst="rect">
            <a:avLst/>
          </a:prstGeom>
        </p:spPr>
      </p:pic>
      <p:pic>
        <p:nvPicPr>
          <p:cNvPr id="23" name="Image 2"/>
          <p:cNvPicPr>
            <a:picLocks noChangeAspect="1"/>
          </p:cNvPicPr>
          <p:nvPr/>
        </p:nvPicPr>
        <p:blipFill>
          <a:blip r:embed="rId5"/>
          <a:srcRect b="552"/>
          <a:stretch/>
        </p:blipFill>
        <p:spPr>
          <a:xfrm>
            <a:off x="1813942" y="-49626"/>
            <a:ext cx="5144393" cy="6957252"/>
          </a:xfrm>
          <a:prstGeom prst="rect">
            <a:avLst/>
          </a:prstGeom>
        </p:spPr>
      </p:pic>
      <p:pic>
        <p:nvPicPr>
          <p:cNvPr id="24" name="Image 3"/>
          <p:cNvPicPr>
            <a:picLocks noChangeAspect="1"/>
          </p:cNvPicPr>
          <p:nvPr/>
        </p:nvPicPr>
        <p:blipFill>
          <a:blip r:embed="rId6"/>
          <a:srcRect r="436" b="990"/>
          <a:stretch/>
        </p:blipFill>
        <p:spPr>
          <a:xfrm>
            <a:off x="-339702" y="-288175"/>
            <a:ext cx="12543272" cy="7157702"/>
          </a:xfrm>
          <a:prstGeom prst="rect">
            <a:avLst/>
          </a:prstGeom>
        </p:spPr>
      </p:pic>
      <p:pic>
        <p:nvPicPr>
          <p:cNvPr id="25" name="Image 4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71500" y="400051"/>
            <a:ext cx="867792" cy="183659"/>
          </a:xfrm>
          <a:prstGeom prst="rect">
            <a:avLst/>
          </a:prstGeom>
        </p:spPr>
      </p:pic>
      <p:sp>
        <p:nvSpPr>
          <p:cNvPr id="8" name="Text 0">
            <a:extLst>
              <a:ext uri="{FF2B5EF4-FFF2-40B4-BE49-F238E27FC236}">
                <a16:creationId xmlns:a16="http://schemas.microsoft.com/office/drawing/2014/main" id="{E481C300-E935-91FC-C676-32A76BD2CDC2}"/>
              </a:ext>
            </a:extLst>
          </p:cNvPr>
          <p:cNvSpPr>
            <a:spLocks noGrp="1"/>
          </p:cNvSpPr>
          <p:nvPr/>
        </p:nvSpPr>
        <p:spPr>
          <a:xfrm>
            <a:off x="571500" y="2065338"/>
            <a:ext cx="4857751" cy="201341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3400" b="1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Beyond the Prompt:</a:t>
            </a:r>
            <a:br>
              <a:rPr lang="en-US" sz="3400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</a:br>
            <a:r>
              <a:rPr lang="en-US" sz="3400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From Prompt Engineering to Agent AI Architectures</a:t>
            </a:r>
            <a:endParaRPr sz="3400" dirty="0">
              <a:latin typeface="Tahoma"/>
              <a:ea typeface="Tahoma"/>
              <a:cs typeface="Tahoma"/>
            </a:endParaRPr>
          </a:p>
        </p:txBody>
      </p:sp>
      <p:sp>
        <p:nvSpPr>
          <p:cNvPr id="9" name="Text 2">
            <a:extLst>
              <a:ext uri="{FF2B5EF4-FFF2-40B4-BE49-F238E27FC236}">
                <a16:creationId xmlns:a16="http://schemas.microsoft.com/office/drawing/2014/main" id="{69937CF4-07B6-B322-1601-99B4C8DCE17C}"/>
              </a:ext>
            </a:extLst>
          </p:cNvPr>
          <p:cNvSpPr>
            <a:spLocks noGrp="1"/>
          </p:cNvSpPr>
          <p:nvPr/>
        </p:nvSpPr>
        <p:spPr>
          <a:xfrm>
            <a:off x="571501" y="4416424"/>
            <a:ext cx="4229100" cy="5121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900"/>
              </a:lnSpc>
              <a:buNone/>
            </a:pP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Arquitecturas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para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agentes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de IA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en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el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ciclo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de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vida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del software</a:t>
            </a:r>
            <a:endParaRPr sz="1400" dirty="0"/>
          </a:p>
        </p:txBody>
      </p:sp>
      <p:sp>
        <p:nvSpPr>
          <p:cNvPr id="13" name="Text 3">
            <a:extLst>
              <a:ext uri="{FF2B5EF4-FFF2-40B4-BE49-F238E27FC236}">
                <a16:creationId xmlns:a16="http://schemas.microsoft.com/office/drawing/2014/main" id="{00FBD0DF-B24C-BA70-750A-716C86E800D5}"/>
              </a:ext>
            </a:extLst>
          </p:cNvPr>
          <p:cNvSpPr>
            <a:spLocks noGrp="1"/>
          </p:cNvSpPr>
          <p:nvPr/>
        </p:nvSpPr>
        <p:spPr>
          <a:xfrm>
            <a:off x="571501" y="6020437"/>
            <a:ext cx="1866900" cy="2857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2109"/>
              </a:lnSpc>
              <a:buNone/>
            </a:pPr>
            <a:r>
              <a:rPr sz="1200" dirty="0">
                <a:latin typeface="Tahoma"/>
                <a:ea typeface="Tahoma"/>
                <a:cs typeface="Tahoma"/>
              </a:rPr>
              <a:t>Ezequiel Etchecoin · 2026</a:t>
            </a:r>
            <a:endParaRPr sz="1200" dirty="0"/>
          </a:p>
        </p:txBody>
      </p:sp>
    </p:spTree>
    <p:extLst>
      <p:ext uri="{BB962C8B-B14F-4D97-AF65-F5344CB8AC3E}">
        <p14:creationId xmlns:p14="http://schemas.microsoft.com/office/powerpoint/2010/main" val="4755508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8991" y="2330451"/>
            <a:ext cx="11041507" cy="3965348"/>
          </a:xfrm>
          <a:prstGeom prst="roundRect">
            <a:avLst/>
          </a:prstGeom>
          <a:solidFill>
            <a:srgbClr val="E0DFD8"/>
          </a:solidFill>
          <a:ln/>
        </p:spPr>
        <p:txBody>
          <a:bodyPr/>
          <a:lstStyle/>
          <a:p>
            <a:endParaRPr lang="en-US" sz="320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012A1C48-049A-CF82-6268-E742D808B3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8373" y="2574576"/>
            <a:ext cx="4902824" cy="3715461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71500" y="2324693"/>
            <a:ext cx="11049000" cy="3965345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211758" y="5208311"/>
            <a:ext cx="3500600" cy="457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Ezequiel Etchecoin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Senior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.Net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Engineer</a:t>
            </a:r>
            <a:endParaRPr lang="en-US" sz="14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rcRect r="-1"/>
          <a:stretch/>
        </p:blipFill>
        <p:spPr>
          <a:xfrm>
            <a:off x="10750551" y="400051"/>
            <a:ext cx="867792" cy="183659"/>
          </a:xfrm>
          <a:prstGeom prst="rect">
            <a:avLst/>
          </a:prstGeom>
        </p:spPr>
      </p:pic>
      <p:sp>
        <p:nvSpPr>
          <p:cNvPr id="9" name="Text 5">
            <a:extLst>
              <a:ext uri="{FF2B5EF4-FFF2-40B4-BE49-F238E27FC236}">
                <a16:creationId xmlns:a16="http://schemas.microsoft.com/office/drawing/2014/main" id="{93387E17-0279-C4C2-FEFD-A378F62A1AB2}"/>
              </a:ext>
            </a:extLst>
          </p:cNvPr>
          <p:cNvSpPr/>
          <p:nvPr/>
        </p:nvSpPr>
        <p:spPr>
          <a:xfrm>
            <a:off x="577851" y="1192437"/>
            <a:ext cx="6545325" cy="4254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- Formo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parte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de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Avenga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(ex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IncluIT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)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desde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el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año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2017.</a:t>
            </a:r>
            <a:b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-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Comencé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mi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carrera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profesional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en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la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empresa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.</a:t>
            </a:r>
            <a:b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- He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participado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de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varios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proyectos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que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han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sido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tanto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productos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entregables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como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proveyendo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servicios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a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clientes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de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rubros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como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telecomunicaciones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,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seguridad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informática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,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logística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de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transportes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y Restaurant Tech (ordering online)</a:t>
            </a:r>
            <a:endParaRPr lang="en-US" sz="1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0C53A173-1426-5123-4C6E-3FFA4BB7E5CF}"/>
              </a:ext>
            </a:extLst>
          </p:cNvPr>
          <p:cNvSpPr/>
          <p:nvPr/>
        </p:nvSpPr>
        <p:spPr>
          <a:xfrm>
            <a:off x="571501" y="583709"/>
            <a:ext cx="49911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4013"/>
              </a:lnSpc>
            </a:pPr>
            <a:r>
              <a:rPr lang="en-US" sz="2700" dirty="0" err="1">
                <a:solidFill>
                  <a:srgbClr val="DD2C00">
                    <a:alpha val="99000"/>
                  </a:srgbClr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Sobre</a:t>
            </a:r>
            <a:r>
              <a:rPr lang="en-US" sz="2700" dirty="0">
                <a:solidFill>
                  <a:srgbClr val="DD2C00">
                    <a:alpha val="99000"/>
                  </a:srgbClr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</a:t>
            </a:r>
            <a:r>
              <a:rPr lang="en-US" sz="2700" dirty="0" err="1">
                <a:solidFill>
                  <a:srgbClr val="DD2C00">
                    <a:alpha val="99000"/>
                  </a:srgbClr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mí</a:t>
            </a:r>
            <a:endParaRPr lang="en-US" sz="2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21EEB8-64CE-63C0-8105-1E3F56251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37C62AE-9FA6-F0C0-2E32-37DD693256B7}"/>
              </a:ext>
            </a:extLst>
          </p:cNvPr>
          <p:cNvSpPr/>
          <p:nvPr/>
        </p:nvSpPr>
        <p:spPr>
          <a:xfrm>
            <a:off x="578991" y="2330451"/>
            <a:ext cx="11041507" cy="3965348"/>
          </a:xfrm>
          <a:prstGeom prst="roundRect">
            <a:avLst/>
          </a:prstGeom>
          <a:solidFill>
            <a:srgbClr val="E0DFD8"/>
          </a:solidFill>
          <a:ln/>
        </p:spPr>
        <p:txBody>
          <a:bodyPr/>
          <a:lstStyle/>
          <a:p>
            <a:endParaRPr lang="en-US" sz="320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6B7950A1-4F51-7490-4E9D-8E234F0D2B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8373" y="2574576"/>
            <a:ext cx="4902824" cy="3715461"/>
          </a:xfrm>
          <a:prstGeom prst="rect">
            <a:avLst/>
          </a:prstGeom>
        </p:spPr>
      </p:pic>
      <p:pic>
        <p:nvPicPr>
          <p:cNvPr id="4" name="Image 1" descr="preencoded.png">
            <a:extLst>
              <a:ext uri="{FF2B5EF4-FFF2-40B4-BE49-F238E27FC236}">
                <a16:creationId xmlns:a16="http://schemas.microsoft.com/office/drawing/2014/main" id="{14C8E42A-D98A-47CA-6A8B-0F5307178FE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71500" y="2324693"/>
            <a:ext cx="11049000" cy="3965345"/>
          </a:xfrm>
          <a:prstGeom prst="rect">
            <a:avLst/>
          </a:prstGeom>
        </p:spPr>
      </p:pic>
      <p:sp>
        <p:nvSpPr>
          <p:cNvPr id="6" name="Text 2">
            <a:extLst>
              <a:ext uri="{FF2B5EF4-FFF2-40B4-BE49-F238E27FC236}">
                <a16:creationId xmlns:a16="http://schemas.microsoft.com/office/drawing/2014/main" id="{B89C09DD-2016-2BCF-F031-3900DC1FFF53}"/>
              </a:ext>
            </a:extLst>
          </p:cNvPr>
          <p:cNvSpPr/>
          <p:nvPr/>
        </p:nvSpPr>
        <p:spPr>
          <a:xfrm>
            <a:off x="1211758" y="5208311"/>
            <a:ext cx="3500600" cy="457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Ezequiel Etchecoin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Senior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.Net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Engineer</a:t>
            </a:r>
            <a:endParaRPr lang="en-US" sz="1400" dirty="0"/>
          </a:p>
        </p:txBody>
      </p:sp>
      <p:pic>
        <p:nvPicPr>
          <p:cNvPr id="8" name="Image 2" descr="preencoded.png">
            <a:extLst>
              <a:ext uri="{FF2B5EF4-FFF2-40B4-BE49-F238E27FC236}">
                <a16:creationId xmlns:a16="http://schemas.microsoft.com/office/drawing/2014/main" id="{52FE3241-9022-3D1A-574E-55A7DAEE3B9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-1"/>
          <a:stretch/>
        </p:blipFill>
        <p:spPr>
          <a:xfrm>
            <a:off x="10750551" y="400051"/>
            <a:ext cx="867792" cy="183659"/>
          </a:xfrm>
          <a:prstGeom prst="rect">
            <a:avLst/>
          </a:prstGeom>
        </p:spPr>
      </p:pic>
      <p:sp>
        <p:nvSpPr>
          <p:cNvPr id="9" name="Text 5">
            <a:extLst>
              <a:ext uri="{FF2B5EF4-FFF2-40B4-BE49-F238E27FC236}">
                <a16:creationId xmlns:a16="http://schemas.microsoft.com/office/drawing/2014/main" id="{9240A3FA-C39A-D89E-D6F4-C3428C38C75F}"/>
              </a:ext>
            </a:extLst>
          </p:cNvPr>
          <p:cNvSpPr/>
          <p:nvPr/>
        </p:nvSpPr>
        <p:spPr>
          <a:xfrm>
            <a:off x="577851" y="1192437"/>
            <a:ext cx="6545325" cy="4254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- Formo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parte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de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Avenga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(ex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IncluIT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)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desde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el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año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2017.</a:t>
            </a:r>
            <a:b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-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Comencé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mi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carrera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profesional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en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la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empresa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.</a:t>
            </a:r>
            <a:b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- He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participado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de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varios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proyectos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que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han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sido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tanto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productos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entregables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como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proveyendo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servicios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a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clientes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de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rubros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como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telecomunicaciones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,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seguridad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informática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,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logística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de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transportes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y Restaurant Tech (ordering online)</a:t>
            </a:r>
            <a:endParaRPr lang="en-US" sz="1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5FB42EAD-9774-EF1F-2DD6-654CF41D36F4}"/>
              </a:ext>
            </a:extLst>
          </p:cNvPr>
          <p:cNvSpPr/>
          <p:nvPr/>
        </p:nvSpPr>
        <p:spPr>
          <a:xfrm>
            <a:off x="571501" y="583709"/>
            <a:ext cx="49911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4013"/>
              </a:lnSpc>
            </a:pPr>
            <a:r>
              <a:rPr lang="en-US" sz="2700" dirty="0" err="1">
                <a:solidFill>
                  <a:srgbClr val="DD2C00">
                    <a:alpha val="99000"/>
                  </a:srgbClr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Sobre</a:t>
            </a:r>
            <a:r>
              <a:rPr lang="en-US" sz="2700" dirty="0">
                <a:solidFill>
                  <a:srgbClr val="DD2C00">
                    <a:alpha val="99000"/>
                  </a:srgbClr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</a:t>
            </a:r>
            <a:r>
              <a:rPr lang="en-US" sz="2700" dirty="0" err="1">
                <a:solidFill>
                  <a:srgbClr val="DD2C00">
                    <a:alpha val="99000"/>
                  </a:srgbClr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mí</a:t>
            </a:r>
            <a:endParaRPr lang="en-US" sz="2700" dirty="0"/>
          </a:p>
        </p:txBody>
      </p:sp>
      <p:sp>
        <p:nvSpPr>
          <p:cNvPr id="3" name="Bocadillo nube: nube 2">
            <a:extLst>
              <a:ext uri="{FF2B5EF4-FFF2-40B4-BE49-F238E27FC236}">
                <a16:creationId xmlns:a16="http://schemas.microsoft.com/office/drawing/2014/main" id="{5ED4A2CD-10F6-D8BD-A0E6-593FB159ED79}"/>
              </a:ext>
            </a:extLst>
          </p:cNvPr>
          <p:cNvSpPr/>
          <p:nvPr/>
        </p:nvSpPr>
        <p:spPr>
          <a:xfrm>
            <a:off x="7415784" y="1051463"/>
            <a:ext cx="3547872" cy="1051657"/>
          </a:xfrm>
          <a:prstGeom prst="cloudCallou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E3AF8CFB-F348-9F9E-9A78-68AB73CD5CF8}"/>
              </a:ext>
            </a:extLst>
          </p:cNvPr>
          <p:cNvSpPr/>
          <p:nvPr/>
        </p:nvSpPr>
        <p:spPr>
          <a:xfrm>
            <a:off x="7924042" y="1354643"/>
            <a:ext cx="2826509" cy="526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Pasé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de </a:t>
            </a:r>
            <a:r>
              <a:rPr lang="en-US" sz="1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pelearme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con el </a:t>
            </a:r>
            <a:r>
              <a:rPr lang="en-US" sz="1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código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a </a:t>
            </a:r>
            <a:r>
              <a:rPr lang="en-US" sz="1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pelearme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con </a:t>
            </a:r>
            <a:r>
              <a:rPr lang="en-US" sz="1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agentes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2816746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 0"/>
          <p:cNvPicPr>
            <a:picLocks noChangeAspect="1"/>
          </p:cNvPicPr>
          <p:nvPr/>
        </p:nvPicPr>
        <p:blipFill>
          <a:blip r:embed="rId3"/>
          <a:srcRect l="2965" t="2836" b="434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>
            <a:extLst>
              <a:ext uri="{FF2B5EF4-FFF2-40B4-BE49-F238E27FC236}">
                <a16:creationId xmlns:a16="http://schemas.microsoft.com/office/drawing/2014/main" id="{42893C36-6597-4E2D-A45A-871D08B52878}"/>
              </a:ext>
            </a:extLst>
          </p:cNvPr>
          <p:cNvSpPr>
            <a:spLocks noGrp="1"/>
          </p:cNvSpPr>
          <p:nvPr/>
        </p:nvSpPr>
        <p:spPr>
          <a:xfrm>
            <a:off x="-549699" y="-454026"/>
            <a:ext cx="12741700" cy="7766051"/>
          </a:xfrm>
          <a:prstGeom prst="rect">
            <a:avLst/>
          </a:prstGeom>
          <a:noFill/>
        </p:spPr>
        <p:txBody>
          <a:bodyPr/>
          <a:lstStyle/>
          <a:p>
            <a:endParaRPr sz="3200"/>
          </a:p>
        </p:txBody>
      </p:sp>
      <p:pic>
        <p:nvPicPr>
          <p:cNvPr id="18" name="Image 1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0750551" y="400051"/>
            <a:ext cx="867792" cy="183659"/>
          </a:xfrm>
          <a:prstGeom prst="rect">
            <a:avLst/>
          </a:prstGeom>
        </p:spPr>
      </p:pic>
      <p:sp>
        <p:nvSpPr>
          <p:cNvPr id="9" name="Text 1">
            <a:extLst>
              <a:ext uri="{FF2B5EF4-FFF2-40B4-BE49-F238E27FC236}">
                <a16:creationId xmlns:a16="http://schemas.microsoft.com/office/drawing/2014/main" id="{EDA64F4A-7748-4901-01F7-62DAC9BAC9AC}"/>
              </a:ext>
            </a:extLst>
          </p:cNvPr>
          <p:cNvSpPr>
            <a:spLocks noGrp="1"/>
          </p:cNvSpPr>
          <p:nvPr/>
        </p:nvSpPr>
        <p:spPr>
          <a:xfrm>
            <a:off x="571501" y="3149665"/>
            <a:ext cx="5010441" cy="30004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683"/>
              </a:lnSpc>
              <a:buNone/>
            </a:pPr>
            <a:r>
              <a:rPr sz="20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La </a:t>
            </a:r>
            <a:r>
              <a:rPr sz="20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pregunta</a:t>
            </a:r>
            <a:r>
              <a:rPr sz="20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</a:t>
            </a:r>
            <a:r>
              <a:rPr sz="20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cambió</a:t>
            </a:r>
            <a:endParaRPr sz="2000" dirty="0">
              <a:solidFill>
                <a:srgbClr val="47433B"/>
              </a:solidFill>
            </a:endParaRPr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72851295-16F6-AA2D-59C5-35F0310E3039}"/>
              </a:ext>
            </a:extLst>
          </p:cNvPr>
          <p:cNvSpPr>
            <a:spLocks noGrp="1"/>
          </p:cNvSpPr>
          <p:nvPr/>
        </p:nvSpPr>
        <p:spPr>
          <a:xfrm>
            <a:off x="571501" y="3562223"/>
            <a:ext cx="5010441" cy="263618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347"/>
              </a:lnSpc>
              <a:buNone/>
            </a:pPr>
            <a:r>
              <a:rPr sz="1200" b="1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Antes:</a:t>
            </a:r>
            <a:r>
              <a:rPr sz="12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¿</a:t>
            </a:r>
            <a:r>
              <a:rPr sz="12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qué</a:t>
            </a:r>
            <a:r>
              <a:rPr sz="12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</a:t>
            </a:r>
            <a:r>
              <a:rPr sz="1200" dirty="0" err="1">
                <a:solidFill>
                  <a:schemeClr val="accent1">
                    <a:lumMod val="75000"/>
                  </a:schemeClr>
                </a:solidFill>
                <a:latin typeface="Tahoma"/>
                <a:ea typeface="Tahoma"/>
                <a:cs typeface="Tahoma"/>
              </a:rPr>
              <a:t>instrucción</a:t>
            </a:r>
            <a:r>
              <a:rPr sz="12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produce </a:t>
            </a:r>
            <a:r>
              <a:rPr sz="12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mejor</a:t>
            </a:r>
            <a:r>
              <a:rPr sz="12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</a:t>
            </a:r>
            <a:r>
              <a:rPr sz="12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código</a:t>
            </a:r>
            <a:r>
              <a:rPr sz="12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?</a:t>
            </a:r>
          </a:p>
          <a:p>
            <a:pPr>
              <a:lnSpc>
                <a:spcPts val="1347"/>
              </a:lnSpc>
              <a:buNone/>
            </a:pPr>
            <a:endParaRPr sz="1100" dirty="0">
              <a:solidFill>
                <a:srgbClr val="47433B"/>
              </a:solidFill>
              <a:latin typeface="Tahoma"/>
              <a:ea typeface="Tahoma"/>
              <a:cs typeface="Tahoma"/>
            </a:endParaRPr>
          </a:p>
          <a:p>
            <a:pPr>
              <a:lnSpc>
                <a:spcPts val="1347"/>
              </a:lnSpc>
              <a:buNone/>
            </a:pPr>
            <a:r>
              <a:rPr sz="1200" b="1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Ahora</a:t>
            </a:r>
            <a:r>
              <a:rPr sz="1200" b="1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:</a:t>
            </a:r>
            <a:r>
              <a:rPr sz="12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¿</a:t>
            </a:r>
            <a:r>
              <a:rPr sz="12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qué</a:t>
            </a:r>
            <a:r>
              <a:rPr sz="12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</a:t>
            </a:r>
            <a:r>
              <a:rPr sz="1200" dirty="0" err="1">
                <a:solidFill>
                  <a:schemeClr val="accent1">
                    <a:lumMod val="75000"/>
                  </a:schemeClr>
                </a:solidFill>
                <a:latin typeface="Tahoma"/>
                <a:ea typeface="Tahoma"/>
                <a:cs typeface="Tahoma"/>
              </a:rPr>
              <a:t>información</a:t>
            </a:r>
            <a:r>
              <a:rPr sz="12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</a:t>
            </a:r>
            <a:r>
              <a:rPr sz="12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necesita</a:t>
            </a:r>
            <a:r>
              <a:rPr sz="12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el </a:t>
            </a:r>
            <a:r>
              <a:rPr sz="12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modelo</a:t>
            </a:r>
            <a:r>
              <a:rPr sz="12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, </a:t>
            </a:r>
            <a:r>
              <a:rPr sz="12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qué</a:t>
            </a:r>
            <a:r>
              <a:rPr sz="12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</a:t>
            </a:r>
            <a:r>
              <a:rPr sz="12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puede</a:t>
            </a:r>
            <a:r>
              <a:rPr sz="12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</a:t>
            </a:r>
            <a:r>
              <a:rPr sz="12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hacer</a:t>
            </a:r>
            <a:r>
              <a:rPr sz="12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con </a:t>
            </a:r>
            <a:r>
              <a:rPr sz="12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ella</a:t>
            </a:r>
            <a:r>
              <a:rPr sz="12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y </a:t>
            </a:r>
            <a:r>
              <a:rPr sz="12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cómo</a:t>
            </a:r>
            <a:r>
              <a:rPr sz="12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</a:t>
            </a:r>
            <a:r>
              <a:rPr sz="12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verificamos</a:t>
            </a:r>
            <a:r>
              <a:rPr sz="12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el </a:t>
            </a:r>
            <a:r>
              <a:rPr sz="12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resultado</a:t>
            </a:r>
            <a:r>
              <a:rPr sz="12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?</a:t>
            </a:r>
          </a:p>
        </p:txBody>
      </p:sp>
      <p:sp>
        <p:nvSpPr>
          <p:cNvPr id="13" name="Text 6">
            <a:extLst>
              <a:ext uri="{FF2B5EF4-FFF2-40B4-BE49-F238E27FC236}">
                <a16:creationId xmlns:a16="http://schemas.microsoft.com/office/drawing/2014/main" id="{FEFDA3D4-2739-C50D-FC42-EF14CE40D36A}"/>
              </a:ext>
            </a:extLst>
          </p:cNvPr>
          <p:cNvSpPr>
            <a:spLocks noGrp="1"/>
          </p:cNvSpPr>
          <p:nvPr/>
        </p:nvSpPr>
        <p:spPr>
          <a:xfrm>
            <a:off x="571501" y="583708"/>
            <a:ext cx="5010440" cy="8097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2981"/>
              </a:lnSpc>
              <a:buNone/>
            </a:pPr>
            <a:r>
              <a:rPr sz="2700" dirty="0" err="1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Escribir</a:t>
            </a:r>
            <a:r>
              <a:rPr sz="2700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prompts no es </a:t>
            </a:r>
            <a:r>
              <a:rPr sz="2700" dirty="0" err="1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construir</a:t>
            </a:r>
            <a:r>
              <a:rPr sz="2700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un </a:t>
            </a:r>
            <a:r>
              <a:rPr sz="2700" dirty="0" err="1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sistema</a:t>
            </a:r>
            <a:endParaRPr sz="2700" dirty="0"/>
          </a:p>
        </p:txBody>
      </p:sp>
      <p:sp>
        <p:nvSpPr>
          <p:cNvPr id="5" name="Text 5">
            <a:extLst>
              <a:ext uri="{FF2B5EF4-FFF2-40B4-BE49-F238E27FC236}">
                <a16:creationId xmlns:a16="http://schemas.microsoft.com/office/drawing/2014/main" id="{1A8578D6-A539-04E1-117F-96C4DE8086F7}"/>
              </a:ext>
            </a:extLst>
          </p:cNvPr>
          <p:cNvSpPr>
            <a:spLocks noGrp="1"/>
          </p:cNvSpPr>
          <p:nvPr/>
        </p:nvSpPr>
        <p:spPr>
          <a:xfrm>
            <a:off x="577851" y="1505961"/>
            <a:ext cx="5004091" cy="4254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El prompt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inicia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la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tarea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. El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contexto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, el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entorno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de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ejecución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y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los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ciclos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determinan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la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confiabilidad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.</a:t>
            </a:r>
            <a:endParaRPr sz="1400" dirty="0">
              <a:latin typeface="Tahoma"/>
              <a:ea typeface="Tahom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532352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0CE35EC-3EAF-4177-A944-F820E0766F05}"/>
              </a:ext>
            </a:extLst>
          </p:cNvPr>
          <p:cNvSpPr>
            <a:spLocks noGrp="1"/>
          </p:cNvSpPr>
          <p:nvPr/>
        </p:nvSpPr>
        <p:spPr>
          <a:xfrm>
            <a:off x="571501" y="2419351"/>
            <a:ext cx="2130289" cy="3750509"/>
          </a:xfrm>
          <a:prstGeom prst="roundRect">
            <a:avLst>
              <a:gd name="adj" fmla="val 5698"/>
            </a:avLst>
          </a:prstGeom>
          <a:solidFill>
            <a:srgbClr val="F7F4ED"/>
          </a:solidFill>
        </p:spPr>
        <p:txBody>
          <a:bodyPr/>
          <a:lstStyle/>
          <a:p>
            <a:endParaRPr sz="3200">
              <a:latin typeface="Tahoma"/>
              <a:ea typeface="Tahoma"/>
              <a:cs typeface="Tahoma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BBCB4D3F-2332-4595-8979-A0E442DF2A55}"/>
              </a:ext>
            </a:extLst>
          </p:cNvPr>
          <p:cNvSpPr>
            <a:spLocks noGrp="1"/>
          </p:cNvSpPr>
          <p:nvPr/>
        </p:nvSpPr>
        <p:spPr>
          <a:xfrm>
            <a:off x="5027117" y="2419351"/>
            <a:ext cx="2137791" cy="3750509"/>
          </a:xfrm>
          <a:prstGeom prst="roundRect">
            <a:avLst>
              <a:gd name="adj" fmla="val 4760"/>
            </a:avLst>
          </a:prstGeom>
          <a:solidFill>
            <a:srgbClr val="F7F4ED"/>
          </a:solidFill>
        </p:spPr>
        <p:txBody>
          <a:bodyPr/>
          <a:lstStyle/>
          <a:p>
            <a:endParaRPr sz="3200">
              <a:latin typeface="Tahoma"/>
              <a:ea typeface="Tahoma"/>
              <a:cs typeface="Tahoma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D4A9BB2-DB3F-48B4-957F-AAF894EF9B12}"/>
              </a:ext>
            </a:extLst>
          </p:cNvPr>
          <p:cNvSpPr>
            <a:spLocks noGrp="1"/>
          </p:cNvSpPr>
          <p:nvPr/>
        </p:nvSpPr>
        <p:spPr>
          <a:xfrm>
            <a:off x="2794316" y="2419351"/>
            <a:ext cx="2130289" cy="3750509"/>
          </a:xfrm>
          <a:prstGeom prst="roundRect">
            <a:avLst>
              <a:gd name="adj" fmla="val 4146"/>
            </a:avLst>
          </a:prstGeom>
          <a:solidFill>
            <a:srgbClr val="F7F4ED"/>
          </a:solidFill>
        </p:spPr>
        <p:txBody>
          <a:bodyPr/>
          <a:lstStyle/>
          <a:p>
            <a:endParaRPr sz="3200">
              <a:latin typeface="Tahoma"/>
              <a:ea typeface="Tahoma"/>
              <a:cs typeface="Tahoma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87A2C645-B99B-4819-93C2-F1E3E7CAFF07}"/>
              </a:ext>
            </a:extLst>
          </p:cNvPr>
          <p:cNvSpPr>
            <a:spLocks noGrp="1"/>
          </p:cNvSpPr>
          <p:nvPr/>
        </p:nvSpPr>
        <p:spPr>
          <a:xfrm>
            <a:off x="7262417" y="2419351"/>
            <a:ext cx="2130289" cy="3750509"/>
          </a:xfrm>
          <a:prstGeom prst="roundRect">
            <a:avLst>
              <a:gd name="adj" fmla="val 4717"/>
            </a:avLst>
          </a:prstGeom>
          <a:solidFill>
            <a:srgbClr val="F7F4ED"/>
          </a:solidFill>
        </p:spPr>
        <p:txBody>
          <a:bodyPr/>
          <a:lstStyle/>
          <a:p>
            <a:endParaRPr sz="3200" dirty="0">
              <a:latin typeface="Tahoma"/>
              <a:ea typeface="Tahoma"/>
              <a:cs typeface="Tahoma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E405BADD-5C20-4351-9671-AE344AE12F23}"/>
              </a:ext>
            </a:extLst>
          </p:cNvPr>
          <p:cNvSpPr>
            <a:spLocks noGrp="1"/>
          </p:cNvSpPr>
          <p:nvPr/>
        </p:nvSpPr>
        <p:spPr>
          <a:xfrm>
            <a:off x="9490200" y="2419351"/>
            <a:ext cx="2130289" cy="3750509"/>
          </a:xfrm>
          <a:prstGeom prst="roundRect">
            <a:avLst>
              <a:gd name="adj" fmla="val 4718"/>
            </a:avLst>
          </a:prstGeom>
          <a:solidFill>
            <a:srgbClr val="F7F4ED"/>
          </a:solidFill>
        </p:spPr>
        <p:txBody>
          <a:bodyPr/>
          <a:lstStyle/>
          <a:p>
            <a:endParaRPr sz="3200" dirty="0">
              <a:latin typeface="Tahoma"/>
              <a:ea typeface="Tahoma"/>
              <a:cs typeface="Tahoma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DE2712B-C95B-4231-9F5D-77116255C62F}"/>
              </a:ext>
            </a:extLst>
          </p:cNvPr>
          <p:cNvSpPr>
            <a:spLocks noGrp="1"/>
          </p:cNvSpPr>
          <p:nvPr/>
        </p:nvSpPr>
        <p:spPr>
          <a:xfrm>
            <a:off x="841548" y="2816904"/>
            <a:ext cx="1314451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683"/>
              </a:lnSpc>
              <a:buNone/>
            </a:pPr>
            <a:r>
              <a:rPr sz="1100" b="1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Prompt</a:t>
            </a: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6F12F42-FE71-48F1-8329-744AD4951430}"/>
              </a:ext>
            </a:extLst>
          </p:cNvPr>
          <p:cNvSpPr>
            <a:spLocks noGrp="1"/>
          </p:cNvSpPr>
          <p:nvPr/>
        </p:nvSpPr>
        <p:spPr>
          <a:xfrm>
            <a:off x="841534" y="5614797"/>
            <a:ext cx="16002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683"/>
              </a:lnSpc>
              <a:buNone/>
            </a:pPr>
            <a:r>
              <a:rPr sz="1100" b="1" dirty="0" err="1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Instrucción</a:t>
            </a:r>
            <a:endParaRPr sz="1100" b="1" dirty="0">
              <a:latin typeface="Tahoma"/>
              <a:ea typeface="Tahoma"/>
              <a:cs typeface="Tahoma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22A3741C-7509-416D-87C0-05CA1FA17013}"/>
              </a:ext>
            </a:extLst>
          </p:cNvPr>
          <p:cNvSpPr>
            <a:spLocks noGrp="1"/>
          </p:cNvSpPr>
          <p:nvPr/>
        </p:nvSpPr>
        <p:spPr>
          <a:xfrm>
            <a:off x="3069336" y="5614797"/>
            <a:ext cx="16002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683"/>
              </a:lnSpc>
              <a:buNone/>
            </a:pPr>
            <a:r>
              <a:rPr lang="en-US" sz="1100" b="1" dirty="0" err="1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Paquete</a:t>
            </a:r>
            <a:r>
              <a:rPr lang="en-US" sz="1100" b="1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de </a:t>
            </a:r>
            <a:r>
              <a:rPr lang="en-US" sz="1100" b="1" dirty="0" err="1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Contexto</a:t>
            </a:r>
            <a:endParaRPr sz="1100" b="1" dirty="0">
              <a:latin typeface="Tahoma"/>
              <a:ea typeface="Tahoma"/>
              <a:cs typeface="Tahoma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5B22A1E8-3AF2-40AE-AC3C-E6CB47E362DE}"/>
              </a:ext>
            </a:extLst>
          </p:cNvPr>
          <p:cNvSpPr>
            <a:spLocks noGrp="1"/>
          </p:cNvSpPr>
          <p:nvPr/>
        </p:nvSpPr>
        <p:spPr>
          <a:xfrm>
            <a:off x="5297138" y="5614797"/>
            <a:ext cx="16002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683"/>
              </a:lnSpc>
              <a:buNone/>
            </a:pPr>
            <a:r>
              <a:rPr lang="en-US" sz="1100" b="1" dirty="0" err="1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Entorno</a:t>
            </a:r>
            <a:r>
              <a:rPr lang="en-US" sz="1100" b="1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de </a:t>
            </a:r>
            <a:r>
              <a:rPr lang="en-US" sz="1100" b="1" dirty="0" err="1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ejecución</a:t>
            </a:r>
            <a:endParaRPr sz="1100" b="1" dirty="0">
              <a:latin typeface="Tahoma"/>
              <a:ea typeface="Tahoma"/>
              <a:cs typeface="Tahoma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C7568694-1F94-4B38-BF8E-B6EF8B6A3A99}"/>
              </a:ext>
            </a:extLst>
          </p:cNvPr>
          <p:cNvSpPr>
            <a:spLocks noGrp="1"/>
          </p:cNvSpPr>
          <p:nvPr/>
        </p:nvSpPr>
        <p:spPr>
          <a:xfrm>
            <a:off x="7532465" y="5614797"/>
            <a:ext cx="16002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683"/>
              </a:lnSpc>
              <a:buNone/>
            </a:pPr>
            <a:r>
              <a:rPr lang="en-US" sz="1100" b="1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Tarea/Issue</a:t>
            </a:r>
            <a:endParaRPr sz="1100" b="1" dirty="0">
              <a:latin typeface="Tahoma"/>
              <a:ea typeface="Tahoma"/>
              <a:cs typeface="Tahoma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6662ED1B-7B4A-4EE6-BABD-D0B0E604D1BF}"/>
              </a:ext>
            </a:extLst>
          </p:cNvPr>
          <p:cNvSpPr>
            <a:spLocks noGrp="1"/>
          </p:cNvSpPr>
          <p:nvPr/>
        </p:nvSpPr>
        <p:spPr>
          <a:xfrm>
            <a:off x="9760268" y="5614797"/>
            <a:ext cx="16002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683"/>
              </a:lnSpc>
              <a:buNone/>
            </a:pPr>
            <a:r>
              <a:rPr sz="1100" b="1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Workflow</a:t>
            </a:r>
            <a:endParaRPr sz="1100" b="1" dirty="0">
              <a:latin typeface="Tahoma"/>
              <a:ea typeface="Tahoma"/>
              <a:cs typeface="Tahoma"/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5BF2971A-14C4-41C7-81ED-951112FD946B}"/>
              </a:ext>
            </a:extLst>
          </p:cNvPr>
          <p:cNvSpPr>
            <a:spLocks noGrp="1"/>
          </p:cNvSpPr>
          <p:nvPr/>
        </p:nvSpPr>
        <p:spPr>
          <a:xfrm>
            <a:off x="3069333" y="2816904"/>
            <a:ext cx="1454151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683"/>
              </a:lnSpc>
              <a:buNone/>
            </a:pPr>
            <a:r>
              <a:rPr sz="1100" b="1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Context</a:t>
            </a: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396D7EB5-7978-4F73-A314-1213E1288F8A}"/>
              </a:ext>
            </a:extLst>
          </p:cNvPr>
          <p:cNvSpPr>
            <a:spLocks noGrp="1"/>
          </p:cNvSpPr>
          <p:nvPr/>
        </p:nvSpPr>
        <p:spPr>
          <a:xfrm>
            <a:off x="5297141" y="2816904"/>
            <a:ext cx="15180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683"/>
              </a:lnSpc>
              <a:buNone/>
            </a:pPr>
            <a:r>
              <a:rPr sz="1100" b="1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Harness</a:t>
            </a: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7A7C9B49-84DB-4270-9A62-7C2C6F1422C5}"/>
              </a:ext>
            </a:extLst>
          </p:cNvPr>
          <p:cNvSpPr>
            <a:spLocks noGrp="1"/>
          </p:cNvSpPr>
          <p:nvPr/>
        </p:nvSpPr>
        <p:spPr>
          <a:xfrm>
            <a:off x="7532441" y="2816904"/>
            <a:ext cx="1479551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683"/>
              </a:lnSpc>
              <a:buNone/>
            </a:pPr>
            <a:r>
              <a:rPr sz="1100" b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Loop</a:t>
            </a: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333DC860-1FF9-4ED3-BA48-D209A8DF59F2}"/>
              </a:ext>
            </a:extLst>
          </p:cNvPr>
          <p:cNvSpPr>
            <a:spLocks noGrp="1"/>
          </p:cNvSpPr>
          <p:nvPr/>
        </p:nvSpPr>
        <p:spPr>
          <a:xfrm>
            <a:off x="9760248" y="2816904"/>
            <a:ext cx="11430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683"/>
              </a:lnSpc>
              <a:buNone/>
            </a:pPr>
            <a:r>
              <a:rPr sz="1100" b="1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Graph</a:t>
            </a: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CD2BB78A-AFFB-4B79-A32E-7EB2E4267AC1}"/>
              </a:ext>
            </a:extLst>
          </p:cNvPr>
          <p:cNvSpPr>
            <a:spLocks noGrp="1"/>
          </p:cNvSpPr>
          <p:nvPr/>
        </p:nvSpPr>
        <p:spPr>
          <a:xfrm>
            <a:off x="841549" y="3334473"/>
            <a:ext cx="1605217" cy="102537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Define la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tarea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, las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restricciones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y el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formato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esperado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.</a:t>
            </a:r>
            <a:endParaRPr sz="1100" dirty="0">
              <a:solidFill>
                <a:srgbClr val="47433B"/>
              </a:solidFill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72653375-4414-4BB1-88DC-1C8D5CF5FE1D}"/>
              </a:ext>
            </a:extLst>
          </p:cNvPr>
          <p:cNvSpPr>
            <a:spLocks noGrp="1"/>
          </p:cNvSpPr>
          <p:nvPr/>
        </p:nvSpPr>
        <p:spPr>
          <a:xfrm>
            <a:off x="3069333" y="3334473"/>
            <a:ext cx="1605217" cy="102537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Selecciona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información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,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ejemplos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, memoria y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estado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relevante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.</a:t>
            </a:r>
            <a:endParaRPr sz="1100" dirty="0">
              <a:solidFill>
                <a:srgbClr val="47433B"/>
              </a:solidFill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208850BA-0DFF-4736-83F6-A8483B8E1084}"/>
              </a:ext>
            </a:extLst>
          </p:cNvPr>
          <p:cNvSpPr>
            <a:spLocks noGrp="1"/>
          </p:cNvSpPr>
          <p:nvPr/>
        </p:nvSpPr>
        <p:spPr>
          <a:xfrm>
            <a:off x="5297141" y="3334473"/>
            <a:ext cx="1605217" cy="102537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Conecta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contexto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,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herramientas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,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reglas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y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validación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.</a:t>
            </a:r>
            <a:endParaRPr sz="1100" dirty="0">
              <a:solidFill>
                <a:srgbClr val="47433B"/>
              </a:solidFill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73B28E42-E600-4D9D-8DF3-71268BB42D21}"/>
              </a:ext>
            </a:extLst>
          </p:cNvPr>
          <p:cNvSpPr>
            <a:spLocks noGrp="1"/>
          </p:cNvSpPr>
          <p:nvPr/>
        </p:nvSpPr>
        <p:spPr>
          <a:xfrm>
            <a:off x="7532441" y="3334473"/>
            <a:ext cx="1605217" cy="102537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Repite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acciones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hasta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alcanzar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una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salida observable.</a:t>
            </a:r>
            <a:endParaRPr sz="1100" dirty="0">
              <a:solidFill>
                <a:srgbClr val="47433B"/>
              </a:solidFill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165D569D-D990-44BF-AA1C-3FD6B36B9C40}"/>
              </a:ext>
            </a:extLst>
          </p:cNvPr>
          <p:cNvSpPr>
            <a:spLocks noGrp="1"/>
          </p:cNvSpPr>
          <p:nvPr/>
        </p:nvSpPr>
        <p:spPr>
          <a:xfrm>
            <a:off x="9760249" y="3334473"/>
            <a:ext cx="1605217" cy="102537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Coordina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roles,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dependencias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y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rutas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de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validación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.</a:t>
            </a:r>
            <a:endParaRPr sz="1100" dirty="0">
              <a:solidFill>
                <a:srgbClr val="47433B"/>
              </a:solidFill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0AB95EA0-F0DA-4F08-AD6F-4642FB35493F}"/>
              </a:ext>
            </a:extLst>
          </p:cNvPr>
          <p:cNvSpPr>
            <a:spLocks noGrp="1"/>
          </p:cNvSpPr>
          <p:nvPr/>
        </p:nvSpPr>
        <p:spPr>
          <a:xfrm>
            <a:off x="841549" y="5464764"/>
            <a:ext cx="1605217" cy="0"/>
          </a:xfrm>
          <a:prstGeom prst="line">
            <a:avLst/>
          </a:prstGeom>
          <a:noFill/>
          <a:ln w="5344">
            <a:solidFill>
              <a:srgbClr val="CFC5B4"/>
            </a:solidFill>
            <a:prstDash val="solid"/>
          </a:ln>
        </p:spPr>
        <p:txBody>
          <a:bodyPr/>
          <a:lstStyle/>
          <a:p>
            <a:endParaRPr sz="3200">
              <a:latin typeface="Tahoma"/>
              <a:ea typeface="Tahoma"/>
              <a:cs typeface="Tahoma"/>
            </a:endParaRPr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B53B377C-0EFA-4798-A4F2-D36DECC86832}"/>
              </a:ext>
            </a:extLst>
          </p:cNvPr>
          <p:cNvSpPr>
            <a:spLocks noGrp="1"/>
          </p:cNvSpPr>
          <p:nvPr/>
        </p:nvSpPr>
        <p:spPr>
          <a:xfrm>
            <a:off x="3069333" y="5464764"/>
            <a:ext cx="1605217" cy="0"/>
          </a:xfrm>
          <a:prstGeom prst="line">
            <a:avLst/>
          </a:prstGeom>
          <a:noFill/>
          <a:ln w="5344">
            <a:solidFill>
              <a:srgbClr val="CFC5B4"/>
            </a:solidFill>
            <a:prstDash val="solid"/>
          </a:ln>
        </p:spPr>
        <p:txBody>
          <a:bodyPr/>
          <a:lstStyle/>
          <a:p>
            <a:endParaRPr sz="3200">
              <a:latin typeface="Tahoma"/>
              <a:ea typeface="Tahoma"/>
              <a:cs typeface="Tahoma"/>
            </a:endParaRPr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2534BF89-C8EA-48CB-8F90-79E107A106B9}"/>
              </a:ext>
            </a:extLst>
          </p:cNvPr>
          <p:cNvSpPr>
            <a:spLocks noGrp="1"/>
          </p:cNvSpPr>
          <p:nvPr/>
        </p:nvSpPr>
        <p:spPr>
          <a:xfrm>
            <a:off x="5297141" y="5464764"/>
            <a:ext cx="1605217" cy="0"/>
          </a:xfrm>
          <a:prstGeom prst="line">
            <a:avLst/>
          </a:prstGeom>
          <a:noFill/>
          <a:ln w="5344">
            <a:solidFill>
              <a:srgbClr val="CFC5B4"/>
            </a:solidFill>
            <a:prstDash val="solid"/>
          </a:ln>
        </p:spPr>
        <p:txBody>
          <a:bodyPr/>
          <a:lstStyle/>
          <a:p>
            <a:endParaRPr sz="3200">
              <a:latin typeface="Tahoma"/>
              <a:ea typeface="Tahoma"/>
              <a:cs typeface="Tahoma"/>
            </a:endParaRPr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DC2647E8-DDCF-4232-A826-B1741764E71F}"/>
              </a:ext>
            </a:extLst>
          </p:cNvPr>
          <p:cNvSpPr>
            <a:spLocks noGrp="1"/>
          </p:cNvSpPr>
          <p:nvPr/>
        </p:nvSpPr>
        <p:spPr>
          <a:xfrm>
            <a:off x="7524949" y="5464764"/>
            <a:ext cx="1605217" cy="0"/>
          </a:xfrm>
          <a:prstGeom prst="line">
            <a:avLst/>
          </a:prstGeom>
          <a:noFill/>
          <a:ln w="5344">
            <a:solidFill>
              <a:srgbClr val="CFC5B4"/>
            </a:solidFill>
            <a:prstDash val="solid"/>
          </a:ln>
        </p:spPr>
        <p:txBody>
          <a:bodyPr/>
          <a:lstStyle/>
          <a:p>
            <a:endParaRPr sz="3200">
              <a:latin typeface="Tahoma"/>
              <a:ea typeface="Tahoma"/>
              <a:cs typeface="Tahoma"/>
            </a:endParaRPr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E495A352-569C-4064-9C06-E14DC3AF4BF4}"/>
              </a:ext>
            </a:extLst>
          </p:cNvPr>
          <p:cNvSpPr>
            <a:spLocks noGrp="1"/>
          </p:cNvSpPr>
          <p:nvPr/>
        </p:nvSpPr>
        <p:spPr>
          <a:xfrm>
            <a:off x="9752757" y="5464764"/>
            <a:ext cx="1605217" cy="0"/>
          </a:xfrm>
          <a:prstGeom prst="line">
            <a:avLst/>
          </a:prstGeom>
          <a:noFill/>
          <a:ln w="5344">
            <a:solidFill>
              <a:srgbClr val="CFC5B4"/>
            </a:solidFill>
            <a:prstDash val="solid"/>
          </a:ln>
        </p:spPr>
        <p:txBody>
          <a:bodyPr/>
          <a:lstStyle/>
          <a:p>
            <a:endParaRPr sz="3200">
              <a:latin typeface="Tahoma"/>
              <a:ea typeface="Tahoma"/>
              <a:cs typeface="Tahoma"/>
            </a:endParaRP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19913E55-AE2A-46CD-AC6F-9A41B9FD7B01}"/>
              </a:ext>
            </a:extLst>
          </p:cNvPr>
          <p:cNvSpPr>
            <a:spLocks noGrp="1"/>
          </p:cNvSpPr>
          <p:nvPr/>
        </p:nvSpPr>
        <p:spPr>
          <a:xfrm>
            <a:off x="841548" y="4908551"/>
            <a:ext cx="1600200" cy="558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1347"/>
              </a:lnSpc>
              <a:buNone/>
            </a:pPr>
            <a:r>
              <a:rPr sz="5400">
                <a:solidFill>
                  <a:srgbClr val="E0DACE">
                    <a:alpha val="99000"/>
                  </a:srgbClr>
                </a:solidFill>
                <a:latin typeface="Tahoma"/>
                <a:ea typeface="Tahoma"/>
                <a:cs typeface="Tahoma"/>
              </a:rPr>
              <a:t>1.</a:t>
            </a:r>
            <a:endParaRPr sz="5400">
              <a:latin typeface="Tahoma"/>
              <a:ea typeface="Tahoma"/>
              <a:cs typeface="Tahoma"/>
            </a:endParaRPr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F11CFFBF-56A4-4E6D-9E6F-07BA7685333E}"/>
              </a:ext>
            </a:extLst>
          </p:cNvPr>
          <p:cNvSpPr>
            <a:spLocks noGrp="1"/>
          </p:cNvSpPr>
          <p:nvPr/>
        </p:nvSpPr>
        <p:spPr>
          <a:xfrm>
            <a:off x="3069332" y="4908551"/>
            <a:ext cx="1600200" cy="558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1347"/>
              </a:lnSpc>
              <a:buNone/>
            </a:pPr>
            <a:r>
              <a:rPr sz="5400">
                <a:solidFill>
                  <a:srgbClr val="E0DACE">
                    <a:alpha val="99000"/>
                  </a:srgbClr>
                </a:solidFill>
                <a:latin typeface="Tahoma"/>
                <a:ea typeface="Tahoma"/>
                <a:cs typeface="Tahoma"/>
              </a:rPr>
              <a:t>2.</a:t>
            </a:r>
            <a:endParaRPr sz="5400">
              <a:latin typeface="Tahoma"/>
              <a:ea typeface="Tahoma"/>
              <a:cs typeface="Tahoma"/>
            </a:endParaRPr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99FB1FFC-AEC9-42AD-928A-AB7F067D52E1}"/>
              </a:ext>
            </a:extLst>
          </p:cNvPr>
          <p:cNvSpPr>
            <a:spLocks noGrp="1"/>
          </p:cNvSpPr>
          <p:nvPr/>
        </p:nvSpPr>
        <p:spPr>
          <a:xfrm>
            <a:off x="5302249" y="4908551"/>
            <a:ext cx="1600200" cy="558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1347"/>
              </a:lnSpc>
              <a:buNone/>
            </a:pPr>
            <a:r>
              <a:rPr sz="5400">
                <a:solidFill>
                  <a:srgbClr val="E0DACE">
                    <a:alpha val="99000"/>
                  </a:srgbClr>
                </a:solidFill>
                <a:latin typeface="Tahoma"/>
                <a:ea typeface="Tahoma"/>
                <a:cs typeface="Tahoma"/>
              </a:rPr>
              <a:t>3.</a:t>
            </a:r>
            <a:endParaRPr sz="5400">
              <a:latin typeface="Tahoma"/>
              <a:ea typeface="Tahoma"/>
              <a:cs typeface="Tahoma"/>
            </a:endParaRPr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DA0134FF-D33F-45C7-B89F-F3B4A9B00B7F}"/>
              </a:ext>
            </a:extLst>
          </p:cNvPr>
          <p:cNvSpPr>
            <a:spLocks noGrp="1"/>
          </p:cNvSpPr>
          <p:nvPr/>
        </p:nvSpPr>
        <p:spPr>
          <a:xfrm>
            <a:off x="7522567" y="4908551"/>
            <a:ext cx="1606551" cy="558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1347"/>
              </a:lnSpc>
              <a:buNone/>
            </a:pPr>
            <a:r>
              <a:rPr sz="5400">
                <a:solidFill>
                  <a:srgbClr val="E0DACE">
                    <a:alpha val="99000"/>
                  </a:srgbClr>
                </a:solidFill>
                <a:latin typeface="Tahoma"/>
                <a:ea typeface="Tahoma"/>
                <a:cs typeface="Tahoma"/>
              </a:rPr>
              <a:t>4.</a:t>
            </a:r>
            <a:endParaRPr sz="5400">
              <a:latin typeface="Tahoma"/>
              <a:ea typeface="Tahoma"/>
              <a:cs typeface="Tahoma"/>
            </a:endParaRPr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483C4CD0-F218-4109-AB43-AEE237960D30}"/>
              </a:ext>
            </a:extLst>
          </p:cNvPr>
          <p:cNvSpPr>
            <a:spLocks noGrp="1"/>
          </p:cNvSpPr>
          <p:nvPr/>
        </p:nvSpPr>
        <p:spPr>
          <a:xfrm>
            <a:off x="9745242" y="4909689"/>
            <a:ext cx="1575213" cy="55507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1347"/>
              </a:lnSpc>
              <a:buNone/>
            </a:pPr>
            <a:r>
              <a:rPr sz="5400">
                <a:solidFill>
                  <a:srgbClr val="E0DACE">
                    <a:alpha val="99000"/>
                  </a:srgbClr>
                </a:solidFill>
                <a:latin typeface="Tahoma"/>
                <a:ea typeface="Tahoma"/>
                <a:cs typeface="Tahoma"/>
              </a:rPr>
              <a:t>5.</a:t>
            </a:r>
            <a:endParaRPr sz="5400">
              <a:latin typeface="Tahoma"/>
              <a:ea typeface="Tahoma"/>
              <a:cs typeface="Tahoma"/>
            </a:endParaRPr>
          </a:p>
        </p:txBody>
      </p:sp>
      <p:pic>
        <p:nvPicPr>
          <p:cNvPr id="68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750551" y="400051"/>
            <a:ext cx="867792" cy="183659"/>
          </a:xfrm>
          <a:prstGeom prst="rect">
            <a:avLst/>
          </a:prstGeom>
        </p:spPr>
      </p:pic>
      <p:sp>
        <p:nvSpPr>
          <p:cNvPr id="36" name="Text 6">
            <a:extLst>
              <a:ext uri="{FF2B5EF4-FFF2-40B4-BE49-F238E27FC236}">
                <a16:creationId xmlns:a16="http://schemas.microsoft.com/office/drawing/2014/main" id="{CDC314E1-0341-0686-ACE8-6415444C43E1}"/>
              </a:ext>
            </a:extLst>
          </p:cNvPr>
          <p:cNvSpPr>
            <a:spLocks noGrp="1"/>
          </p:cNvSpPr>
          <p:nvPr/>
        </p:nvSpPr>
        <p:spPr>
          <a:xfrm>
            <a:off x="571501" y="583709"/>
            <a:ext cx="4991100" cy="508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4013"/>
              </a:lnSpc>
              <a:buNone/>
            </a:pPr>
            <a:r>
              <a:rPr sz="2700" dirty="0" err="1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Evolución</a:t>
            </a:r>
            <a:r>
              <a:rPr sz="2700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de la </a:t>
            </a:r>
            <a:r>
              <a:rPr sz="2700" dirty="0" err="1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arquitectura</a:t>
            </a:r>
            <a:endParaRPr sz="2700" dirty="0"/>
          </a:p>
        </p:txBody>
      </p:sp>
      <p:sp>
        <p:nvSpPr>
          <p:cNvPr id="33" name="Text 5">
            <a:extLst>
              <a:ext uri="{FF2B5EF4-FFF2-40B4-BE49-F238E27FC236}">
                <a16:creationId xmlns:a16="http://schemas.microsoft.com/office/drawing/2014/main" id="{C9DDB942-E9CF-434D-6854-CE47544FF69A}"/>
              </a:ext>
            </a:extLst>
          </p:cNvPr>
          <p:cNvSpPr>
            <a:spLocks noGrp="1"/>
          </p:cNvSpPr>
          <p:nvPr/>
        </p:nvSpPr>
        <p:spPr>
          <a:xfrm>
            <a:off x="577851" y="1192437"/>
            <a:ext cx="4808188" cy="4254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Cada etapa resuelve un límite de la anterior y cambia la unidad que diseñamos. Se suman, no se reemplazan.</a:t>
            </a:r>
            <a:endParaRPr sz="1400" dirty="0">
              <a:latin typeface="Tahoma"/>
              <a:ea typeface="Tahoma"/>
              <a:cs typeface="Tahoma"/>
            </a:endParaRPr>
          </a:p>
        </p:txBody>
      </p:sp>
      <p:sp>
        <p:nvSpPr>
          <p:cNvPr id="401" name="Text 401"/>
          <p:cNvSpPr>
            <a:spLocks noGrp="1"/>
          </p:cNvSpPr>
          <p:nvPr/>
        </p:nvSpPr>
        <p:spPr>
          <a:xfrm>
            <a:off x="841548" y="2590000"/>
            <a:ext cx="1314451" cy="2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683"/>
              </a:lnSpc>
              <a:buNone/>
            </a:pPr>
            <a:r>
              <a:rPr sz="1000" b="1" dirty="0">
                <a:solidFill>
                  <a:srgbClr val="DD2C00"/>
                </a:solidFill>
                <a:latin typeface="Tahoma"/>
                <a:ea typeface="Tahoma"/>
                <a:cs typeface="Tahoma"/>
              </a:rPr>
              <a:t>2020–2022</a:t>
            </a:r>
          </a:p>
        </p:txBody>
      </p:sp>
      <p:sp>
        <p:nvSpPr>
          <p:cNvPr id="402" name="Text 402"/>
          <p:cNvSpPr>
            <a:spLocks noGrp="1"/>
          </p:cNvSpPr>
          <p:nvPr/>
        </p:nvSpPr>
        <p:spPr>
          <a:xfrm>
            <a:off x="841549" y="4020000"/>
            <a:ext cx="1605217" cy="8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900" b="0" dirty="0">
                <a:solidFill>
                  <a:srgbClr val="8A7F6E"/>
                </a:solidFill>
                <a:latin typeface="Tahoma"/>
                <a:ea typeface="Tahoma"/>
                <a:cs typeface="Tahoma"/>
              </a:rPr>
              <a:t>Ej.: GPT-3, ChatGPT, few-shot, chain-of-thought</a:t>
            </a:r>
            <a:endParaRPr sz="1100" dirty="0">
              <a:solidFill>
                <a:srgbClr val="47433B"/>
              </a:solidFill>
            </a:endParaRPr>
          </a:p>
        </p:txBody>
      </p:sp>
      <p:sp>
        <p:nvSpPr>
          <p:cNvPr id="403" name="Text 403"/>
          <p:cNvSpPr>
            <a:spLocks noGrp="1"/>
          </p:cNvSpPr>
          <p:nvPr/>
        </p:nvSpPr>
        <p:spPr>
          <a:xfrm>
            <a:off x="3069333" y="2590000"/>
            <a:ext cx="1454151" cy="2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683"/>
              </a:lnSpc>
              <a:buNone/>
            </a:pPr>
            <a:r>
              <a:rPr sz="1000" b="1" dirty="0">
                <a:solidFill>
                  <a:srgbClr val="DD2C00"/>
                </a:solidFill>
                <a:latin typeface="Tahoma"/>
                <a:ea typeface="Tahoma"/>
                <a:cs typeface="Tahoma"/>
              </a:rPr>
              <a:t>2023–2024</a:t>
            </a:r>
          </a:p>
        </p:txBody>
      </p:sp>
      <p:sp>
        <p:nvSpPr>
          <p:cNvPr id="404" name="Text 404"/>
          <p:cNvSpPr>
            <a:spLocks noGrp="1"/>
          </p:cNvSpPr>
          <p:nvPr/>
        </p:nvSpPr>
        <p:spPr>
          <a:xfrm>
            <a:off x="3069333" y="4020000"/>
            <a:ext cx="1605217" cy="8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900" b="0" dirty="0" err="1">
                <a:solidFill>
                  <a:srgbClr val="8A7F6E"/>
                </a:solidFill>
                <a:latin typeface="Tahoma"/>
                <a:ea typeface="Tahoma"/>
                <a:cs typeface="Tahoma"/>
              </a:rPr>
              <a:t>Ej.: RAG, Pinecone / pgvector, GraphRAG, LangChain, LlamaIndex, ventanas largas</a:t>
            </a:r>
            <a:endParaRPr sz="1100" dirty="0">
              <a:solidFill>
                <a:srgbClr val="47433B"/>
              </a:solidFill>
            </a:endParaRPr>
          </a:p>
        </p:txBody>
      </p:sp>
      <p:sp>
        <p:nvSpPr>
          <p:cNvPr id="405" name="Text 405"/>
          <p:cNvSpPr>
            <a:spLocks noGrp="1"/>
          </p:cNvSpPr>
          <p:nvPr/>
        </p:nvSpPr>
        <p:spPr>
          <a:xfrm>
            <a:off x="5297141" y="2590000"/>
            <a:ext cx="1518060" cy="2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683"/>
              </a:lnSpc>
              <a:buNone/>
            </a:pPr>
            <a:r>
              <a:rPr sz="1000" b="1" dirty="0">
                <a:solidFill>
                  <a:srgbClr val="DD2C00"/>
                </a:solidFill>
                <a:latin typeface="Tahoma"/>
                <a:ea typeface="Tahoma"/>
                <a:cs typeface="Tahoma"/>
              </a:rPr>
              <a:t>2024–2025</a:t>
            </a:r>
          </a:p>
        </p:txBody>
      </p:sp>
      <p:sp>
        <p:nvSpPr>
          <p:cNvPr id="406" name="Text 406"/>
          <p:cNvSpPr>
            <a:spLocks noGrp="1"/>
          </p:cNvSpPr>
          <p:nvPr/>
        </p:nvSpPr>
        <p:spPr>
          <a:xfrm>
            <a:off x="5297141" y="4020000"/>
            <a:ext cx="1605217" cy="8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900" b="0" dirty="0" err="1">
                <a:solidFill>
                  <a:srgbClr val="8A7F6E"/>
                </a:solidFill>
                <a:latin typeface="Tahoma"/>
                <a:ea typeface="Tahoma"/>
                <a:cs typeface="Tahoma"/>
              </a:rPr>
              <a:t>Ej.: function calling, MCP, Cursor, Copilot, Claude Code, AGENTS.md</a:t>
            </a:r>
            <a:endParaRPr sz="1100" dirty="0">
              <a:solidFill>
                <a:srgbClr val="47433B"/>
              </a:solidFill>
            </a:endParaRPr>
          </a:p>
        </p:txBody>
      </p:sp>
      <p:sp>
        <p:nvSpPr>
          <p:cNvPr id="407" name="Text 407"/>
          <p:cNvSpPr>
            <a:spLocks noGrp="1"/>
          </p:cNvSpPr>
          <p:nvPr/>
        </p:nvSpPr>
        <p:spPr>
          <a:xfrm>
            <a:off x="7532441" y="2590000"/>
            <a:ext cx="1479551" cy="2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683"/>
              </a:lnSpc>
              <a:buNone/>
            </a:pPr>
            <a:r>
              <a:rPr sz="1000" b="1" dirty="0">
                <a:solidFill>
                  <a:srgbClr val="DD2C00"/>
                </a:solidFill>
                <a:latin typeface="Tahoma"/>
                <a:ea typeface="Tahoma"/>
                <a:cs typeface="Tahoma"/>
              </a:rPr>
              <a:t>2023 → 2025</a:t>
            </a:r>
          </a:p>
        </p:txBody>
      </p:sp>
      <p:sp>
        <p:nvSpPr>
          <p:cNvPr id="408" name="Text 408"/>
          <p:cNvSpPr>
            <a:spLocks noGrp="1"/>
          </p:cNvSpPr>
          <p:nvPr/>
        </p:nvSpPr>
        <p:spPr>
          <a:xfrm>
            <a:off x="7532441" y="4020000"/>
            <a:ext cx="1605217" cy="8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900" b="0" dirty="0" err="1">
                <a:solidFill>
                  <a:srgbClr val="8A7F6E"/>
                </a:solidFill>
                <a:latin typeface="Tahoma"/>
                <a:ea typeface="Tahoma"/>
                <a:cs typeface="Tahoma"/>
              </a:rPr>
              <a:t>Ej.: AutoGPT (precursor), Devin, agentes en background (Codex, Copilot coding agent)</a:t>
            </a:r>
            <a:endParaRPr sz="1100" dirty="0">
              <a:solidFill>
                <a:srgbClr val="47433B"/>
              </a:solidFill>
            </a:endParaRPr>
          </a:p>
        </p:txBody>
      </p:sp>
      <p:sp>
        <p:nvSpPr>
          <p:cNvPr id="409" name="Text 409"/>
          <p:cNvSpPr>
            <a:spLocks noGrp="1"/>
          </p:cNvSpPr>
          <p:nvPr/>
        </p:nvSpPr>
        <p:spPr>
          <a:xfrm>
            <a:off x="9760248" y="2590000"/>
            <a:ext cx="1143000" cy="2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683"/>
              </a:lnSpc>
              <a:buNone/>
            </a:pPr>
            <a:r>
              <a:rPr sz="1000" b="1" dirty="0">
                <a:solidFill>
                  <a:srgbClr val="DD2C00"/>
                </a:solidFill>
                <a:latin typeface="Tahoma"/>
                <a:ea typeface="Tahoma"/>
                <a:cs typeface="Tahoma"/>
              </a:rPr>
              <a:t>2024–hoy</a:t>
            </a:r>
          </a:p>
        </p:txBody>
      </p:sp>
      <p:sp>
        <p:nvSpPr>
          <p:cNvPr id="410" name="Text 410"/>
          <p:cNvSpPr>
            <a:spLocks noGrp="1"/>
          </p:cNvSpPr>
          <p:nvPr/>
        </p:nvSpPr>
        <p:spPr>
          <a:xfrm>
            <a:off x="9760249" y="4020000"/>
            <a:ext cx="1605217" cy="8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900" b="0" dirty="0" err="1">
                <a:solidFill>
                  <a:srgbClr val="8A7F6E"/>
                </a:solidFill>
                <a:latin typeface="Tahoma"/>
                <a:ea typeface="Tahoma"/>
                <a:cs typeface="Tahoma"/>
              </a:rPr>
              <a:t>Ej.: AutoGen, LangGraph, CrewAI, subagentes, protocolo A2A</a:t>
            </a:r>
            <a:endParaRPr sz="1100" dirty="0">
              <a:solidFill>
                <a:srgbClr val="47433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09370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0"/>
          <p:cNvPicPr>
            <a:picLocks noChangeAspect="1"/>
          </p:cNvPicPr>
          <p:nvPr/>
        </p:nvPicPr>
        <p:blipFill>
          <a:blip r:embed="rId3"/>
          <a:srcRect r="-1"/>
          <a:stretch/>
        </p:blipFill>
        <p:spPr>
          <a:xfrm>
            <a:off x="10750551" y="400051"/>
            <a:ext cx="867792" cy="183659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09933BA6-B705-4165-852D-745A1D9E0C78}"/>
              </a:ext>
            </a:extLst>
          </p:cNvPr>
          <p:cNvSpPr>
            <a:spLocks noGrp="1"/>
          </p:cNvSpPr>
          <p:nvPr/>
        </p:nvSpPr>
        <p:spPr>
          <a:xfrm>
            <a:off x="1066800" y="2146301"/>
            <a:ext cx="5340349" cy="20637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7360"/>
              </a:lnSpc>
              <a:buNone/>
            </a:pPr>
            <a:r>
              <a:rPr sz="80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Prompt</a:t>
            </a:r>
            <a:endParaRPr sz="8000"/>
          </a:p>
          <a:p>
            <a:pPr>
              <a:lnSpc>
                <a:spcPts val="7360"/>
              </a:lnSpc>
              <a:buNone/>
            </a:pPr>
            <a:r>
              <a:rPr sz="80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engineering</a:t>
            </a:r>
            <a:endParaRPr sz="800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219B78BC-08CA-4A85-95D8-D158707E9EC1}"/>
              </a:ext>
            </a:extLst>
          </p:cNvPr>
          <p:cNvSpPr>
            <a:spLocks noGrp="1"/>
          </p:cNvSpPr>
          <p:nvPr/>
        </p:nvSpPr>
        <p:spPr>
          <a:xfrm>
            <a:off x="1066800" y="4503066"/>
            <a:ext cx="5340413" cy="67449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2196"/>
              </a:lnSpc>
              <a:buNone/>
            </a:pPr>
            <a:r>
              <a:rPr sz="20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El </a:t>
            </a:r>
            <a:r>
              <a:rPr sz="20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humano</a:t>
            </a:r>
            <a:r>
              <a:rPr sz="20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divide el </a:t>
            </a:r>
            <a:r>
              <a:rPr sz="20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problema</a:t>
            </a:r>
            <a:r>
              <a:rPr sz="20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y </a:t>
            </a:r>
            <a:r>
              <a:rPr sz="20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guía</a:t>
            </a:r>
            <a:r>
              <a:rPr sz="20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20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cada</a:t>
            </a:r>
            <a:r>
              <a:rPr sz="20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20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transformación</a:t>
            </a:r>
            <a:r>
              <a:rPr sz="20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.</a:t>
            </a:r>
            <a:endParaRPr sz="20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8128170E-DD67-45D2-8ABE-8CFD167D0985}"/>
              </a:ext>
            </a:extLst>
          </p:cNvPr>
          <p:cNvSpPr>
            <a:spLocks noGrp="1"/>
          </p:cNvSpPr>
          <p:nvPr/>
        </p:nvSpPr>
        <p:spPr>
          <a:xfrm>
            <a:off x="1066800" y="5963147"/>
            <a:ext cx="2312504" cy="2777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2196"/>
              </a:lnSpc>
              <a:buNone/>
            </a:pP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Demo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en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vivo · Visual Studio + 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Claude Code</a:t>
            </a:r>
            <a:endParaRPr sz="1400" dirty="0">
              <a:latin typeface="Tahoma"/>
              <a:ea typeface="Tahoma"/>
              <a:cs typeface="Tahoma"/>
            </a:endParaRPr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7BE845C0-FD96-4D73-B33E-55CD74FD49FC}"/>
              </a:ext>
            </a:extLst>
          </p:cNvPr>
          <p:cNvSpPr>
            <a:spLocks noGrp="1"/>
          </p:cNvSpPr>
          <p:nvPr/>
        </p:nvSpPr>
        <p:spPr>
          <a:xfrm>
            <a:off x="1066800" y="5709220"/>
            <a:ext cx="11125200" cy="0"/>
          </a:xfrm>
          <a:prstGeom prst="line">
            <a:avLst/>
          </a:prstGeom>
          <a:noFill/>
          <a:ln w="5654">
            <a:solidFill>
              <a:srgbClr val="B2A894"/>
            </a:solidFill>
            <a:prstDash val="solid"/>
          </a:ln>
        </p:spPr>
        <p:txBody>
          <a:bodyPr/>
          <a:lstStyle/>
          <a:p>
            <a:endParaRPr sz="3200"/>
          </a:p>
        </p:txBody>
      </p:sp>
    </p:spTree>
    <p:extLst>
      <p:ext uri="{BB962C8B-B14F-4D97-AF65-F5344CB8AC3E}">
        <p14:creationId xmlns:p14="http://schemas.microsoft.com/office/powerpoint/2010/main" val="2156899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28B4DBD-077A-4D90-856D-32417B219C3C}"/>
              </a:ext>
            </a:extLst>
          </p:cNvPr>
          <p:cNvSpPr>
            <a:spLocks noGrp="1"/>
          </p:cNvSpPr>
          <p:nvPr/>
        </p:nvSpPr>
        <p:spPr>
          <a:xfrm>
            <a:off x="571500" y="2559051"/>
            <a:ext cx="3515125" cy="3515125"/>
          </a:xfrm>
          <a:prstGeom prst="ellipse">
            <a:avLst/>
          </a:prstGeom>
          <a:solidFill>
            <a:srgbClr val="FCF9F3"/>
          </a:solidFill>
          <a:ln w="5385">
            <a:solidFill>
              <a:srgbClr val="E0DACE"/>
            </a:solidFill>
            <a:prstDash val="solid"/>
          </a:ln>
        </p:spPr>
        <p:txBody>
          <a:bodyPr/>
          <a:lstStyle/>
          <a:p>
            <a:endParaRPr sz="32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E764C5B-8FC4-40C0-A6BA-9AC91C2C68CE}"/>
              </a:ext>
            </a:extLst>
          </p:cNvPr>
          <p:cNvSpPr>
            <a:spLocks noGrp="1"/>
          </p:cNvSpPr>
          <p:nvPr/>
        </p:nvSpPr>
        <p:spPr>
          <a:xfrm>
            <a:off x="4338427" y="2559051"/>
            <a:ext cx="3515125" cy="3515125"/>
          </a:xfrm>
          <a:prstGeom prst="ellipse">
            <a:avLst/>
          </a:prstGeom>
          <a:solidFill>
            <a:srgbClr val="FCF9F3"/>
          </a:solidFill>
          <a:ln w="5385">
            <a:solidFill>
              <a:srgbClr val="E0DACE"/>
            </a:solidFill>
            <a:prstDash val="solid"/>
          </a:ln>
        </p:spPr>
        <p:txBody>
          <a:bodyPr/>
          <a:lstStyle/>
          <a:p>
            <a:endParaRPr sz="32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CCAD4A6-E21E-4B16-90ED-3F9517D19DB4}"/>
              </a:ext>
            </a:extLst>
          </p:cNvPr>
          <p:cNvSpPr>
            <a:spLocks noGrp="1"/>
          </p:cNvSpPr>
          <p:nvPr/>
        </p:nvSpPr>
        <p:spPr>
          <a:xfrm>
            <a:off x="8105379" y="2559051"/>
            <a:ext cx="3515125" cy="3515125"/>
          </a:xfrm>
          <a:prstGeom prst="ellipse">
            <a:avLst/>
          </a:prstGeom>
          <a:solidFill>
            <a:srgbClr val="FCF9F3"/>
          </a:solidFill>
          <a:ln w="5385">
            <a:solidFill>
              <a:srgbClr val="E0DACE"/>
            </a:solidFill>
            <a:prstDash val="solid"/>
          </a:ln>
        </p:spPr>
        <p:txBody>
          <a:bodyPr/>
          <a:lstStyle/>
          <a:p>
            <a:endParaRPr sz="3200"/>
          </a:p>
        </p:txBody>
      </p:sp>
      <p:pic>
        <p:nvPicPr>
          <p:cNvPr id="25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750551" y="400051"/>
            <a:ext cx="867792" cy="183659"/>
          </a:xfrm>
          <a:prstGeom prst="rect">
            <a:avLst/>
          </a:prstGeom>
        </p:spPr>
      </p:pic>
      <p:sp>
        <p:nvSpPr>
          <p:cNvPr id="8" name="Text 5">
            <a:extLst>
              <a:ext uri="{FF2B5EF4-FFF2-40B4-BE49-F238E27FC236}">
                <a16:creationId xmlns:a16="http://schemas.microsoft.com/office/drawing/2014/main" id="{BA0A5E8C-2998-4785-8295-315CBFFEBC50}"/>
              </a:ext>
            </a:extLst>
          </p:cNvPr>
          <p:cNvSpPr>
            <a:spLocks noGrp="1"/>
          </p:cNvSpPr>
          <p:nvPr/>
        </p:nvSpPr>
        <p:spPr>
          <a:xfrm>
            <a:off x="965200" y="3835400"/>
            <a:ext cx="1009651" cy="558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357"/>
              </a:lnSpc>
              <a:buNone/>
            </a:pPr>
            <a:r>
              <a:rPr sz="7400">
                <a:solidFill>
                  <a:srgbClr val="EBE6DD">
                    <a:alpha val="99000"/>
                  </a:srgbClr>
                </a:solidFill>
                <a:latin typeface="Tahoma"/>
                <a:ea typeface="Tahoma"/>
                <a:cs typeface="Tahoma"/>
              </a:rPr>
              <a:t>1.</a:t>
            </a:r>
            <a:endParaRPr sz="740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7976B785-B45B-4138-B62D-4446F290E2AC}"/>
              </a:ext>
            </a:extLst>
          </p:cNvPr>
          <p:cNvSpPr>
            <a:spLocks noGrp="1"/>
          </p:cNvSpPr>
          <p:nvPr/>
        </p:nvSpPr>
        <p:spPr>
          <a:xfrm>
            <a:off x="4730751" y="3835400"/>
            <a:ext cx="977900" cy="558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357"/>
              </a:lnSpc>
              <a:buNone/>
            </a:pPr>
            <a:r>
              <a:rPr sz="7400">
                <a:solidFill>
                  <a:srgbClr val="EBE6DD">
                    <a:alpha val="99000"/>
                  </a:srgbClr>
                </a:solidFill>
                <a:latin typeface="Tahoma"/>
                <a:ea typeface="Tahoma"/>
                <a:cs typeface="Tahoma"/>
              </a:rPr>
              <a:t>2.</a:t>
            </a:r>
            <a:endParaRPr sz="740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44DC72D6-109D-4F88-8831-0211687222E6}"/>
              </a:ext>
            </a:extLst>
          </p:cNvPr>
          <p:cNvSpPr>
            <a:spLocks noGrp="1"/>
          </p:cNvSpPr>
          <p:nvPr/>
        </p:nvSpPr>
        <p:spPr>
          <a:xfrm>
            <a:off x="8496301" y="3835400"/>
            <a:ext cx="971551" cy="558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357"/>
              </a:lnSpc>
              <a:buNone/>
            </a:pPr>
            <a:r>
              <a:rPr sz="7400">
                <a:solidFill>
                  <a:srgbClr val="EBE6DD">
                    <a:alpha val="99000"/>
                  </a:srgbClr>
                </a:solidFill>
                <a:latin typeface="Tahoma"/>
                <a:ea typeface="Tahoma"/>
                <a:cs typeface="Tahoma"/>
              </a:rPr>
              <a:t>3.</a:t>
            </a:r>
            <a:endParaRPr sz="740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2C1888E8-390B-4910-9568-F2E3CECFB601}"/>
              </a:ext>
            </a:extLst>
          </p:cNvPr>
          <p:cNvSpPr>
            <a:spLocks noGrp="1"/>
          </p:cNvSpPr>
          <p:nvPr/>
        </p:nvSpPr>
        <p:spPr>
          <a:xfrm>
            <a:off x="1784351" y="3530771"/>
            <a:ext cx="1949451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400" dirty="0" err="1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Seleccionar</a:t>
            </a:r>
            <a:endParaRPr sz="1400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9CFE7D11-D05A-44D3-8949-FDA3902846AD}"/>
              </a:ext>
            </a:extLst>
          </p:cNvPr>
          <p:cNvSpPr>
            <a:spLocks noGrp="1"/>
          </p:cNvSpPr>
          <p:nvPr/>
        </p:nvSpPr>
        <p:spPr>
          <a:xfrm>
            <a:off x="1784351" y="3925575"/>
            <a:ext cx="1949451" cy="1276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Objetivo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,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código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,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ejemplos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y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restricciones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relevantes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para la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decisión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actual.</a:t>
            </a:r>
            <a:endParaRPr sz="1100" dirty="0">
              <a:solidFill>
                <a:srgbClr val="47433B"/>
              </a:solidFill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44A06CA9-CC69-474D-AAE5-059592211C93}"/>
              </a:ext>
            </a:extLst>
          </p:cNvPr>
          <p:cNvSpPr>
            <a:spLocks noGrp="1"/>
          </p:cNvSpPr>
          <p:nvPr/>
        </p:nvSpPr>
        <p:spPr>
          <a:xfrm>
            <a:off x="5549900" y="3530771"/>
            <a:ext cx="19558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4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Organizar</a:t>
            </a:r>
            <a:endParaRPr sz="140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17E8DDFE-E7CC-45FB-8C15-3F0C1A9310A2}"/>
              </a:ext>
            </a:extLst>
          </p:cNvPr>
          <p:cNvSpPr>
            <a:spLocks noGrp="1"/>
          </p:cNvSpPr>
          <p:nvPr/>
        </p:nvSpPr>
        <p:spPr>
          <a:xfrm>
            <a:off x="9315451" y="3530771"/>
            <a:ext cx="19558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4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Actualizar</a:t>
            </a:r>
            <a:endParaRPr sz="140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28286170-8FC1-418C-AD86-DA14FEDCAFE2}"/>
              </a:ext>
            </a:extLst>
          </p:cNvPr>
          <p:cNvSpPr>
            <a:spLocks noGrp="1"/>
          </p:cNvSpPr>
          <p:nvPr/>
        </p:nvSpPr>
        <p:spPr>
          <a:xfrm>
            <a:off x="5549900" y="3925575"/>
            <a:ext cx="1955800" cy="1276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Priorizar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fuentes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, memoria y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estado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sin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saturar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la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ventana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de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contexto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.</a:t>
            </a:r>
            <a:endParaRPr sz="1100" dirty="0">
              <a:solidFill>
                <a:srgbClr val="47433B"/>
              </a:solidFill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91E9101E-A049-4834-9F4E-37F01011E52B}"/>
              </a:ext>
            </a:extLst>
          </p:cNvPr>
          <p:cNvSpPr>
            <a:spLocks noGrp="1"/>
          </p:cNvSpPr>
          <p:nvPr/>
        </p:nvSpPr>
        <p:spPr>
          <a:xfrm>
            <a:off x="9315451" y="3925575"/>
            <a:ext cx="1955800" cy="1276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Incorporar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resultados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de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herramientas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y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decisiones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del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trabajo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en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curso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.</a:t>
            </a:r>
            <a:endParaRPr sz="1100" dirty="0">
              <a:solidFill>
                <a:srgbClr val="47433B"/>
              </a:solidFill>
            </a:endParaRPr>
          </a:p>
        </p:txBody>
      </p:sp>
      <p:sp>
        <p:nvSpPr>
          <p:cNvPr id="20" name="Text 6">
            <a:extLst>
              <a:ext uri="{FF2B5EF4-FFF2-40B4-BE49-F238E27FC236}">
                <a16:creationId xmlns:a16="http://schemas.microsoft.com/office/drawing/2014/main" id="{AC04798C-021F-6C81-DF61-F135C863DB9C}"/>
              </a:ext>
            </a:extLst>
          </p:cNvPr>
          <p:cNvSpPr>
            <a:spLocks noGrp="1"/>
          </p:cNvSpPr>
          <p:nvPr/>
        </p:nvSpPr>
        <p:spPr>
          <a:xfrm>
            <a:off x="571501" y="583709"/>
            <a:ext cx="4991100" cy="508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4013"/>
              </a:lnSpc>
              <a:buNone/>
            </a:pPr>
            <a:r>
              <a:rPr sz="2700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Context engineering</a:t>
            </a:r>
            <a:endParaRPr sz="2700" dirty="0"/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DEF1667B-4A75-FFEC-B3D7-55E36573F9C8}"/>
              </a:ext>
            </a:extLst>
          </p:cNvPr>
          <p:cNvSpPr>
            <a:spLocks noGrp="1"/>
          </p:cNvSpPr>
          <p:nvPr/>
        </p:nvSpPr>
        <p:spPr>
          <a:xfrm>
            <a:off x="577851" y="1192437"/>
            <a:ext cx="4449253" cy="4254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Diseña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la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información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que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el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modelo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recibe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en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cada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momento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.</a:t>
            </a:r>
            <a:endParaRPr sz="1400" dirty="0">
              <a:latin typeface="Tahoma"/>
              <a:ea typeface="Tahom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11507710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750551" y="400051"/>
            <a:ext cx="867792" cy="183659"/>
          </a:xfrm>
          <a:prstGeom prst="rect">
            <a:avLst/>
          </a:prstGeom>
        </p:spPr>
      </p:pic>
      <p:sp>
        <p:nvSpPr>
          <p:cNvPr id="3" name="Shape 0">
            <a:extLst>
              <a:ext uri="{FF2B5EF4-FFF2-40B4-BE49-F238E27FC236}">
                <a16:creationId xmlns:a16="http://schemas.microsoft.com/office/drawing/2014/main" id="{E4B29154-BBB5-4287-7F3D-0EAC66DC20B1}"/>
              </a:ext>
            </a:extLst>
          </p:cNvPr>
          <p:cNvSpPr>
            <a:spLocks noGrp="1"/>
          </p:cNvSpPr>
          <p:nvPr/>
        </p:nvSpPr>
        <p:spPr>
          <a:xfrm>
            <a:off x="0" y="-38099"/>
            <a:ext cx="12192000" cy="6896100"/>
          </a:xfrm>
          <a:prstGeom prst="rect">
            <a:avLst/>
          </a:prstGeom>
          <a:solidFill>
            <a:srgbClr val="FCF9F3"/>
          </a:solidFill>
        </p:spPr>
        <p:txBody>
          <a:bodyPr/>
          <a:lstStyle/>
          <a:p>
            <a:endParaRPr sz="3200"/>
          </a:p>
        </p:txBody>
      </p:sp>
      <p:sp>
        <p:nvSpPr>
          <p:cNvPr id="19" name="Text 2">
            <a:extLst>
              <a:ext uri="{FF2B5EF4-FFF2-40B4-BE49-F238E27FC236}">
                <a16:creationId xmlns:a16="http://schemas.microsoft.com/office/drawing/2014/main" id="{50CE0D60-4F48-1455-73C9-C6D8C34B932C}"/>
              </a:ext>
            </a:extLst>
          </p:cNvPr>
          <p:cNvSpPr>
            <a:spLocks noGrp="1"/>
          </p:cNvSpPr>
          <p:nvPr/>
        </p:nvSpPr>
        <p:spPr>
          <a:xfrm>
            <a:off x="1066800" y="5963147"/>
            <a:ext cx="2312504" cy="2777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2196"/>
              </a:lnSpc>
              <a:buNone/>
            </a:pP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Demo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en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vivo ·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herramientas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+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validación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+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entrega</a:t>
            </a:r>
            <a:endParaRPr sz="1400" dirty="0">
              <a:latin typeface="Tahoma"/>
              <a:ea typeface="Tahoma"/>
              <a:cs typeface="Tahoma"/>
            </a:endParaRPr>
          </a:p>
        </p:txBody>
      </p:sp>
      <p:sp>
        <p:nvSpPr>
          <p:cNvPr id="20" name="Text 0">
            <a:extLst>
              <a:ext uri="{FF2B5EF4-FFF2-40B4-BE49-F238E27FC236}">
                <a16:creationId xmlns:a16="http://schemas.microsoft.com/office/drawing/2014/main" id="{345A19E2-07A7-8D6D-CCAE-9E3B8CEA8C67}"/>
              </a:ext>
            </a:extLst>
          </p:cNvPr>
          <p:cNvSpPr>
            <a:spLocks noGrp="1"/>
          </p:cNvSpPr>
          <p:nvPr/>
        </p:nvSpPr>
        <p:spPr>
          <a:xfrm>
            <a:off x="1066800" y="2146301"/>
            <a:ext cx="5340349" cy="20637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7360"/>
              </a:lnSpc>
              <a:buNone/>
            </a:pPr>
            <a:r>
              <a:rPr sz="8000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Harness</a:t>
            </a:r>
            <a:endParaRPr sz="8000" dirty="0"/>
          </a:p>
          <a:p>
            <a:pPr>
              <a:lnSpc>
                <a:spcPts val="7360"/>
              </a:lnSpc>
              <a:buNone/>
            </a:pPr>
            <a:r>
              <a:rPr sz="8000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engineering</a:t>
            </a:r>
            <a:endParaRPr sz="8000" dirty="0"/>
          </a:p>
        </p:txBody>
      </p:sp>
      <p:sp>
        <p:nvSpPr>
          <p:cNvPr id="21" name="Text 1">
            <a:extLst>
              <a:ext uri="{FF2B5EF4-FFF2-40B4-BE49-F238E27FC236}">
                <a16:creationId xmlns:a16="http://schemas.microsoft.com/office/drawing/2014/main" id="{C5DEC0D9-AB00-7592-5B31-597F7F0B0672}"/>
              </a:ext>
            </a:extLst>
          </p:cNvPr>
          <p:cNvSpPr>
            <a:spLocks noGrp="1"/>
          </p:cNvSpPr>
          <p:nvPr/>
        </p:nvSpPr>
        <p:spPr>
          <a:xfrm>
            <a:off x="1066800" y="4503066"/>
            <a:ext cx="5340413" cy="67449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2196"/>
              </a:lnSpc>
              <a:buNone/>
            </a:pPr>
            <a:r>
              <a:rPr sz="20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Convierte</a:t>
            </a:r>
            <a:r>
              <a:rPr sz="20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el </a:t>
            </a:r>
            <a:r>
              <a:rPr sz="20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contexto</a:t>
            </a:r>
            <a:r>
              <a:rPr sz="20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20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en</a:t>
            </a:r>
            <a:r>
              <a:rPr sz="20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20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capacidad</a:t>
            </a:r>
            <a:r>
              <a:rPr sz="20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20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operativa</a:t>
            </a:r>
            <a:r>
              <a:rPr sz="20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20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mediante</a:t>
            </a:r>
            <a:r>
              <a:rPr sz="20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20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herramientas</a:t>
            </a:r>
            <a:r>
              <a:rPr sz="20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, </a:t>
            </a:r>
            <a:r>
              <a:rPr sz="20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reglas</a:t>
            </a:r>
            <a:r>
              <a:rPr sz="20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y </a:t>
            </a:r>
            <a:r>
              <a:rPr sz="20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validación</a:t>
            </a:r>
            <a:r>
              <a:rPr sz="20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.</a:t>
            </a:r>
            <a:endParaRPr sz="2000" dirty="0"/>
          </a:p>
        </p:txBody>
      </p:sp>
      <p:pic>
        <p:nvPicPr>
          <p:cNvPr id="31" name="Image 0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1" r="321"/>
          <a:stretch/>
        </p:blipFill>
        <p:spPr>
          <a:xfrm>
            <a:off x="10750551" y="372671"/>
            <a:ext cx="867792" cy="183659"/>
          </a:xfrm>
          <a:prstGeom prst="rect">
            <a:avLst/>
          </a:prstGeom>
        </p:spPr>
      </p:pic>
      <p:sp>
        <p:nvSpPr>
          <p:cNvPr id="4" name="Shape 3">
            <a:extLst>
              <a:ext uri="{FF2B5EF4-FFF2-40B4-BE49-F238E27FC236}">
                <a16:creationId xmlns:a16="http://schemas.microsoft.com/office/drawing/2014/main" id="{0A511EB6-97B8-DE6F-0463-6E2219C28D1B}"/>
              </a:ext>
            </a:extLst>
          </p:cNvPr>
          <p:cNvSpPr>
            <a:spLocks noGrp="1"/>
          </p:cNvSpPr>
          <p:nvPr/>
        </p:nvSpPr>
        <p:spPr>
          <a:xfrm>
            <a:off x="1066800" y="5709220"/>
            <a:ext cx="11125200" cy="0"/>
          </a:xfrm>
          <a:prstGeom prst="line">
            <a:avLst/>
          </a:prstGeom>
          <a:noFill/>
          <a:ln w="5654">
            <a:solidFill>
              <a:srgbClr val="B2A894"/>
            </a:solidFill>
            <a:prstDash val="solid"/>
          </a:ln>
        </p:spPr>
        <p:txBody>
          <a:bodyPr/>
          <a:lstStyle/>
          <a:p>
            <a:endParaRPr sz="3200"/>
          </a:p>
        </p:txBody>
      </p:sp>
    </p:spTree>
    <p:extLst>
      <p:ext uri="{BB962C8B-B14F-4D97-AF65-F5344CB8AC3E}">
        <p14:creationId xmlns:p14="http://schemas.microsoft.com/office/powerpoint/2010/main" val="37422152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6CA09645-D8B8-44AD-9D27-432F9381530B}"/>
              </a:ext>
            </a:extLst>
          </p:cNvPr>
          <p:cNvSpPr>
            <a:spLocks noGrp="1"/>
          </p:cNvSpPr>
          <p:nvPr/>
        </p:nvSpPr>
        <p:spPr>
          <a:xfrm>
            <a:off x="571500" y="2616200"/>
            <a:ext cx="2670363" cy="3658091"/>
          </a:xfrm>
          <a:prstGeom prst="roundRect">
            <a:avLst>
              <a:gd name="adj" fmla="val 4789"/>
            </a:avLst>
          </a:prstGeom>
          <a:solidFill>
            <a:srgbClr val="F7F4ED"/>
          </a:solidFill>
        </p:spPr>
        <p:txBody>
          <a:bodyPr/>
          <a:lstStyle/>
          <a:p>
            <a:endParaRPr sz="32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12A66A65-EC27-43C1-A642-3736F628ECD3}"/>
              </a:ext>
            </a:extLst>
          </p:cNvPr>
          <p:cNvSpPr>
            <a:spLocks noGrp="1"/>
          </p:cNvSpPr>
          <p:nvPr/>
        </p:nvSpPr>
        <p:spPr>
          <a:xfrm>
            <a:off x="6152257" y="2616200"/>
            <a:ext cx="2677864" cy="3658091"/>
          </a:xfrm>
          <a:prstGeom prst="roundRect">
            <a:avLst>
              <a:gd name="adj" fmla="val 4818"/>
            </a:avLst>
          </a:prstGeom>
          <a:solidFill>
            <a:srgbClr val="F7F4ED"/>
          </a:solidFill>
        </p:spPr>
        <p:txBody>
          <a:bodyPr/>
          <a:lstStyle/>
          <a:p>
            <a:endParaRPr sz="32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21BFD362-A2D9-4E62-A62E-CF937752F47C}"/>
              </a:ext>
            </a:extLst>
          </p:cNvPr>
          <p:cNvSpPr>
            <a:spLocks noGrp="1"/>
          </p:cNvSpPr>
          <p:nvPr/>
        </p:nvSpPr>
        <p:spPr>
          <a:xfrm>
            <a:off x="3361879" y="2616200"/>
            <a:ext cx="2670363" cy="3658091"/>
          </a:xfrm>
          <a:prstGeom prst="roundRect">
            <a:avLst>
              <a:gd name="adj" fmla="val 5112"/>
            </a:avLst>
          </a:prstGeom>
          <a:solidFill>
            <a:srgbClr val="F7F4ED"/>
          </a:solidFill>
        </p:spPr>
        <p:txBody>
          <a:bodyPr/>
          <a:lstStyle/>
          <a:p>
            <a:endParaRPr sz="32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036BFBD0-DFAB-48FD-81AB-C1844B457A68}"/>
              </a:ext>
            </a:extLst>
          </p:cNvPr>
          <p:cNvSpPr>
            <a:spLocks noGrp="1"/>
          </p:cNvSpPr>
          <p:nvPr/>
        </p:nvSpPr>
        <p:spPr>
          <a:xfrm>
            <a:off x="8950127" y="2616200"/>
            <a:ext cx="2670363" cy="3658091"/>
          </a:xfrm>
          <a:prstGeom prst="roundRect">
            <a:avLst>
              <a:gd name="adj" fmla="val 4789"/>
            </a:avLst>
          </a:prstGeom>
          <a:solidFill>
            <a:srgbClr val="F7F4ED"/>
          </a:solidFill>
        </p:spPr>
        <p:txBody>
          <a:bodyPr/>
          <a:lstStyle/>
          <a:p>
            <a:endParaRPr sz="32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B74C5E3-4395-4CBA-BA20-04A4EAA5B167}"/>
              </a:ext>
            </a:extLst>
          </p:cNvPr>
          <p:cNvSpPr>
            <a:spLocks noGrp="1"/>
          </p:cNvSpPr>
          <p:nvPr/>
        </p:nvSpPr>
        <p:spPr>
          <a:xfrm>
            <a:off x="841523" y="4208822"/>
            <a:ext cx="2115287" cy="21797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683"/>
              </a:lnSpc>
              <a:buNone/>
            </a:pPr>
            <a:r>
              <a:rPr sz="1400" b="1" dirty="0" err="1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Contexto</a:t>
            </a:r>
            <a:endParaRPr sz="1400" b="1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63D7917-6DE9-4A5A-99B4-B232393C7840}"/>
              </a:ext>
            </a:extLst>
          </p:cNvPr>
          <p:cNvSpPr>
            <a:spLocks noGrp="1"/>
          </p:cNvSpPr>
          <p:nvPr/>
        </p:nvSpPr>
        <p:spPr>
          <a:xfrm>
            <a:off x="6422280" y="4208822"/>
            <a:ext cx="2115287" cy="21797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683"/>
              </a:lnSpc>
              <a:buNone/>
            </a:pPr>
            <a:r>
              <a:rPr sz="1400" b="1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Reglas</a:t>
            </a:r>
            <a:endParaRPr sz="1400" b="1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1208C8A1-9D32-486B-AE89-8AFAA3254056}"/>
              </a:ext>
            </a:extLst>
          </p:cNvPr>
          <p:cNvSpPr>
            <a:spLocks noGrp="1"/>
          </p:cNvSpPr>
          <p:nvPr/>
        </p:nvSpPr>
        <p:spPr>
          <a:xfrm>
            <a:off x="3631903" y="4208822"/>
            <a:ext cx="2115287" cy="21797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683"/>
              </a:lnSpc>
              <a:buNone/>
            </a:pPr>
            <a:r>
              <a:rPr sz="1400" b="1" dirty="0" err="1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Herramientas</a:t>
            </a:r>
            <a:endParaRPr sz="1400" b="1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2FC80B5-6FB1-41DF-BBF8-4E2D7820F2FD}"/>
              </a:ext>
            </a:extLst>
          </p:cNvPr>
          <p:cNvSpPr>
            <a:spLocks noGrp="1"/>
          </p:cNvSpPr>
          <p:nvPr/>
        </p:nvSpPr>
        <p:spPr>
          <a:xfrm>
            <a:off x="9212661" y="4208822"/>
            <a:ext cx="2115287" cy="21797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683"/>
              </a:lnSpc>
              <a:buNone/>
            </a:pPr>
            <a:r>
              <a:rPr sz="1400" b="1" dirty="0" err="1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Validación</a:t>
            </a:r>
            <a:endParaRPr sz="1400" b="1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119EC8B2-332F-4A5F-BC78-BCCD23BB2258}"/>
              </a:ext>
            </a:extLst>
          </p:cNvPr>
          <p:cNvSpPr>
            <a:spLocks noGrp="1"/>
          </p:cNvSpPr>
          <p:nvPr/>
        </p:nvSpPr>
        <p:spPr>
          <a:xfrm>
            <a:off x="841525" y="4603970"/>
            <a:ext cx="2115287" cy="127517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Objetivo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,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repositorio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,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convenciones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, memoria y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estado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actual de la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tarea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.</a:t>
            </a:r>
            <a:endParaRPr sz="1100" dirty="0">
              <a:solidFill>
                <a:srgbClr val="47433B"/>
              </a:solidFill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852BFA74-3883-4ED7-9EA2-3B2A1F30C122}"/>
              </a:ext>
            </a:extLst>
          </p:cNvPr>
          <p:cNvSpPr>
            <a:spLocks noGrp="1"/>
          </p:cNvSpPr>
          <p:nvPr/>
        </p:nvSpPr>
        <p:spPr>
          <a:xfrm>
            <a:off x="6422282" y="4603970"/>
            <a:ext cx="2115287" cy="127517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Restricciones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,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límites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,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definición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de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terminado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y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permisos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.</a:t>
            </a:r>
            <a:endParaRPr sz="1100" dirty="0">
              <a:solidFill>
                <a:srgbClr val="47433B"/>
              </a:solidFill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C05AEB69-AEEC-4DA4-B37B-958D177069D3}"/>
              </a:ext>
            </a:extLst>
          </p:cNvPr>
          <p:cNvSpPr>
            <a:spLocks noGrp="1"/>
          </p:cNvSpPr>
          <p:nvPr/>
        </p:nvSpPr>
        <p:spPr>
          <a:xfrm>
            <a:off x="3631903" y="4603970"/>
            <a:ext cx="2115287" cy="127517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Editor, terminal,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archivos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, tests y control de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versiones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.</a:t>
            </a:r>
            <a:endParaRPr sz="1100" dirty="0">
              <a:solidFill>
                <a:srgbClr val="47433B"/>
              </a:solidFill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53ABC3D4-FBFF-4BB9-9821-508A4DD58881}"/>
              </a:ext>
            </a:extLst>
          </p:cNvPr>
          <p:cNvSpPr>
            <a:spLocks noGrp="1"/>
          </p:cNvSpPr>
          <p:nvPr/>
        </p:nvSpPr>
        <p:spPr>
          <a:xfrm>
            <a:off x="9212661" y="4603970"/>
            <a:ext cx="2115287" cy="127517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Compilación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, unit tests y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evidencia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antes de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aceptar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el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resultado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.</a:t>
            </a:r>
            <a:endParaRPr sz="1100" dirty="0">
              <a:solidFill>
                <a:srgbClr val="47433B"/>
              </a:solidFill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8E7E2349-48EB-47A8-9592-78AC2B2889A0}"/>
              </a:ext>
            </a:extLst>
          </p:cNvPr>
          <p:cNvSpPr>
            <a:spLocks noGrp="1"/>
          </p:cNvSpPr>
          <p:nvPr/>
        </p:nvSpPr>
        <p:spPr>
          <a:xfrm>
            <a:off x="841525" y="2863734"/>
            <a:ext cx="1507705" cy="304167"/>
          </a:xfrm>
          <a:prstGeom prst="roundRect">
            <a:avLst>
              <a:gd name="adj" fmla="val 284093"/>
            </a:avLst>
          </a:prstGeom>
          <a:solidFill>
            <a:srgbClr val="F0ECE4"/>
          </a:solidFill>
          <a:ln w="5344">
            <a:solidFill>
              <a:srgbClr val="CFC5B4"/>
            </a:solidFill>
            <a:prstDash val="solid"/>
          </a:ln>
        </p:spPr>
        <p:txBody>
          <a:bodyPr/>
          <a:lstStyle/>
          <a:p>
            <a:endParaRPr sz="32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88239961-D4D2-42CE-B019-5A1207E38003}"/>
              </a:ext>
            </a:extLst>
          </p:cNvPr>
          <p:cNvSpPr>
            <a:spLocks noGrp="1"/>
          </p:cNvSpPr>
          <p:nvPr/>
        </p:nvSpPr>
        <p:spPr>
          <a:xfrm>
            <a:off x="1071514" y="2934893"/>
            <a:ext cx="1047751" cy="1841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ts val="1347"/>
              </a:lnSpc>
              <a:buNone/>
            </a:pPr>
            <a:r>
              <a:rPr sz="10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01</a:t>
            </a:r>
            <a:endParaRPr sz="1000">
              <a:solidFill>
                <a:srgbClr val="47433B"/>
              </a:solidFill>
            </a:endParaRP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B855A698-3BD1-4F86-B4AF-1758B05DC7A6}"/>
              </a:ext>
            </a:extLst>
          </p:cNvPr>
          <p:cNvSpPr>
            <a:spLocks noGrp="1"/>
          </p:cNvSpPr>
          <p:nvPr/>
        </p:nvSpPr>
        <p:spPr>
          <a:xfrm>
            <a:off x="6422282" y="2863734"/>
            <a:ext cx="1507705" cy="304167"/>
          </a:xfrm>
          <a:prstGeom prst="roundRect">
            <a:avLst>
              <a:gd name="adj" fmla="val 284093"/>
            </a:avLst>
          </a:prstGeom>
          <a:solidFill>
            <a:srgbClr val="F0ECE4"/>
          </a:solidFill>
          <a:ln w="5344">
            <a:solidFill>
              <a:srgbClr val="CFC5B4"/>
            </a:solidFill>
            <a:prstDash val="solid"/>
          </a:ln>
        </p:spPr>
        <p:txBody>
          <a:bodyPr/>
          <a:lstStyle/>
          <a:p>
            <a:endParaRPr sz="320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BD8787B0-CCE3-4500-AAD2-07D7F300D343}"/>
              </a:ext>
            </a:extLst>
          </p:cNvPr>
          <p:cNvSpPr>
            <a:spLocks noGrp="1"/>
          </p:cNvSpPr>
          <p:nvPr/>
        </p:nvSpPr>
        <p:spPr>
          <a:xfrm>
            <a:off x="6652270" y="2934893"/>
            <a:ext cx="1047751" cy="1841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ts val="1347"/>
              </a:lnSpc>
              <a:buNone/>
            </a:pPr>
            <a:r>
              <a:rPr sz="10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03</a:t>
            </a:r>
            <a:endParaRPr sz="1000">
              <a:solidFill>
                <a:srgbClr val="47433B"/>
              </a:solidFill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41A873F6-08E6-4D0B-B027-36E646BD35F1}"/>
              </a:ext>
            </a:extLst>
          </p:cNvPr>
          <p:cNvSpPr>
            <a:spLocks noGrp="1"/>
          </p:cNvSpPr>
          <p:nvPr/>
        </p:nvSpPr>
        <p:spPr>
          <a:xfrm>
            <a:off x="3631904" y="2863734"/>
            <a:ext cx="1507705" cy="304167"/>
          </a:xfrm>
          <a:prstGeom prst="roundRect">
            <a:avLst>
              <a:gd name="adj" fmla="val 284093"/>
            </a:avLst>
          </a:prstGeom>
          <a:solidFill>
            <a:srgbClr val="F0ECE4"/>
          </a:solidFill>
          <a:ln w="5344">
            <a:solidFill>
              <a:srgbClr val="CFC5B4"/>
            </a:solidFill>
            <a:prstDash val="solid"/>
          </a:ln>
        </p:spPr>
        <p:txBody>
          <a:bodyPr/>
          <a:lstStyle/>
          <a:p>
            <a:endParaRPr sz="320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578ED3FF-BA30-4078-8DAC-4757327C0D3B}"/>
              </a:ext>
            </a:extLst>
          </p:cNvPr>
          <p:cNvSpPr>
            <a:spLocks noGrp="1"/>
          </p:cNvSpPr>
          <p:nvPr/>
        </p:nvSpPr>
        <p:spPr>
          <a:xfrm>
            <a:off x="3861893" y="2934893"/>
            <a:ext cx="1047751" cy="1841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ts val="1347"/>
              </a:lnSpc>
              <a:buNone/>
            </a:pPr>
            <a:r>
              <a:rPr sz="10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02</a:t>
            </a:r>
            <a:endParaRPr sz="1000">
              <a:solidFill>
                <a:srgbClr val="47433B"/>
              </a:solidFill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C8001F93-5F38-4D13-9F2E-5F9D88AB845C}"/>
              </a:ext>
            </a:extLst>
          </p:cNvPr>
          <p:cNvSpPr>
            <a:spLocks noGrp="1"/>
          </p:cNvSpPr>
          <p:nvPr/>
        </p:nvSpPr>
        <p:spPr>
          <a:xfrm>
            <a:off x="9212661" y="2863734"/>
            <a:ext cx="1507705" cy="304167"/>
          </a:xfrm>
          <a:prstGeom prst="roundRect">
            <a:avLst>
              <a:gd name="adj" fmla="val 284093"/>
            </a:avLst>
          </a:prstGeom>
          <a:solidFill>
            <a:srgbClr val="F0ECE4"/>
          </a:solidFill>
          <a:ln w="5344">
            <a:solidFill>
              <a:srgbClr val="CFC5B4"/>
            </a:solidFill>
            <a:prstDash val="solid"/>
          </a:ln>
        </p:spPr>
        <p:txBody>
          <a:bodyPr/>
          <a:lstStyle/>
          <a:p>
            <a:endParaRPr sz="320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4CE7C964-E512-4CC8-9D24-A939E1619082}"/>
              </a:ext>
            </a:extLst>
          </p:cNvPr>
          <p:cNvSpPr>
            <a:spLocks noGrp="1"/>
          </p:cNvSpPr>
          <p:nvPr/>
        </p:nvSpPr>
        <p:spPr>
          <a:xfrm>
            <a:off x="9442649" y="2934893"/>
            <a:ext cx="1047751" cy="1841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ts val="1347"/>
              </a:lnSpc>
              <a:buNone/>
            </a:pPr>
            <a:r>
              <a:rPr sz="10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04</a:t>
            </a:r>
            <a:endParaRPr sz="1000">
              <a:solidFill>
                <a:srgbClr val="47433B"/>
              </a:solidFill>
            </a:endParaRPr>
          </a:p>
        </p:txBody>
      </p:sp>
      <p:pic>
        <p:nvPicPr>
          <p:cNvPr id="48" name="Image 0"/>
          <p:cNvPicPr>
            <a:picLocks noChangeAspect="1"/>
          </p:cNvPicPr>
          <p:nvPr/>
        </p:nvPicPr>
        <p:blipFill>
          <a:blip r:embed="rId3"/>
          <a:srcRect r="-1"/>
          <a:stretch/>
        </p:blipFill>
        <p:spPr>
          <a:xfrm>
            <a:off x="10750551" y="400051"/>
            <a:ext cx="867792" cy="183659"/>
          </a:xfrm>
          <a:prstGeom prst="rect">
            <a:avLst/>
          </a:prstGeom>
        </p:spPr>
      </p:pic>
      <p:sp>
        <p:nvSpPr>
          <p:cNvPr id="26" name="Text 6">
            <a:extLst>
              <a:ext uri="{FF2B5EF4-FFF2-40B4-BE49-F238E27FC236}">
                <a16:creationId xmlns:a16="http://schemas.microsoft.com/office/drawing/2014/main" id="{E4147A36-84F9-9A48-E740-F72DB148EB59}"/>
              </a:ext>
            </a:extLst>
          </p:cNvPr>
          <p:cNvSpPr>
            <a:spLocks noGrp="1"/>
          </p:cNvSpPr>
          <p:nvPr/>
        </p:nvSpPr>
        <p:spPr>
          <a:xfrm>
            <a:off x="571500" y="583709"/>
            <a:ext cx="5850781" cy="11139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2945"/>
              </a:lnSpc>
              <a:buNone/>
            </a:pPr>
            <a:r>
              <a:rPr sz="2700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Del </a:t>
            </a:r>
            <a:r>
              <a:rPr sz="2700" dirty="0" err="1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contexto</a:t>
            </a:r>
            <a:r>
              <a:rPr sz="2700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al harness</a:t>
            </a:r>
            <a:endParaRPr sz="2700" dirty="0"/>
          </a:p>
        </p:txBody>
      </p:sp>
    </p:spTree>
    <p:extLst>
      <p:ext uri="{BB962C8B-B14F-4D97-AF65-F5344CB8AC3E}">
        <p14:creationId xmlns:p14="http://schemas.microsoft.com/office/powerpoint/2010/main" val="3134562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92AC5CF-C7A6-4C8E-815A-5CE577DECDF7}"/>
              </a:ext>
            </a:extLst>
          </p:cNvPr>
          <p:cNvSpPr>
            <a:spLocks noGrp="1"/>
          </p:cNvSpPr>
          <p:nvPr/>
        </p:nvSpPr>
        <p:spPr>
          <a:xfrm>
            <a:off x="571500" y="2609851"/>
            <a:ext cx="11049000" cy="3750509"/>
          </a:xfrm>
          <a:prstGeom prst="roundRect">
            <a:avLst>
              <a:gd name="adj" fmla="val 4120"/>
            </a:avLst>
          </a:prstGeom>
          <a:solidFill>
            <a:srgbClr val="F7F4ED"/>
          </a:solidFill>
        </p:spPr>
        <p:txBody>
          <a:bodyPr/>
          <a:lstStyle/>
          <a:p>
            <a:endParaRPr sz="3200"/>
          </a:p>
        </p:txBody>
      </p:sp>
      <p:pic>
        <p:nvPicPr>
          <p:cNvPr id="18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809580" y="2609851"/>
            <a:ext cx="6810921" cy="3750509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D9A96468-5750-4BA2-B3FB-5A7D3C105B3F}"/>
              </a:ext>
            </a:extLst>
          </p:cNvPr>
          <p:cNvSpPr>
            <a:spLocks noGrp="1"/>
          </p:cNvSpPr>
          <p:nvPr/>
        </p:nvSpPr>
        <p:spPr>
          <a:xfrm>
            <a:off x="1134072" y="3037409"/>
            <a:ext cx="3300437" cy="3915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683"/>
              </a:lnSpc>
              <a:buNone/>
            </a:pPr>
            <a:r>
              <a:rPr sz="14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Demo: una card de Trello atraviesa el harness</a:t>
            </a: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1A867E8A-4B3E-4AD9-8FB3-3F13DA11BA8D}"/>
              </a:ext>
            </a:extLst>
          </p:cNvPr>
          <p:cNvSpPr>
            <a:spLocks noGrp="1"/>
          </p:cNvSpPr>
          <p:nvPr/>
        </p:nvSpPr>
        <p:spPr>
          <a:xfrm>
            <a:off x="1104057" y="3735003"/>
            <a:ext cx="3300437" cy="199527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347"/>
              </a:lnSpc>
              <a:buNone/>
            </a:pP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Generamos un AGENTS.md con el proceso; una card del backlog pasa por Refinamiento → Plan (gate humano) → Implementación con TDD → Testing → Aprobación (gate humano) → Cierre: rama, commit y card en Done.</a:t>
            </a:r>
          </a:p>
        </p:txBody>
      </p:sp>
      <p:pic>
        <p:nvPicPr>
          <p:cNvPr id="21" name="Image 1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0750551" y="400051"/>
            <a:ext cx="867792" cy="183659"/>
          </a:xfrm>
          <a:prstGeom prst="rect">
            <a:avLst/>
          </a:prstGeom>
        </p:spPr>
      </p:pic>
      <p:sp>
        <p:nvSpPr>
          <p:cNvPr id="13" name="Text 5">
            <a:extLst>
              <a:ext uri="{FF2B5EF4-FFF2-40B4-BE49-F238E27FC236}">
                <a16:creationId xmlns:a16="http://schemas.microsoft.com/office/drawing/2014/main" id="{7B054CF0-DA6C-E9F2-686C-8A05D43EBBFC}"/>
              </a:ext>
            </a:extLst>
          </p:cNvPr>
          <p:cNvSpPr>
            <a:spLocks noGrp="1"/>
          </p:cNvSpPr>
          <p:nvPr/>
        </p:nvSpPr>
        <p:spPr>
          <a:xfrm>
            <a:off x="577851" y="1505961"/>
            <a:ext cx="4908549" cy="4254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El agente recibe el objetivo; el harness define cómo alcanzarlo: etapas, reglas y validación humana.</a:t>
            </a:r>
            <a:endParaRPr sz="1400" dirty="0">
              <a:latin typeface="Tahoma"/>
              <a:ea typeface="Tahoma"/>
              <a:cs typeface="Tahoma"/>
            </a:endParaRPr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BF4E0E03-1D82-C320-5492-7AAF451E8AD6}"/>
              </a:ext>
            </a:extLst>
          </p:cNvPr>
          <p:cNvSpPr>
            <a:spLocks noGrp="1"/>
          </p:cNvSpPr>
          <p:nvPr/>
        </p:nvSpPr>
        <p:spPr>
          <a:xfrm>
            <a:off x="571501" y="583709"/>
            <a:ext cx="4991100" cy="7775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2981"/>
              </a:lnSpc>
              <a:buNone/>
            </a:pPr>
            <a:r>
              <a:rPr sz="2700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El harness convierte un pedido en un proceso</a:t>
            </a:r>
            <a:endParaRPr sz="2700" dirty="0"/>
          </a:p>
        </p:txBody>
      </p:sp>
    </p:spTree>
    <p:extLst>
      <p:ext uri="{BB962C8B-B14F-4D97-AF65-F5344CB8AC3E}">
        <p14:creationId xmlns:p14="http://schemas.microsoft.com/office/powerpoint/2010/main" val="660938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0"/>
          <p:cNvPicPr>
            <a:picLocks noChangeAspect="1"/>
          </p:cNvPicPr>
          <p:nvPr/>
        </p:nvPicPr>
        <p:blipFill>
          <a:blip r:embed="rId3"/>
          <a:srcRect r="-1"/>
          <a:stretch/>
        </p:blipFill>
        <p:spPr>
          <a:xfrm>
            <a:off x="10750551" y="400051"/>
            <a:ext cx="867792" cy="183659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09933BA6-B705-4165-852D-745A1D9E0C78}"/>
              </a:ext>
            </a:extLst>
          </p:cNvPr>
          <p:cNvSpPr>
            <a:spLocks noGrp="1"/>
          </p:cNvSpPr>
          <p:nvPr/>
        </p:nvSpPr>
        <p:spPr>
          <a:xfrm>
            <a:off x="1066800" y="2146301"/>
            <a:ext cx="5340349" cy="20637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7360"/>
              </a:lnSpc>
              <a:buNone/>
            </a:pPr>
            <a:r>
              <a:rPr sz="8000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Loop</a:t>
            </a:r>
            <a:endParaRPr sz="8000" dirty="0"/>
          </a:p>
          <a:p>
            <a:pPr>
              <a:lnSpc>
                <a:spcPts val="7360"/>
              </a:lnSpc>
              <a:buNone/>
            </a:pPr>
            <a:r>
              <a:rPr sz="8000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engineering</a:t>
            </a:r>
            <a:endParaRPr sz="80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219B78BC-08CA-4A85-95D8-D158707E9EC1}"/>
              </a:ext>
            </a:extLst>
          </p:cNvPr>
          <p:cNvSpPr>
            <a:spLocks noGrp="1"/>
          </p:cNvSpPr>
          <p:nvPr/>
        </p:nvSpPr>
        <p:spPr>
          <a:xfrm>
            <a:off x="1066800" y="4503066"/>
            <a:ext cx="5340413" cy="67449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2196"/>
              </a:lnSpc>
              <a:buNone/>
            </a:pPr>
            <a:r>
              <a:rPr sz="20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El </a:t>
            </a:r>
            <a:r>
              <a:rPr sz="20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agente</a:t>
            </a:r>
            <a:r>
              <a:rPr sz="20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20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deja</a:t>
            </a:r>
            <a:r>
              <a:rPr sz="20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de </a:t>
            </a:r>
            <a:r>
              <a:rPr sz="20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esperar</a:t>
            </a:r>
            <a:r>
              <a:rPr sz="20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20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cada</a:t>
            </a:r>
            <a:r>
              <a:rPr sz="20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20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instrucción</a:t>
            </a:r>
            <a:r>
              <a:rPr sz="20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y </a:t>
            </a:r>
            <a:r>
              <a:rPr sz="20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comienza</a:t>
            </a:r>
            <a:r>
              <a:rPr sz="20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a </a:t>
            </a:r>
            <a:r>
              <a:rPr sz="20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conducir</a:t>
            </a:r>
            <a:r>
              <a:rPr sz="20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20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iteraciones</a:t>
            </a:r>
            <a:r>
              <a:rPr sz="20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.</a:t>
            </a:r>
            <a:endParaRPr sz="20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8128170E-DD67-45D2-8ABE-8CFD167D0985}"/>
              </a:ext>
            </a:extLst>
          </p:cNvPr>
          <p:cNvSpPr>
            <a:spLocks noGrp="1"/>
          </p:cNvSpPr>
          <p:nvPr/>
        </p:nvSpPr>
        <p:spPr>
          <a:xfrm>
            <a:off x="1066800" y="5963147"/>
            <a:ext cx="2563368" cy="2777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2196"/>
              </a:lnSpc>
              <a:buNone/>
            </a:pP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Demo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en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vivo ·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Trello +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GitHub Issues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/Cards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+ TDD</a:t>
            </a:r>
            <a:endParaRPr sz="1400" dirty="0">
              <a:latin typeface="Tahoma"/>
              <a:ea typeface="Tahoma"/>
              <a:cs typeface="Tahoma"/>
            </a:endParaRPr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7BE845C0-FD96-4D73-B33E-55CD74FD49FC}"/>
              </a:ext>
            </a:extLst>
          </p:cNvPr>
          <p:cNvSpPr>
            <a:spLocks noGrp="1"/>
          </p:cNvSpPr>
          <p:nvPr/>
        </p:nvSpPr>
        <p:spPr>
          <a:xfrm>
            <a:off x="1066800" y="5709220"/>
            <a:ext cx="11125200" cy="0"/>
          </a:xfrm>
          <a:prstGeom prst="line">
            <a:avLst/>
          </a:prstGeom>
          <a:noFill/>
          <a:ln w="5654">
            <a:solidFill>
              <a:srgbClr val="B2A894"/>
            </a:solidFill>
            <a:prstDash val="solid"/>
          </a:ln>
        </p:spPr>
        <p:txBody>
          <a:bodyPr/>
          <a:lstStyle/>
          <a:p>
            <a:endParaRPr sz="3200"/>
          </a:p>
        </p:txBody>
      </p:sp>
    </p:spTree>
    <p:extLst>
      <p:ext uri="{BB962C8B-B14F-4D97-AF65-F5344CB8AC3E}">
        <p14:creationId xmlns:p14="http://schemas.microsoft.com/office/powerpoint/2010/main" val="2156899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CAE2619C-630D-451A-A05E-00E25A4D286B}"/>
              </a:ext>
            </a:extLst>
          </p:cNvPr>
          <p:cNvSpPr>
            <a:spLocks noGrp="1"/>
          </p:cNvSpPr>
          <p:nvPr/>
        </p:nvSpPr>
        <p:spPr>
          <a:xfrm>
            <a:off x="1170361" y="4152744"/>
            <a:ext cx="1435100" cy="2730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657"/>
              </a:lnSpc>
              <a:buNone/>
            </a:pPr>
            <a:r>
              <a:rPr sz="14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Tomar tarea</a:t>
            </a:r>
            <a:endParaRPr sz="1400" dirty="0">
              <a:solidFill>
                <a:srgbClr val="47433B"/>
              </a:solidFill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B7D3AFB-A07F-44DB-92EC-A3934E340E91}"/>
              </a:ext>
            </a:extLst>
          </p:cNvPr>
          <p:cNvSpPr>
            <a:spLocks noGrp="1"/>
          </p:cNvSpPr>
          <p:nvPr/>
        </p:nvSpPr>
        <p:spPr>
          <a:xfrm>
            <a:off x="3947815" y="3681034"/>
            <a:ext cx="1048924" cy="27331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657"/>
              </a:lnSpc>
              <a:buNone/>
            </a:pPr>
            <a:r>
              <a:rPr sz="14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Resolver</a:t>
            </a:r>
            <a:endParaRPr sz="1400">
              <a:solidFill>
                <a:srgbClr val="47433B"/>
              </a:solidFill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E1F0B27-536D-480E-B124-C4554D1AFF48}"/>
              </a:ext>
            </a:extLst>
          </p:cNvPr>
          <p:cNvSpPr>
            <a:spLocks noGrp="1"/>
          </p:cNvSpPr>
          <p:nvPr/>
        </p:nvSpPr>
        <p:spPr>
          <a:xfrm>
            <a:off x="9502677" y="3957406"/>
            <a:ext cx="1494791" cy="27331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657"/>
              </a:lnSpc>
              <a:buNone/>
            </a:pPr>
            <a:r>
              <a:rPr lang="en-US" sz="14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Revisión humana</a:t>
            </a:r>
            <a:endParaRPr sz="1400" dirty="0">
              <a:solidFill>
                <a:srgbClr val="47433B"/>
              </a:solidFill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D0A3160-89B0-4F91-910D-EA75F00E78BA}"/>
              </a:ext>
            </a:extLst>
          </p:cNvPr>
          <p:cNvSpPr>
            <a:spLocks noGrp="1"/>
          </p:cNvSpPr>
          <p:nvPr/>
        </p:nvSpPr>
        <p:spPr>
          <a:xfrm>
            <a:off x="6725246" y="3511137"/>
            <a:ext cx="1380368" cy="22979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657"/>
              </a:lnSpc>
              <a:buNone/>
            </a:pPr>
            <a:r>
              <a:rPr sz="14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Validar</a:t>
            </a:r>
            <a:endParaRPr sz="1400" dirty="0">
              <a:solidFill>
                <a:srgbClr val="47433B"/>
              </a:solidFill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66F075BD-BABE-4E02-9376-EBBBD4FCD514}"/>
              </a:ext>
            </a:extLst>
          </p:cNvPr>
          <p:cNvSpPr>
            <a:spLocks noGrp="1"/>
          </p:cNvSpPr>
          <p:nvPr/>
        </p:nvSpPr>
        <p:spPr>
          <a:xfrm>
            <a:off x="-2870200" y="5082865"/>
            <a:ext cx="18865851" cy="7564068"/>
          </a:xfrm>
          <a:prstGeom prst="ellipse">
            <a:avLst/>
          </a:prstGeom>
          <a:noFill/>
          <a:ln w="5263">
            <a:solidFill>
              <a:srgbClr val="CFC5B4"/>
            </a:solidFill>
            <a:prstDash val="solid"/>
          </a:ln>
        </p:spPr>
        <p:txBody>
          <a:bodyPr/>
          <a:lstStyle/>
          <a:p>
            <a:endParaRPr sz="320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FE742105-D00F-47E9-AFB2-805B763190AD}"/>
              </a:ext>
            </a:extLst>
          </p:cNvPr>
          <p:cNvSpPr>
            <a:spLocks noGrp="1"/>
          </p:cNvSpPr>
          <p:nvPr/>
        </p:nvSpPr>
        <p:spPr>
          <a:xfrm>
            <a:off x="1170360" y="5651645"/>
            <a:ext cx="169896" cy="169896"/>
          </a:xfrm>
          <a:prstGeom prst="ellipse">
            <a:avLst/>
          </a:prstGeom>
          <a:solidFill>
            <a:srgbClr val="CFC5B4"/>
          </a:solidFill>
        </p:spPr>
        <p:txBody>
          <a:bodyPr/>
          <a:lstStyle/>
          <a:p>
            <a:endParaRPr sz="320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A7E938A6-2BBC-4E9D-82E0-C3D4FA990701}"/>
              </a:ext>
            </a:extLst>
          </p:cNvPr>
          <p:cNvSpPr>
            <a:spLocks noGrp="1"/>
          </p:cNvSpPr>
          <p:nvPr/>
        </p:nvSpPr>
        <p:spPr>
          <a:xfrm>
            <a:off x="3947815" y="5134571"/>
            <a:ext cx="169896" cy="169896"/>
          </a:xfrm>
          <a:prstGeom prst="ellipse">
            <a:avLst/>
          </a:prstGeom>
          <a:solidFill>
            <a:srgbClr val="CFC5B4"/>
          </a:solidFill>
        </p:spPr>
        <p:txBody>
          <a:bodyPr/>
          <a:lstStyle/>
          <a:p>
            <a:endParaRPr sz="320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6930ECA9-0653-4E69-876E-28F7ED95766E}"/>
              </a:ext>
            </a:extLst>
          </p:cNvPr>
          <p:cNvSpPr>
            <a:spLocks noGrp="1"/>
          </p:cNvSpPr>
          <p:nvPr/>
        </p:nvSpPr>
        <p:spPr>
          <a:xfrm>
            <a:off x="9443567" y="5193664"/>
            <a:ext cx="169896" cy="169896"/>
          </a:xfrm>
          <a:prstGeom prst="ellipse">
            <a:avLst/>
          </a:prstGeom>
          <a:solidFill>
            <a:srgbClr val="CFC5B4"/>
          </a:solidFill>
        </p:spPr>
        <p:txBody>
          <a:bodyPr/>
          <a:lstStyle/>
          <a:p>
            <a:endParaRPr sz="320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3686E455-AFF1-4B1C-BE6E-BAE11911778A}"/>
              </a:ext>
            </a:extLst>
          </p:cNvPr>
          <p:cNvSpPr>
            <a:spLocks noGrp="1"/>
          </p:cNvSpPr>
          <p:nvPr/>
        </p:nvSpPr>
        <p:spPr>
          <a:xfrm>
            <a:off x="6695679" y="4994223"/>
            <a:ext cx="169896" cy="169896"/>
          </a:xfrm>
          <a:prstGeom prst="ellipse">
            <a:avLst/>
          </a:prstGeom>
          <a:solidFill>
            <a:srgbClr val="CFC5B4"/>
          </a:solidFill>
        </p:spPr>
        <p:txBody>
          <a:bodyPr/>
          <a:lstStyle/>
          <a:p>
            <a:endParaRPr sz="320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E6FE50E1-1007-450E-AA97-6818A5855FAF}"/>
              </a:ext>
            </a:extLst>
          </p:cNvPr>
          <p:cNvSpPr>
            <a:spLocks noGrp="1"/>
          </p:cNvSpPr>
          <p:nvPr/>
        </p:nvSpPr>
        <p:spPr>
          <a:xfrm>
            <a:off x="1168400" y="3794565"/>
            <a:ext cx="2031365" cy="43486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327"/>
              </a:lnSpc>
              <a:buNone/>
            </a:pPr>
            <a:r>
              <a:rPr sz="5000">
                <a:solidFill>
                  <a:srgbClr val="E0DACE">
                    <a:alpha val="99000"/>
                  </a:srgbClr>
                </a:solidFill>
                <a:latin typeface="Tahoma"/>
                <a:ea typeface="Tahoma"/>
                <a:cs typeface="Tahoma"/>
              </a:rPr>
              <a:t>1.</a:t>
            </a:r>
            <a:endParaRPr sz="500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45576C27-AFE0-4C3D-8B57-B0B9CFCE73AE}"/>
              </a:ext>
            </a:extLst>
          </p:cNvPr>
          <p:cNvSpPr>
            <a:spLocks noGrp="1"/>
          </p:cNvSpPr>
          <p:nvPr/>
        </p:nvSpPr>
        <p:spPr>
          <a:xfrm>
            <a:off x="3945855" y="3349985"/>
            <a:ext cx="2031365" cy="40946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327"/>
              </a:lnSpc>
              <a:buNone/>
            </a:pPr>
            <a:r>
              <a:rPr sz="5000">
                <a:solidFill>
                  <a:srgbClr val="E0DACE">
                    <a:alpha val="99000"/>
                  </a:srgbClr>
                </a:solidFill>
                <a:latin typeface="Tahoma"/>
                <a:ea typeface="Tahoma"/>
                <a:cs typeface="Tahoma"/>
              </a:rPr>
              <a:t>2.</a:t>
            </a:r>
            <a:endParaRPr sz="500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9D5811BB-529A-4606-9BF1-DF779B98C62E}"/>
              </a:ext>
            </a:extLst>
          </p:cNvPr>
          <p:cNvSpPr>
            <a:spLocks noGrp="1"/>
          </p:cNvSpPr>
          <p:nvPr/>
        </p:nvSpPr>
        <p:spPr>
          <a:xfrm>
            <a:off x="9512837" y="3601786"/>
            <a:ext cx="1494791" cy="3987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327"/>
              </a:lnSpc>
              <a:buNone/>
            </a:pPr>
            <a:r>
              <a:rPr sz="5000" dirty="0">
                <a:solidFill>
                  <a:srgbClr val="E0DACE">
                    <a:alpha val="99000"/>
                  </a:srgbClr>
                </a:solidFill>
                <a:latin typeface="Tahoma"/>
                <a:ea typeface="Tahoma"/>
                <a:cs typeface="Tahoma"/>
              </a:rPr>
              <a:t>4.</a:t>
            </a:r>
            <a:endParaRPr sz="500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87A629EA-3B81-4080-8352-6988BE56898E}"/>
              </a:ext>
            </a:extLst>
          </p:cNvPr>
          <p:cNvSpPr>
            <a:spLocks noGrp="1"/>
          </p:cNvSpPr>
          <p:nvPr/>
        </p:nvSpPr>
        <p:spPr>
          <a:xfrm>
            <a:off x="6710006" y="3158215"/>
            <a:ext cx="2046605" cy="42470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327"/>
              </a:lnSpc>
              <a:buNone/>
            </a:pPr>
            <a:r>
              <a:rPr sz="50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3.</a:t>
            </a:r>
            <a:endParaRPr sz="500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1CADD991-17DC-45C5-8A83-0CBEFC47F1DC}"/>
              </a:ext>
            </a:extLst>
          </p:cNvPr>
          <p:cNvSpPr>
            <a:spLocks noGrp="1"/>
          </p:cNvSpPr>
          <p:nvPr/>
        </p:nvSpPr>
        <p:spPr>
          <a:xfrm>
            <a:off x="1170360" y="4407583"/>
            <a:ext cx="2029405" cy="98697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327"/>
              </a:lnSpc>
              <a:buNone/>
            </a:pPr>
            <a:r>
              <a:rPr sz="11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Toma el siguiente ítem pendiente: alcance, criterios de aceptación y dependencias.</a:t>
            </a:r>
            <a:endParaRPr sz="1100">
              <a:solidFill>
                <a:srgbClr val="47433B"/>
              </a:solidFill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1625ED74-5E2B-491B-B296-FC4A758861A1}"/>
              </a:ext>
            </a:extLst>
          </p:cNvPr>
          <p:cNvSpPr>
            <a:spLocks noGrp="1"/>
          </p:cNvSpPr>
          <p:nvPr/>
        </p:nvSpPr>
        <p:spPr>
          <a:xfrm>
            <a:off x="3947815" y="3934828"/>
            <a:ext cx="2046603" cy="92334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327"/>
              </a:lnSpc>
              <a:buNone/>
            </a:pP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Implementa el cambio acotado a ese ítem, guiado por los criterios.</a:t>
            </a:r>
            <a:endParaRPr sz="1100" dirty="0">
              <a:solidFill>
                <a:srgbClr val="47433B"/>
              </a:solidFill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AD583677-E6E3-4734-A703-3CBA2C8D2883}"/>
              </a:ext>
            </a:extLst>
          </p:cNvPr>
          <p:cNvSpPr>
            <a:spLocks noGrp="1"/>
          </p:cNvSpPr>
          <p:nvPr/>
        </p:nvSpPr>
        <p:spPr>
          <a:xfrm>
            <a:off x="9502676" y="4211201"/>
            <a:ext cx="2029405" cy="92334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327"/>
              </a:lnSpc>
              <a:buNone/>
            </a:pP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Entrega el resultado para revisión y pasa al siguiente sin esperar.</a:t>
            </a:r>
            <a:endParaRPr sz="1100" dirty="0">
              <a:solidFill>
                <a:srgbClr val="47433B"/>
              </a:solidFill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2A25FB5A-F885-4923-ABCF-693191B878BA}"/>
              </a:ext>
            </a:extLst>
          </p:cNvPr>
          <p:cNvSpPr>
            <a:spLocks noGrp="1"/>
          </p:cNvSpPr>
          <p:nvPr/>
        </p:nvSpPr>
        <p:spPr>
          <a:xfrm>
            <a:off x="6725245" y="3764933"/>
            <a:ext cx="2046605" cy="92334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327"/>
              </a:lnSpc>
              <a:buNone/>
            </a:pP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Chequeos automáticos en verde; si no se puede avanzar, lo marca y sigue.</a:t>
            </a:r>
            <a:endParaRPr sz="1100" dirty="0">
              <a:solidFill>
                <a:srgbClr val="47433B"/>
              </a:solidFill>
            </a:endParaRPr>
          </a:p>
        </p:txBody>
      </p:sp>
      <p:pic>
        <p:nvPicPr>
          <p:cNvPr id="43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750551" y="400051"/>
            <a:ext cx="867792" cy="183659"/>
          </a:xfrm>
          <a:prstGeom prst="rect">
            <a:avLst/>
          </a:prstGeom>
        </p:spPr>
      </p:pic>
      <p:sp>
        <p:nvSpPr>
          <p:cNvPr id="24" name="Text 6">
            <a:extLst>
              <a:ext uri="{FF2B5EF4-FFF2-40B4-BE49-F238E27FC236}">
                <a16:creationId xmlns:a16="http://schemas.microsoft.com/office/drawing/2014/main" id="{3D887A09-7BC4-5A94-C717-41B5CAD510B9}"/>
              </a:ext>
            </a:extLst>
          </p:cNvPr>
          <p:cNvSpPr>
            <a:spLocks noGrp="1"/>
          </p:cNvSpPr>
          <p:nvPr/>
        </p:nvSpPr>
        <p:spPr>
          <a:xfrm>
            <a:off x="571501" y="583709"/>
            <a:ext cx="4991100" cy="508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4013"/>
              </a:lnSpc>
              <a:buNone/>
            </a:pPr>
            <a:r>
              <a:rPr sz="27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El loop busca una salida</a:t>
            </a:r>
            <a:endParaRPr sz="2700"/>
          </a:p>
        </p:txBody>
      </p:sp>
      <p:sp>
        <p:nvSpPr>
          <p:cNvPr id="3" name="Text 5">
            <a:extLst>
              <a:ext uri="{FF2B5EF4-FFF2-40B4-BE49-F238E27FC236}">
                <a16:creationId xmlns:a16="http://schemas.microsoft.com/office/drawing/2014/main" id="{026DEF75-5C73-24A2-7812-BA47514A886E}"/>
              </a:ext>
            </a:extLst>
          </p:cNvPr>
          <p:cNvSpPr>
            <a:spLocks noGrp="1"/>
          </p:cNvSpPr>
          <p:nvPr/>
        </p:nvSpPr>
        <p:spPr>
          <a:xfrm>
            <a:off x="577851" y="1192437"/>
            <a:ext cx="4856594" cy="4254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40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Cada ciclo toma trabajo, lo resuelve, lo valida y lo entrega para revisión; sale cuando no queda nada pendiente.</a:t>
            </a:r>
            <a:endParaRPr sz="1400">
              <a:latin typeface="Tahoma"/>
              <a:ea typeface="Tahom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16042719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750551" y="400051"/>
            <a:ext cx="867792" cy="183659"/>
          </a:xfrm>
          <a:prstGeom prst="rect">
            <a:avLst/>
          </a:prstGeom>
        </p:spPr>
      </p:pic>
      <p:sp>
        <p:nvSpPr>
          <p:cNvPr id="3" name="Shape 0">
            <a:extLst>
              <a:ext uri="{FF2B5EF4-FFF2-40B4-BE49-F238E27FC236}">
                <a16:creationId xmlns:a16="http://schemas.microsoft.com/office/drawing/2014/main" id="{E4B29154-BBB5-4287-7F3D-0EAC66DC20B1}"/>
              </a:ext>
            </a:extLst>
          </p:cNvPr>
          <p:cNvSpPr>
            <a:spLocks noGrp="1"/>
          </p:cNvSpPr>
          <p:nvPr/>
        </p:nvSpPr>
        <p:spPr>
          <a:xfrm>
            <a:off x="0" y="-38099"/>
            <a:ext cx="12192000" cy="6896100"/>
          </a:xfrm>
          <a:prstGeom prst="rect">
            <a:avLst/>
          </a:prstGeom>
          <a:solidFill>
            <a:srgbClr val="FCF9F3"/>
          </a:solidFill>
        </p:spPr>
        <p:txBody>
          <a:bodyPr/>
          <a:lstStyle/>
          <a:p>
            <a:endParaRPr sz="3200"/>
          </a:p>
        </p:txBody>
      </p:sp>
      <p:sp>
        <p:nvSpPr>
          <p:cNvPr id="19" name="Text 2">
            <a:extLst>
              <a:ext uri="{FF2B5EF4-FFF2-40B4-BE49-F238E27FC236}">
                <a16:creationId xmlns:a16="http://schemas.microsoft.com/office/drawing/2014/main" id="{50CE0D60-4F48-1455-73C9-C6D8C34B932C}"/>
              </a:ext>
            </a:extLst>
          </p:cNvPr>
          <p:cNvSpPr>
            <a:spLocks noGrp="1"/>
          </p:cNvSpPr>
          <p:nvPr/>
        </p:nvSpPr>
        <p:spPr>
          <a:xfrm>
            <a:off x="1066800" y="5963147"/>
            <a:ext cx="2312504" cy="2777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2196"/>
              </a:lnSpc>
              <a:buNone/>
            </a:pPr>
            <a:r>
              <a:rPr sz="140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Demo en vivo · agentes especializados + reviews</a:t>
            </a:r>
            <a:endParaRPr sz="1400">
              <a:latin typeface="Tahoma"/>
              <a:ea typeface="Tahoma"/>
              <a:cs typeface="Tahoma"/>
            </a:endParaRPr>
          </a:p>
        </p:txBody>
      </p:sp>
      <p:sp>
        <p:nvSpPr>
          <p:cNvPr id="20" name="Text 0">
            <a:extLst>
              <a:ext uri="{FF2B5EF4-FFF2-40B4-BE49-F238E27FC236}">
                <a16:creationId xmlns:a16="http://schemas.microsoft.com/office/drawing/2014/main" id="{345A19E2-07A7-8D6D-CCAE-9E3B8CEA8C67}"/>
              </a:ext>
            </a:extLst>
          </p:cNvPr>
          <p:cNvSpPr>
            <a:spLocks noGrp="1"/>
          </p:cNvSpPr>
          <p:nvPr/>
        </p:nvSpPr>
        <p:spPr>
          <a:xfrm>
            <a:off x="1066800" y="2146301"/>
            <a:ext cx="5340349" cy="20637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7360"/>
              </a:lnSpc>
              <a:buNone/>
            </a:pPr>
            <a:r>
              <a:rPr sz="80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Graph</a:t>
            </a:r>
            <a:endParaRPr sz="8000"/>
          </a:p>
          <a:p>
            <a:pPr>
              <a:lnSpc>
                <a:spcPts val="7360"/>
              </a:lnSpc>
              <a:buNone/>
            </a:pPr>
            <a:r>
              <a:rPr sz="80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engineering</a:t>
            </a:r>
            <a:endParaRPr sz="8000"/>
          </a:p>
        </p:txBody>
      </p:sp>
      <p:sp>
        <p:nvSpPr>
          <p:cNvPr id="21" name="Text 1">
            <a:extLst>
              <a:ext uri="{FF2B5EF4-FFF2-40B4-BE49-F238E27FC236}">
                <a16:creationId xmlns:a16="http://schemas.microsoft.com/office/drawing/2014/main" id="{C5DEC0D9-AB00-7592-5B31-597F7F0B0672}"/>
              </a:ext>
            </a:extLst>
          </p:cNvPr>
          <p:cNvSpPr>
            <a:spLocks noGrp="1"/>
          </p:cNvSpPr>
          <p:nvPr/>
        </p:nvSpPr>
        <p:spPr>
          <a:xfrm>
            <a:off x="1066800" y="4503066"/>
            <a:ext cx="5340413" cy="67449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2196"/>
              </a:lnSpc>
              <a:buNone/>
            </a:pPr>
            <a:r>
              <a:rPr sz="200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El trabajo se modela como roles, dependencias y rutas de validación.</a:t>
            </a:r>
            <a:endParaRPr sz="2000"/>
          </a:p>
        </p:txBody>
      </p:sp>
      <p:pic>
        <p:nvPicPr>
          <p:cNvPr id="31" name="Image 0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1" r="321"/>
          <a:stretch/>
        </p:blipFill>
        <p:spPr>
          <a:xfrm>
            <a:off x="10750551" y="372671"/>
            <a:ext cx="867792" cy="183659"/>
          </a:xfrm>
          <a:prstGeom prst="rect">
            <a:avLst/>
          </a:prstGeom>
        </p:spPr>
      </p:pic>
      <p:sp>
        <p:nvSpPr>
          <p:cNvPr id="4" name="Shape 3">
            <a:extLst>
              <a:ext uri="{FF2B5EF4-FFF2-40B4-BE49-F238E27FC236}">
                <a16:creationId xmlns:a16="http://schemas.microsoft.com/office/drawing/2014/main" id="{C0584E61-612B-3CB0-73D9-D9B1338F3B45}"/>
              </a:ext>
            </a:extLst>
          </p:cNvPr>
          <p:cNvSpPr>
            <a:spLocks noGrp="1"/>
          </p:cNvSpPr>
          <p:nvPr/>
        </p:nvSpPr>
        <p:spPr>
          <a:xfrm>
            <a:off x="1066800" y="5709220"/>
            <a:ext cx="11125200" cy="0"/>
          </a:xfrm>
          <a:prstGeom prst="line">
            <a:avLst/>
          </a:prstGeom>
          <a:noFill/>
          <a:ln w="5654">
            <a:solidFill>
              <a:srgbClr val="B2A894"/>
            </a:solidFill>
            <a:prstDash val="solid"/>
          </a:ln>
        </p:spPr>
        <p:txBody>
          <a:bodyPr/>
          <a:lstStyle/>
          <a:p>
            <a:endParaRPr sz="3200"/>
          </a:p>
        </p:txBody>
      </p:sp>
    </p:spTree>
    <p:extLst>
      <p:ext uri="{BB962C8B-B14F-4D97-AF65-F5344CB8AC3E}">
        <p14:creationId xmlns:p14="http://schemas.microsoft.com/office/powerpoint/2010/main" val="37422152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5176C6F-477B-4436-A07B-4D0D8D04B465}"/>
              </a:ext>
            </a:extLst>
          </p:cNvPr>
          <p:cNvSpPr>
            <a:spLocks noGrp="1"/>
          </p:cNvSpPr>
          <p:nvPr/>
        </p:nvSpPr>
        <p:spPr>
          <a:xfrm>
            <a:off x="8965978" y="1136967"/>
            <a:ext cx="975597" cy="24975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lnSpc>
                <a:spcPts val="1752"/>
              </a:lnSpc>
              <a:buNone/>
            </a:pPr>
            <a:endParaRPr sz="1500">
              <a:solidFill>
                <a:srgbClr val="47433B"/>
              </a:solidFill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D95903E-3F0F-4C6C-A9A7-3DBAB0CFD5C2}"/>
              </a:ext>
            </a:extLst>
          </p:cNvPr>
          <p:cNvSpPr>
            <a:spLocks noGrp="1"/>
          </p:cNvSpPr>
          <p:nvPr/>
        </p:nvSpPr>
        <p:spPr>
          <a:xfrm>
            <a:off x="10300594" y="2817526"/>
            <a:ext cx="975597" cy="24975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lnSpc>
                <a:spcPts val="1752"/>
              </a:lnSpc>
              <a:buNone/>
            </a:pPr>
            <a:endParaRPr sz="1500">
              <a:solidFill>
                <a:srgbClr val="47433B"/>
              </a:solidFill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93AB292-D256-4F78-8ADF-255E202C7A60}"/>
              </a:ext>
            </a:extLst>
          </p:cNvPr>
          <p:cNvSpPr>
            <a:spLocks noGrp="1"/>
          </p:cNvSpPr>
          <p:nvPr/>
        </p:nvSpPr>
        <p:spPr>
          <a:xfrm>
            <a:off x="5104608" y="3769709"/>
            <a:ext cx="889745" cy="226339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lnSpc>
                <a:spcPts val="1752"/>
              </a:lnSpc>
              <a:buNone/>
            </a:pPr>
            <a:endParaRPr sz="15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1D3ED65-11E1-4D93-81E0-0C51D584B71E}"/>
              </a:ext>
            </a:extLst>
          </p:cNvPr>
          <p:cNvSpPr>
            <a:spLocks noGrp="1"/>
          </p:cNvSpPr>
          <p:nvPr/>
        </p:nvSpPr>
        <p:spPr>
          <a:xfrm>
            <a:off x="8240118" y="3106302"/>
            <a:ext cx="975597" cy="24975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lnSpc>
                <a:spcPts val="1752"/>
              </a:lnSpc>
              <a:buNone/>
            </a:pPr>
            <a:endParaRPr sz="1500">
              <a:solidFill>
                <a:srgbClr val="47433B"/>
              </a:solidFill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374CD285-985B-472B-AD42-B4D58A82D482}"/>
              </a:ext>
            </a:extLst>
          </p:cNvPr>
          <p:cNvSpPr>
            <a:spLocks noGrp="1"/>
          </p:cNvSpPr>
          <p:nvPr/>
        </p:nvSpPr>
        <p:spPr>
          <a:xfrm rot="-3816982">
            <a:off x="8963809" y="3794909"/>
            <a:ext cx="433896" cy="433896"/>
          </a:xfrm>
          <a:prstGeom prst="ellipse">
            <a:avLst/>
          </a:prstGeom>
          <a:noFill/>
          <a:ln w="0">
            <a:noFill/>
          </a:ln>
        </p:spPr>
        <p:txBody>
          <a:bodyPr/>
          <a:lstStyle/>
          <a:p>
            <a:endParaRPr sz="320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BDEF5C66-5838-4B73-AFDB-A32FF2E52D4A}"/>
              </a:ext>
            </a:extLst>
          </p:cNvPr>
          <p:cNvSpPr>
            <a:spLocks noGrp="1"/>
          </p:cNvSpPr>
          <p:nvPr/>
        </p:nvSpPr>
        <p:spPr>
          <a:xfrm rot="-3816982">
            <a:off x="7852596" y="2734496"/>
            <a:ext cx="2001921" cy="2001921"/>
          </a:xfrm>
          <a:prstGeom prst="ellipse">
            <a:avLst/>
          </a:prstGeom>
          <a:noFill/>
          <a:ln w="0">
            <a:noFill/>
          </a:ln>
        </p:spPr>
        <p:txBody>
          <a:bodyPr/>
          <a:lstStyle/>
          <a:p>
            <a:endParaRPr sz="320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D15A1749-7188-4F15-910B-89845FF93E9D}"/>
              </a:ext>
            </a:extLst>
          </p:cNvPr>
          <p:cNvSpPr>
            <a:spLocks noGrp="1"/>
          </p:cNvSpPr>
          <p:nvPr/>
        </p:nvSpPr>
        <p:spPr>
          <a:xfrm rot="-6011456">
            <a:off x="7179747" y="1467811"/>
            <a:ext cx="3556269" cy="4389101"/>
          </a:xfrm>
          <a:prstGeom prst="ellipse">
            <a:avLst/>
          </a:prstGeom>
          <a:noFill/>
          <a:ln w="0">
            <a:noFill/>
          </a:ln>
        </p:spPr>
        <p:txBody>
          <a:bodyPr/>
          <a:lstStyle/>
          <a:p>
            <a:endParaRPr sz="320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C5B7EE3B-EEE7-4A4C-BCB0-2D8538B31941}"/>
              </a:ext>
            </a:extLst>
          </p:cNvPr>
          <p:cNvSpPr>
            <a:spLocks noGrp="1"/>
          </p:cNvSpPr>
          <p:nvPr/>
        </p:nvSpPr>
        <p:spPr>
          <a:xfrm rot="-1767396">
            <a:off x="5567979" y="1275285"/>
            <a:ext cx="6438296" cy="4761727"/>
          </a:xfrm>
          <a:prstGeom prst="ellipse">
            <a:avLst/>
          </a:prstGeom>
          <a:noFill/>
          <a:ln w="0">
            <a:noFill/>
          </a:ln>
        </p:spPr>
        <p:txBody>
          <a:bodyPr/>
          <a:lstStyle/>
          <a:p>
            <a:endParaRPr sz="320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DCDA8F49-A952-42DC-B3A2-CD3BD1214521}"/>
              </a:ext>
            </a:extLst>
          </p:cNvPr>
          <p:cNvSpPr>
            <a:spLocks noGrp="1"/>
          </p:cNvSpPr>
          <p:nvPr/>
        </p:nvSpPr>
        <p:spPr>
          <a:xfrm rot="442014">
            <a:off x="7963606" y="3137606"/>
            <a:ext cx="117620" cy="117620"/>
          </a:xfrm>
          <a:prstGeom prst="ellipse">
            <a:avLst/>
          </a:prstGeom>
          <a:noFill/>
          <a:ln w="0">
            <a:noFill/>
          </a:ln>
        </p:spPr>
        <p:txBody>
          <a:bodyPr/>
          <a:lstStyle/>
          <a:p>
            <a:endParaRPr sz="320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1448C431-DE33-40FC-89A3-859669CD9046}"/>
              </a:ext>
            </a:extLst>
          </p:cNvPr>
          <p:cNvSpPr>
            <a:spLocks noGrp="1"/>
          </p:cNvSpPr>
          <p:nvPr/>
        </p:nvSpPr>
        <p:spPr>
          <a:xfrm rot="442014">
            <a:off x="10895492" y="2830992"/>
            <a:ext cx="193233" cy="193233"/>
          </a:xfrm>
          <a:prstGeom prst="ellipse">
            <a:avLst/>
          </a:prstGeom>
          <a:noFill/>
          <a:ln w="0">
            <a:noFill/>
          </a:ln>
        </p:spPr>
        <p:txBody>
          <a:bodyPr/>
          <a:lstStyle/>
          <a:p>
            <a:endParaRPr sz="320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F88D34F9-B787-4860-91F3-7487DF1AE66B}"/>
              </a:ext>
            </a:extLst>
          </p:cNvPr>
          <p:cNvSpPr>
            <a:spLocks noGrp="1"/>
          </p:cNvSpPr>
          <p:nvPr/>
        </p:nvSpPr>
        <p:spPr>
          <a:xfrm rot="442014">
            <a:off x="8550774" y="1028874"/>
            <a:ext cx="285648" cy="285648"/>
          </a:xfrm>
          <a:prstGeom prst="ellipse">
            <a:avLst/>
          </a:prstGeom>
          <a:noFill/>
          <a:ln w="0">
            <a:noFill/>
          </a:ln>
        </p:spPr>
        <p:txBody>
          <a:bodyPr/>
          <a:lstStyle/>
          <a:p>
            <a:endParaRPr sz="320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A902D374-7861-4AD0-BEC7-07BDF0F22A7A}"/>
              </a:ext>
            </a:extLst>
          </p:cNvPr>
          <p:cNvSpPr>
            <a:spLocks noGrp="1"/>
          </p:cNvSpPr>
          <p:nvPr/>
        </p:nvSpPr>
        <p:spPr>
          <a:xfrm rot="-2249">
            <a:off x="5104607" y="4024791"/>
            <a:ext cx="3931715" cy="0"/>
          </a:xfrm>
          <a:prstGeom prst="line">
            <a:avLst/>
          </a:prstGeom>
          <a:noFill/>
          <a:ln w="0">
            <a:noFill/>
          </a:ln>
        </p:spPr>
        <p:txBody>
          <a:bodyPr/>
          <a:lstStyle/>
          <a:p>
            <a:endParaRPr sz="320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4D428683-CE6B-4FF6-9B50-2F88D038E93C}"/>
              </a:ext>
            </a:extLst>
          </p:cNvPr>
          <p:cNvSpPr>
            <a:spLocks noGrp="1"/>
          </p:cNvSpPr>
          <p:nvPr/>
        </p:nvSpPr>
        <p:spPr>
          <a:xfrm>
            <a:off x="577851" y="3565661"/>
            <a:ext cx="3574589" cy="24385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752"/>
              </a:lnSpc>
              <a:buNone/>
            </a:pPr>
            <a:r>
              <a:rPr sz="14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Desarrollador</a:t>
            </a:r>
            <a:endParaRPr sz="1400">
              <a:solidFill>
                <a:srgbClr val="47433B"/>
              </a:solidFill>
            </a:endParaRP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7E4A15BF-8E03-4B00-8A00-64336E7749F0}"/>
              </a:ext>
            </a:extLst>
          </p:cNvPr>
          <p:cNvSpPr>
            <a:spLocks noGrp="1"/>
          </p:cNvSpPr>
          <p:nvPr/>
        </p:nvSpPr>
        <p:spPr>
          <a:xfrm>
            <a:off x="577851" y="4549064"/>
            <a:ext cx="3574589" cy="24385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752"/>
              </a:lnSpc>
              <a:buNone/>
            </a:pPr>
            <a:r>
              <a:rPr sz="14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Revisor y QA</a:t>
            </a:r>
            <a:endParaRPr sz="1400">
              <a:solidFill>
                <a:srgbClr val="47433B"/>
              </a:solidFill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55F5664B-21CD-4435-BB9F-DBC8D8F297BA}"/>
              </a:ext>
            </a:extLst>
          </p:cNvPr>
          <p:cNvSpPr>
            <a:spLocks noGrp="1"/>
          </p:cNvSpPr>
          <p:nvPr/>
        </p:nvSpPr>
        <p:spPr>
          <a:xfrm>
            <a:off x="572771" y="5571488"/>
            <a:ext cx="2029243" cy="24439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752"/>
              </a:lnSpc>
              <a:buNone/>
            </a:pPr>
            <a:endParaRPr sz="1333">
              <a:latin typeface="Tahoma"/>
              <a:ea typeface="Tahoma"/>
              <a:cs typeface="Tahoma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E42AE0F0-9833-413D-B8EE-F819061DA9B1}"/>
              </a:ext>
            </a:extLst>
          </p:cNvPr>
          <p:cNvSpPr>
            <a:spLocks noGrp="1"/>
          </p:cNvSpPr>
          <p:nvPr/>
        </p:nvSpPr>
        <p:spPr>
          <a:xfrm>
            <a:off x="577852" y="2867993"/>
            <a:ext cx="2653625" cy="42926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1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Prioriza y refina el trabajo pendiente; propone qué entra en el ciclo.</a:t>
            </a:r>
            <a:endParaRPr sz="1100">
              <a:solidFill>
                <a:srgbClr val="47433B"/>
              </a:solidFill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BD1FA153-8D04-422C-8FC5-0FAE0618101C}"/>
              </a:ext>
            </a:extLst>
          </p:cNvPr>
          <p:cNvSpPr>
            <a:spLocks noGrp="1"/>
          </p:cNvSpPr>
          <p:nvPr/>
        </p:nvSpPr>
        <p:spPr>
          <a:xfrm>
            <a:off x="577852" y="3812375"/>
            <a:ext cx="2653625" cy="42926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1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Implementa cada ítem con tests, dentro del alcance acordado.</a:t>
            </a:r>
            <a:endParaRPr sz="1100">
              <a:solidFill>
                <a:srgbClr val="47433B"/>
              </a:solidFill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4B1F6F66-D622-424F-8054-4ED345A97BB1}"/>
              </a:ext>
            </a:extLst>
          </p:cNvPr>
          <p:cNvSpPr>
            <a:spLocks noGrp="1"/>
          </p:cNvSpPr>
          <p:nvPr/>
        </p:nvSpPr>
        <p:spPr>
          <a:xfrm>
            <a:off x="577851" y="4795778"/>
            <a:ext cx="2708259" cy="36682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1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Revisan y validan en forma independiente; si algo falla, vuelve al desarrollador.</a:t>
            </a:r>
            <a:endParaRPr sz="1100">
              <a:solidFill>
                <a:srgbClr val="47433B"/>
              </a:solidFill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D6AE1586-E027-4F00-87F6-20602954983E}"/>
              </a:ext>
            </a:extLst>
          </p:cNvPr>
          <p:cNvSpPr>
            <a:spLocks noGrp="1"/>
          </p:cNvSpPr>
          <p:nvPr/>
        </p:nvSpPr>
        <p:spPr>
          <a:xfrm>
            <a:off x="577852" y="5785292"/>
            <a:ext cx="2653625" cy="42926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401"/>
              </a:lnSpc>
              <a:buNone/>
            </a:pPr>
            <a:r>
              <a:rPr sz="1100" dirty="0">
                <a:solidFill>
                  <a:srgbClr val="DD2C00"/>
                </a:solidFill>
                <a:latin typeface="Tahoma"/>
                <a:ea typeface="Tahoma"/>
                <a:cs typeface="Tahoma"/>
              </a:rPr>
              <a:t>Una persona </a:t>
            </a:r>
            <a:r>
              <a:rPr sz="1100" dirty="0" err="1">
                <a:solidFill>
                  <a:srgbClr val="DD2C00"/>
                </a:solidFill>
                <a:latin typeface="Tahoma"/>
                <a:ea typeface="Tahoma"/>
                <a:cs typeface="Tahoma"/>
              </a:rPr>
              <a:t>aprueba</a:t>
            </a:r>
            <a:r>
              <a:rPr sz="1100" dirty="0">
                <a:solidFill>
                  <a:srgbClr val="DD2C00"/>
                </a:solidFill>
                <a:latin typeface="Tahoma"/>
                <a:ea typeface="Tahoma"/>
                <a:cs typeface="Tahoma"/>
              </a:rPr>
              <a:t> el plan y la </a:t>
            </a:r>
            <a:r>
              <a:rPr sz="1100" dirty="0" err="1">
                <a:solidFill>
                  <a:srgbClr val="DD2C00"/>
                </a:solidFill>
                <a:latin typeface="Tahoma"/>
                <a:ea typeface="Tahoma"/>
                <a:cs typeface="Tahoma"/>
              </a:rPr>
              <a:t>entrega</a:t>
            </a:r>
            <a:r>
              <a:rPr sz="1100" dirty="0">
                <a:solidFill>
                  <a:srgbClr val="DD2C00"/>
                </a:solidFill>
                <a:latin typeface="Tahoma"/>
                <a:ea typeface="Tahoma"/>
                <a:cs typeface="Tahoma"/>
              </a:rPr>
              <a:t>; lo nuevo </a:t>
            </a:r>
            <a:r>
              <a:rPr sz="1100" dirty="0" err="1">
                <a:solidFill>
                  <a:srgbClr val="DD2C00"/>
                </a:solidFill>
                <a:latin typeface="Tahoma"/>
                <a:ea typeface="Tahoma"/>
                <a:cs typeface="Tahoma"/>
              </a:rPr>
              <a:t>que</a:t>
            </a:r>
            <a:r>
              <a:rPr sz="1100" dirty="0">
                <a:solidFill>
                  <a:srgbClr val="DD2C00"/>
                </a:solidFill>
                <a:latin typeface="Tahoma"/>
                <a:ea typeface="Tahoma"/>
                <a:cs typeface="Tahoma"/>
              </a:rPr>
              <a:t> surge </a:t>
            </a:r>
            <a:r>
              <a:rPr sz="1100" dirty="0" err="1">
                <a:solidFill>
                  <a:srgbClr val="DD2C00"/>
                </a:solidFill>
                <a:latin typeface="Tahoma"/>
                <a:ea typeface="Tahoma"/>
                <a:cs typeface="Tahoma"/>
              </a:rPr>
              <a:t>vuelve</a:t>
            </a:r>
            <a:r>
              <a:rPr sz="1100" dirty="0">
                <a:solidFill>
                  <a:srgbClr val="DD2C00"/>
                </a:solidFill>
                <a:latin typeface="Tahoma"/>
                <a:ea typeface="Tahoma"/>
                <a:cs typeface="Tahoma"/>
              </a:rPr>
              <a:t> al backlog.</a:t>
            </a:r>
            <a:endParaRPr sz="1100" dirty="0">
              <a:solidFill>
                <a:srgbClr val="DD2C00"/>
              </a:solidFill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9F209D7B-9C2E-4128-9535-2B8188FB598A}"/>
              </a:ext>
            </a:extLst>
          </p:cNvPr>
          <p:cNvSpPr>
            <a:spLocks noGrp="1"/>
          </p:cNvSpPr>
          <p:nvPr/>
        </p:nvSpPr>
        <p:spPr>
          <a:xfrm>
            <a:off x="577851" y="3432979"/>
            <a:ext cx="3574589" cy="0"/>
          </a:xfrm>
          <a:prstGeom prst="line">
            <a:avLst/>
          </a:prstGeom>
          <a:noFill/>
          <a:ln w="5561">
            <a:solidFill>
              <a:srgbClr val="B2A894"/>
            </a:solidFill>
            <a:prstDash val="solid"/>
          </a:ln>
        </p:spPr>
        <p:txBody>
          <a:bodyPr/>
          <a:lstStyle/>
          <a:p>
            <a:endParaRPr sz="320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CB98F082-D16C-4810-A994-0F0226D0AE42}"/>
              </a:ext>
            </a:extLst>
          </p:cNvPr>
          <p:cNvSpPr>
            <a:spLocks noGrp="1"/>
          </p:cNvSpPr>
          <p:nvPr/>
        </p:nvSpPr>
        <p:spPr>
          <a:xfrm>
            <a:off x="577851" y="4431991"/>
            <a:ext cx="3574589" cy="0"/>
          </a:xfrm>
          <a:prstGeom prst="line">
            <a:avLst/>
          </a:prstGeom>
          <a:noFill/>
          <a:ln w="5561">
            <a:solidFill>
              <a:srgbClr val="B2A894"/>
            </a:solidFill>
            <a:prstDash val="solid"/>
          </a:ln>
        </p:spPr>
        <p:txBody>
          <a:bodyPr/>
          <a:lstStyle/>
          <a:p>
            <a:endParaRPr sz="320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02B2C7DE-1391-427F-B0A9-BD1D3DAD0574}"/>
              </a:ext>
            </a:extLst>
          </p:cNvPr>
          <p:cNvSpPr>
            <a:spLocks noGrp="1"/>
          </p:cNvSpPr>
          <p:nvPr/>
        </p:nvSpPr>
        <p:spPr>
          <a:xfrm>
            <a:off x="577851" y="5431003"/>
            <a:ext cx="3574589" cy="0"/>
          </a:xfrm>
          <a:prstGeom prst="line">
            <a:avLst/>
          </a:prstGeom>
          <a:noFill/>
          <a:ln w="5561">
            <a:solidFill>
              <a:srgbClr val="B2A894"/>
            </a:solidFill>
            <a:prstDash val="solid"/>
          </a:ln>
        </p:spPr>
        <p:txBody>
          <a:bodyPr/>
          <a:lstStyle/>
          <a:p>
            <a:endParaRPr sz="3200"/>
          </a:p>
        </p:txBody>
      </p:sp>
      <p:pic>
        <p:nvPicPr>
          <p:cNvPr id="71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750551" y="400051"/>
            <a:ext cx="867792" cy="183659"/>
          </a:xfrm>
          <a:prstGeom prst="rect">
            <a:avLst/>
          </a:prstGeom>
        </p:spPr>
      </p:pic>
      <p:sp>
        <p:nvSpPr>
          <p:cNvPr id="30" name="Text 13">
            <a:extLst>
              <a:ext uri="{FF2B5EF4-FFF2-40B4-BE49-F238E27FC236}">
                <a16:creationId xmlns:a16="http://schemas.microsoft.com/office/drawing/2014/main" id="{FC9D1DFE-EB69-298D-2C0D-43FA215C95AC}"/>
              </a:ext>
            </a:extLst>
          </p:cNvPr>
          <p:cNvSpPr>
            <a:spLocks noGrp="1"/>
          </p:cNvSpPr>
          <p:nvPr/>
        </p:nvSpPr>
        <p:spPr>
          <a:xfrm>
            <a:off x="571553" y="2608209"/>
            <a:ext cx="3574589" cy="24385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752"/>
              </a:lnSpc>
              <a:buNone/>
            </a:pPr>
            <a:r>
              <a:rPr sz="14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Analista</a:t>
            </a:r>
            <a:endParaRPr sz="1400">
              <a:solidFill>
                <a:srgbClr val="47433B"/>
              </a:solidFill>
            </a:endParaRPr>
          </a:p>
        </p:txBody>
      </p:sp>
      <p:sp>
        <p:nvSpPr>
          <p:cNvPr id="32" name="Text 6">
            <a:extLst>
              <a:ext uri="{FF2B5EF4-FFF2-40B4-BE49-F238E27FC236}">
                <a16:creationId xmlns:a16="http://schemas.microsoft.com/office/drawing/2014/main" id="{951C849C-3A61-A922-160F-F25B68680FE2}"/>
              </a:ext>
            </a:extLst>
          </p:cNvPr>
          <p:cNvSpPr>
            <a:spLocks noGrp="1"/>
          </p:cNvSpPr>
          <p:nvPr/>
        </p:nvSpPr>
        <p:spPr>
          <a:xfrm>
            <a:off x="571501" y="583708"/>
            <a:ext cx="4991100" cy="80518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2981"/>
              </a:lnSpc>
              <a:buNone/>
            </a:pPr>
            <a:r>
              <a:rPr sz="27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El graph hace explícita la topología</a:t>
            </a:r>
            <a:endParaRPr sz="2700"/>
          </a:p>
        </p:txBody>
      </p:sp>
      <p:sp>
        <p:nvSpPr>
          <p:cNvPr id="14" name="Text 5">
            <a:extLst>
              <a:ext uri="{FF2B5EF4-FFF2-40B4-BE49-F238E27FC236}">
                <a16:creationId xmlns:a16="http://schemas.microsoft.com/office/drawing/2014/main" id="{CCBA1839-EE12-7B43-0DAA-7D124741BF7D}"/>
              </a:ext>
            </a:extLst>
          </p:cNvPr>
          <p:cNvSpPr>
            <a:spLocks noGrp="1"/>
          </p:cNvSpPr>
          <p:nvPr/>
        </p:nvSpPr>
        <p:spPr>
          <a:xfrm>
            <a:off x="577851" y="1505961"/>
            <a:ext cx="4949065" cy="4254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40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Los nodos son agentes especializados. Las aristas deciden quién sigue, qué vuelve atrás y dónde decide una persona.</a:t>
            </a:r>
            <a:endParaRPr sz="1400">
              <a:latin typeface="Tahoma"/>
              <a:ea typeface="Tahoma"/>
              <a:cs typeface="Tahoma"/>
            </a:endParaRPr>
          </a:p>
        </p:txBody>
      </p:sp>
      <p:sp>
        <p:nvSpPr>
          <p:cNvPr id="26" name="Text 14">
            <a:extLst>
              <a:ext uri="{FF2B5EF4-FFF2-40B4-BE49-F238E27FC236}">
                <a16:creationId xmlns:a16="http://schemas.microsoft.com/office/drawing/2014/main" id="{AB15303B-F3B5-E5EE-90F6-CA18EDE511AC}"/>
              </a:ext>
            </a:extLst>
          </p:cNvPr>
          <p:cNvSpPr>
            <a:spLocks noGrp="1"/>
          </p:cNvSpPr>
          <p:nvPr/>
        </p:nvSpPr>
        <p:spPr>
          <a:xfrm>
            <a:off x="577851" y="5555517"/>
            <a:ext cx="3574589" cy="24385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752"/>
              </a:lnSpc>
              <a:buNone/>
            </a:pPr>
            <a:r>
              <a:rPr sz="1400" dirty="0" err="1">
                <a:solidFill>
                  <a:srgbClr val="DD2C00"/>
                </a:solidFill>
                <a:latin typeface="Tahoma"/>
                <a:ea typeface="Tahoma"/>
                <a:cs typeface="Tahoma"/>
              </a:rPr>
              <a:t>Aprobación</a:t>
            </a:r>
            <a:r>
              <a:rPr sz="1400" dirty="0">
                <a:solidFill>
                  <a:srgbClr val="DD2C00"/>
                </a:solidFill>
                <a:latin typeface="Tahoma"/>
                <a:ea typeface="Tahoma"/>
                <a:cs typeface="Tahoma"/>
              </a:rPr>
              <a:t> humana</a:t>
            </a:r>
            <a:endParaRPr sz="1400" dirty="0">
              <a:solidFill>
                <a:srgbClr val="DD2C00"/>
              </a:solidFill>
            </a:endParaRPr>
          </a:p>
        </p:txBody>
      </p:sp>
      <p:sp>
        <p:nvSpPr>
          <p:cNvPr id="301" name="Analista"/>
          <p:cNvSpPr>
            <a:spLocks noGrp="1"/>
          </p:cNvSpPr>
          <p:nvPr/>
        </p:nvSpPr>
        <p:spPr>
          <a:xfrm>
            <a:off x="7953375" y="1952625"/>
            <a:ext cx="1714500" cy="400000"/>
          </a:xfrm>
          <a:prstGeom prst="roundRect">
            <a:avLst>
              <a:gd name="adj" fmla="val 25000"/>
            </a:avLst>
          </a:prstGeom>
          <a:solidFill>
            <a:srgbClr val="F8F6F1"/>
          </a:solidFill>
          <a:ln w="12383">
            <a:solidFill>
              <a:srgbClr val="E53212"/>
            </a:solidFill>
            <a:prstDash val="solid"/>
          </a:ln>
        </p:spPr>
        <p:txBody>
          <a:bodyPr anchor="ctr">
            <a:normAutofit/>
          </a:bodyPr>
          <a:lstStyle/>
          <a:p>
            <a:pPr>
              <a:defRPr sz="1275" b="1">
                <a:solidFill>
                  <a:srgbClr val="393532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393532"/>
                </a:solidFill>
                <a:latin typeface="Tahoma"/>
                <a:ea typeface="Tahoma"/>
                <a:cs typeface="Tahoma"/>
              </a:rPr>
              <a:t>Analista</a:t>
            </a:r>
          </a:p>
        </p:txBody>
      </p:sp>
      <p:sp>
        <p:nvSpPr>
          <p:cNvPr id="302" name="Aprobar plan"/>
          <p:cNvSpPr>
            <a:spLocks noGrp="1"/>
          </p:cNvSpPr>
          <p:nvPr/>
        </p:nvSpPr>
        <p:spPr>
          <a:xfrm>
            <a:off x="7953375" y="2652625"/>
            <a:ext cx="1714500" cy="400000"/>
          </a:xfrm>
          <a:prstGeom prst="roundRect">
            <a:avLst>
              <a:gd name="adj" fmla="val 25000"/>
            </a:avLst>
          </a:prstGeom>
          <a:solidFill>
            <a:srgbClr val="E53212"/>
          </a:solidFill>
          <a:ln w="12383">
            <a:solidFill>
              <a:srgbClr val="E53212"/>
            </a:solidFill>
            <a:prstDash val="solid"/>
          </a:ln>
        </p:spPr>
        <p:txBody>
          <a:bodyPr anchor="ctr">
            <a:normAutofit/>
          </a:bodyPr>
          <a:lstStyle/>
          <a:p>
            <a:pPr>
              <a:defRPr sz="11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Aprobar plan</a:t>
            </a:r>
          </a:p>
        </p:txBody>
      </p:sp>
      <p:sp>
        <p:nvSpPr>
          <p:cNvPr id="303" name="Desarrollador"/>
          <p:cNvSpPr>
            <a:spLocks noGrp="1"/>
          </p:cNvSpPr>
          <p:nvPr/>
        </p:nvSpPr>
        <p:spPr>
          <a:xfrm>
            <a:off x="7953375" y="3352625"/>
            <a:ext cx="1714500" cy="400000"/>
          </a:xfrm>
          <a:prstGeom prst="roundRect">
            <a:avLst>
              <a:gd name="adj" fmla="val 25000"/>
            </a:avLst>
          </a:prstGeom>
          <a:solidFill>
            <a:srgbClr val="F8F6F1"/>
          </a:solidFill>
          <a:ln w="12383">
            <a:solidFill>
              <a:srgbClr val="E53212"/>
            </a:solidFill>
            <a:prstDash val="solid"/>
          </a:ln>
        </p:spPr>
        <p:txBody>
          <a:bodyPr anchor="ctr">
            <a:normAutofit/>
          </a:bodyPr>
          <a:lstStyle/>
          <a:p>
            <a:pPr>
              <a:defRPr sz="1275" b="1">
                <a:solidFill>
                  <a:srgbClr val="393532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393532"/>
                </a:solidFill>
                <a:latin typeface="Tahoma"/>
                <a:ea typeface="Tahoma"/>
                <a:cs typeface="Tahoma"/>
              </a:rPr>
              <a:t>Desarrollador</a:t>
            </a:r>
          </a:p>
        </p:txBody>
      </p:sp>
      <p:sp>
        <p:nvSpPr>
          <p:cNvPr id="304" name="Revisor"/>
          <p:cNvSpPr>
            <a:spLocks noGrp="1"/>
          </p:cNvSpPr>
          <p:nvPr/>
        </p:nvSpPr>
        <p:spPr>
          <a:xfrm>
            <a:off x="7953375" y="4052625"/>
            <a:ext cx="1714500" cy="400000"/>
          </a:xfrm>
          <a:prstGeom prst="roundRect">
            <a:avLst>
              <a:gd name="adj" fmla="val 26667"/>
            </a:avLst>
          </a:prstGeom>
          <a:solidFill>
            <a:srgbClr val="F8F6F1"/>
          </a:solidFill>
          <a:ln w="12383">
            <a:solidFill>
              <a:srgbClr val="CFC9BF"/>
            </a:solidFill>
            <a:prstDash val="solid"/>
          </a:ln>
        </p:spPr>
        <p:txBody>
          <a:bodyPr anchor="ctr">
            <a:normAutofit/>
          </a:bodyPr>
          <a:lstStyle/>
          <a:p>
            <a:pPr>
              <a:defRPr sz="1050" b="1">
                <a:solidFill>
                  <a:srgbClr val="393532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393532"/>
                </a:solidFill>
                <a:latin typeface="Tahoma"/>
                <a:ea typeface="Tahoma"/>
                <a:cs typeface="Tahoma"/>
              </a:rPr>
              <a:t>Revisor</a:t>
            </a:r>
          </a:p>
        </p:txBody>
      </p:sp>
      <p:sp>
        <p:nvSpPr>
          <p:cNvPr id="305" name="QA"/>
          <p:cNvSpPr>
            <a:spLocks noGrp="1"/>
          </p:cNvSpPr>
          <p:nvPr/>
        </p:nvSpPr>
        <p:spPr>
          <a:xfrm>
            <a:off x="7953375" y="4752625"/>
            <a:ext cx="1714500" cy="400000"/>
          </a:xfrm>
          <a:prstGeom prst="roundRect">
            <a:avLst>
              <a:gd name="adj" fmla="val 26667"/>
            </a:avLst>
          </a:prstGeom>
          <a:solidFill>
            <a:srgbClr val="F8F6F1"/>
          </a:solidFill>
          <a:ln w="12383">
            <a:solidFill>
              <a:srgbClr val="CFC9BF"/>
            </a:solidFill>
            <a:prstDash val="solid"/>
          </a:ln>
        </p:spPr>
        <p:txBody>
          <a:bodyPr anchor="ctr">
            <a:normAutofit/>
          </a:bodyPr>
          <a:lstStyle/>
          <a:p>
            <a:pPr>
              <a:defRPr sz="1050" b="1">
                <a:solidFill>
                  <a:srgbClr val="393532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393532"/>
                </a:solidFill>
                <a:latin typeface="Tahoma"/>
                <a:ea typeface="Tahoma"/>
                <a:cs typeface="Tahoma"/>
              </a:rPr>
              <a:t>QA</a:t>
            </a:r>
          </a:p>
        </p:txBody>
      </p:sp>
      <p:sp>
        <p:nvSpPr>
          <p:cNvPr id="306" name="Aprobar entrega"/>
          <p:cNvSpPr>
            <a:spLocks noGrp="1"/>
          </p:cNvSpPr>
          <p:nvPr/>
        </p:nvSpPr>
        <p:spPr>
          <a:xfrm>
            <a:off x="7953375" y="5452625"/>
            <a:ext cx="1714500" cy="400000"/>
          </a:xfrm>
          <a:prstGeom prst="roundRect">
            <a:avLst>
              <a:gd name="adj" fmla="val 25000"/>
            </a:avLst>
          </a:prstGeom>
          <a:solidFill>
            <a:srgbClr val="E53212"/>
          </a:solidFill>
          <a:ln w="12383">
            <a:solidFill>
              <a:srgbClr val="E53212"/>
            </a:solidFill>
            <a:prstDash val="solid"/>
          </a:ln>
        </p:spPr>
        <p:txBody>
          <a:bodyPr anchor="ctr">
            <a:normAutofit/>
          </a:bodyPr>
          <a:lstStyle/>
          <a:p>
            <a:pPr>
              <a:defRPr sz="11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Aprobar entrega</a:t>
            </a:r>
          </a:p>
        </p:txBody>
      </p:sp>
      <p:cxnSp>
        <p:nvCxnSpPr>
          <p:cNvPr id="307" name="Flecha 307"/>
          <p:cNvCxnSpPr>
            <a:stCxn id="301" idx="2"/>
            <a:endCxn id="302" idx="0"/>
          </p:cNvCxnSpPr>
          <p:nvPr/>
        </p:nvCxnSpPr>
        <p:spPr>
          <a:xfrm>
            <a:off x="8810625" y="2352625"/>
            <a:ext cx="0" cy="300000"/>
          </a:xfrm>
          <a:prstGeom prst="straightConnector1">
            <a:avLst/>
          </a:prstGeom>
          <a:ln w="16193">
            <a:solidFill>
              <a:srgbClr val="A9A39B"/>
            </a:solidFill>
            <a:prstDash val="solid"/>
            <a:tailEnd type="triangle" w="sm" len="sm"/>
          </a:ln>
        </p:spPr>
      </p:cxnSp>
      <p:cxnSp>
        <p:nvCxnSpPr>
          <p:cNvPr id="308" name="Flecha 308"/>
          <p:cNvCxnSpPr>
            <a:stCxn id="302" idx="2"/>
            <a:endCxn id="303" idx="0"/>
          </p:cNvCxnSpPr>
          <p:nvPr/>
        </p:nvCxnSpPr>
        <p:spPr>
          <a:xfrm>
            <a:off x="8810625" y="3052625"/>
            <a:ext cx="0" cy="300000"/>
          </a:xfrm>
          <a:prstGeom prst="straightConnector1">
            <a:avLst/>
          </a:prstGeom>
          <a:ln w="16193">
            <a:solidFill>
              <a:srgbClr val="A9A39B"/>
            </a:solidFill>
            <a:prstDash val="solid"/>
            <a:tailEnd type="triangle" w="sm" len="sm"/>
          </a:ln>
        </p:spPr>
      </p:cxnSp>
      <p:cxnSp>
        <p:nvCxnSpPr>
          <p:cNvPr id="309" name="Flecha 309"/>
          <p:cNvCxnSpPr>
            <a:stCxn id="303" idx="2"/>
            <a:endCxn id="304" idx="0"/>
          </p:cNvCxnSpPr>
          <p:nvPr/>
        </p:nvCxnSpPr>
        <p:spPr>
          <a:xfrm>
            <a:off x="8810625" y="3752625"/>
            <a:ext cx="0" cy="300000"/>
          </a:xfrm>
          <a:prstGeom prst="straightConnector1">
            <a:avLst/>
          </a:prstGeom>
          <a:ln w="16193">
            <a:solidFill>
              <a:srgbClr val="A9A39B"/>
            </a:solidFill>
            <a:prstDash val="solid"/>
            <a:tailEnd type="triangle" w="sm" len="sm"/>
          </a:ln>
        </p:spPr>
      </p:cxnSp>
      <p:cxnSp>
        <p:nvCxnSpPr>
          <p:cNvPr id="310" name="Flecha 310"/>
          <p:cNvCxnSpPr>
            <a:stCxn id="304" idx="2"/>
            <a:endCxn id="305" idx="0"/>
          </p:cNvCxnSpPr>
          <p:nvPr/>
        </p:nvCxnSpPr>
        <p:spPr>
          <a:xfrm>
            <a:off x="8810625" y="4452625"/>
            <a:ext cx="0" cy="300000"/>
          </a:xfrm>
          <a:prstGeom prst="straightConnector1">
            <a:avLst/>
          </a:prstGeom>
          <a:ln w="16193">
            <a:solidFill>
              <a:srgbClr val="A9A39B"/>
            </a:solidFill>
            <a:prstDash val="solid"/>
            <a:tailEnd type="triangle" w="sm" len="sm"/>
          </a:ln>
        </p:spPr>
      </p:cxnSp>
      <p:cxnSp>
        <p:nvCxnSpPr>
          <p:cNvPr id="311" name="Flecha 311"/>
          <p:cNvCxnSpPr>
            <a:stCxn id="305" idx="2"/>
            <a:endCxn id="306" idx="0"/>
          </p:cNvCxnSpPr>
          <p:nvPr/>
        </p:nvCxnSpPr>
        <p:spPr>
          <a:xfrm>
            <a:off x="8810625" y="5152625"/>
            <a:ext cx="0" cy="300000"/>
          </a:xfrm>
          <a:prstGeom prst="straightConnector1">
            <a:avLst/>
          </a:prstGeom>
          <a:ln w="16193">
            <a:solidFill>
              <a:srgbClr val="A9A39B"/>
            </a:solidFill>
            <a:prstDash val="solid"/>
            <a:tailEnd type="triangle" w="sm" len="sm"/>
          </a:ln>
        </p:spPr>
      </p:cxnSp>
      <p:sp>
        <p:nvSpPr>
          <p:cNvPr id="25" name="Freeform 24"/>
          <p:cNvSpPr/>
          <p:nvPr/>
        </p:nvSpPr>
        <p:spPr>
          <a:xfrm>
            <a:off x="7550000" y="4252625"/>
            <a:ext cx="403375" cy="0"/>
          </a:xfrm>
          <a:custGeom>
            <a:avLst/>
            <a:gdLst/>
            <a:ahLst/>
            <a:cxnLst/>
            <a:rect l="l" t="t" r="r" b="b"/>
            <a:pathLst>
              <a:path w="403375">
                <a:moveTo>
                  <a:pt x="403375" y="0"/>
                </a:moveTo>
                <a:lnTo>
                  <a:pt x="0" y="0"/>
                </a:lnTo>
              </a:path>
            </a:pathLst>
          </a:custGeom>
          <a:noFill/>
          <a:ln w="16193">
            <a:solidFill>
              <a:srgbClr val="A9A39B"/>
            </a:solidFill>
            <a:prstDash val="solid"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Freeform 26"/>
          <p:cNvSpPr/>
          <p:nvPr/>
        </p:nvSpPr>
        <p:spPr>
          <a:xfrm>
            <a:off x="7550000" y="3552625"/>
            <a:ext cx="403375" cy="1400000"/>
          </a:xfrm>
          <a:custGeom>
            <a:avLst/>
            <a:gdLst/>
            <a:ahLst/>
            <a:cxnLst/>
            <a:rect l="l" t="t" r="r" b="b"/>
            <a:pathLst>
              <a:path w="403375" h="1400000">
                <a:moveTo>
                  <a:pt x="403375" y="1400000"/>
                </a:moveTo>
                <a:lnTo>
                  <a:pt x="0" y="1400000"/>
                </a:lnTo>
                <a:lnTo>
                  <a:pt x="0" y="0"/>
                </a:lnTo>
                <a:lnTo>
                  <a:pt x="403375" y="0"/>
                </a:lnTo>
              </a:path>
            </a:pathLst>
          </a:custGeom>
          <a:noFill/>
          <a:ln w="16193">
            <a:solidFill>
              <a:srgbClr val="A9A39B"/>
            </a:solidFill>
            <a:prstDash val="solid"/>
            <a:tailEnd type="triangle" w="sm" len="sm"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2" name="TextBox 311"/>
          <p:cNvSpPr txBox="1"/>
          <p:nvPr/>
        </p:nvSpPr>
        <p:spPr>
          <a:xfrm>
            <a:off x="6000000" y="4332625"/>
            <a:ext cx="1480000" cy="2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i="1">
                <a:solidFill>
                  <a:srgbClr val="8A7F6E"/>
                </a:solidFill>
                <a:latin typeface="Tahoma"/>
              </a:rPr>
              <a:t>cambios / falla</a:t>
            </a:r>
          </a:p>
        </p:txBody>
      </p:sp>
      <p:sp>
        <p:nvSpPr>
          <p:cNvPr id="28" name="Freeform 27"/>
          <p:cNvSpPr/>
          <p:nvPr/>
        </p:nvSpPr>
        <p:spPr>
          <a:xfrm>
            <a:off x="9667875" y="2152625"/>
            <a:ext cx="420000" cy="3500000"/>
          </a:xfrm>
          <a:custGeom>
            <a:avLst/>
            <a:gdLst/>
            <a:ahLst/>
            <a:cxnLst/>
            <a:rect l="l" t="t" r="r" b="b"/>
            <a:pathLst>
              <a:path w="420000" h="3500000">
                <a:moveTo>
                  <a:pt x="0" y="3500000"/>
                </a:moveTo>
                <a:lnTo>
                  <a:pt x="420000" y="3500000"/>
                </a:lnTo>
                <a:lnTo>
                  <a:pt x="420000" y="0"/>
                </a:lnTo>
                <a:lnTo>
                  <a:pt x="0" y="0"/>
                </a:lnTo>
              </a:path>
            </a:pathLst>
          </a:custGeom>
          <a:noFill/>
          <a:ln w="16193">
            <a:solidFill>
              <a:srgbClr val="A9A39B"/>
            </a:solidFill>
            <a:prstDash val="dash"/>
            <a:tailEnd type="triangle" w="sm" len="sm"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3" name="TextBox 312"/>
          <p:cNvSpPr txBox="1"/>
          <p:nvPr/>
        </p:nvSpPr>
        <p:spPr>
          <a:xfrm>
            <a:off x="10177875" y="3852625"/>
            <a:ext cx="1100000" cy="2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i="1">
                <a:solidFill>
                  <a:srgbClr val="8A7F6E"/>
                </a:solidFill>
                <a:latin typeface="Tahoma"/>
              </a:rPr>
              <a:t>follow-ups al backlog</a:t>
            </a:r>
          </a:p>
        </p:txBody>
      </p:sp>
    </p:spTree>
    <p:extLst>
      <p:ext uri="{BB962C8B-B14F-4D97-AF65-F5344CB8AC3E}">
        <p14:creationId xmlns:p14="http://schemas.microsoft.com/office/powerpoint/2010/main" val="15510198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23FBA5C-AF6F-4830-B073-36A0440EF3B1}"/>
              </a:ext>
            </a:extLst>
          </p:cNvPr>
          <p:cNvSpPr>
            <a:spLocks noGrp="1"/>
          </p:cNvSpPr>
          <p:nvPr/>
        </p:nvSpPr>
        <p:spPr>
          <a:xfrm>
            <a:off x="1381125" y="2571750"/>
            <a:ext cx="4333875" cy="1666875"/>
          </a:xfrm>
          <a:prstGeom prst="roundRect">
            <a:avLst>
              <a:gd name="adj" fmla="val 6312"/>
            </a:avLst>
          </a:prstGeom>
          <a:solidFill>
            <a:srgbClr val="F7F4ED"/>
          </a:solidFill>
        </p:spPr>
        <p:txBody>
          <a:bodyPr/>
          <a:lstStyle/>
          <a:p>
            <a:endParaRPr sz="3200">
              <a:latin typeface="Tahoma"/>
              <a:ea typeface="Tahoma"/>
              <a:cs typeface="Tahoma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EF35763-F1F1-4004-A148-CBC0D759A761}"/>
              </a:ext>
            </a:extLst>
          </p:cNvPr>
          <p:cNvSpPr>
            <a:spLocks noGrp="1"/>
          </p:cNvSpPr>
          <p:nvPr/>
        </p:nvSpPr>
        <p:spPr>
          <a:xfrm>
            <a:off x="1381125" y="4524375"/>
            <a:ext cx="4333875" cy="1666875"/>
          </a:xfrm>
          <a:prstGeom prst="roundRect">
            <a:avLst>
              <a:gd name="adj" fmla="val 5285"/>
            </a:avLst>
          </a:prstGeom>
          <a:solidFill>
            <a:srgbClr val="F7F4ED"/>
          </a:solidFill>
        </p:spPr>
        <p:txBody>
          <a:bodyPr/>
          <a:lstStyle/>
          <a:p>
            <a:endParaRPr sz="3200">
              <a:latin typeface="Tahoma"/>
              <a:ea typeface="Tahoma"/>
              <a:cs typeface="Tahoma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1E90F202-8ABF-4D5E-9FE4-9E9BF1898AC8}"/>
              </a:ext>
            </a:extLst>
          </p:cNvPr>
          <p:cNvSpPr>
            <a:spLocks noGrp="1"/>
          </p:cNvSpPr>
          <p:nvPr/>
        </p:nvSpPr>
        <p:spPr>
          <a:xfrm>
            <a:off x="6286500" y="2571750"/>
            <a:ext cx="4333875" cy="1666875"/>
          </a:xfrm>
          <a:prstGeom prst="roundRect">
            <a:avLst>
              <a:gd name="adj" fmla="val 5490"/>
            </a:avLst>
          </a:prstGeom>
          <a:solidFill>
            <a:srgbClr val="F7F4ED"/>
          </a:solidFill>
        </p:spPr>
        <p:txBody>
          <a:bodyPr/>
          <a:lstStyle/>
          <a:p>
            <a:endParaRPr sz="3200">
              <a:latin typeface="Tahoma"/>
              <a:ea typeface="Tahoma"/>
              <a:cs typeface="Tahoma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92FCF6B3-0AC2-4911-B426-0DE2B4E4D3B5}"/>
              </a:ext>
            </a:extLst>
          </p:cNvPr>
          <p:cNvSpPr>
            <a:spLocks noGrp="1"/>
          </p:cNvSpPr>
          <p:nvPr/>
        </p:nvSpPr>
        <p:spPr>
          <a:xfrm>
            <a:off x="6286500" y="4524375"/>
            <a:ext cx="4333875" cy="1666875"/>
          </a:xfrm>
          <a:prstGeom prst="roundRect">
            <a:avLst>
              <a:gd name="adj" fmla="val 5966"/>
            </a:avLst>
          </a:prstGeom>
          <a:solidFill>
            <a:srgbClr val="F7F4ED"/>
          </a:solidFill>
        </p:spPr>
        <p:txBody>
          <a:bodyPr/>
          <a:lstStyle/>
          <a:p>
            <a:endParaRPr sz="3200">
              <a:latin typeface="Tahoma"/>
              <a:ea typeface="Tahoma"/>
              <a:cs typeface="Tahoma"/>
            </a:endParaRPr>
          </a:p>
        </p:txBody>
      </p:sp>
      <p:sp>
        <p:nvSpPr>
          <p:cNvPr id="22" name="Round Same Side Corner Rectangle 21">
            <a:extLst>
              <a:ext uri="{FF2B5EF4-FFF2-40B4-BE49-F238E27FC236}">
                <a16:creationId xmlns:a16="http://schemas.microsoft.com/office/drawing/2014/main" id="{D6DDD592-98A9-D4C1-2760-C861EA807B6D}"/>
              </a:ext>
            </a:extLst>
          </p:cNvPr>
          <p:cNvSpPr>
            <a:spLocks noGrp="1"/>
          </p:cNvSpPr>
          <p:nvPr/>
        </p:nvSpPr>
        <p:spPr>
          <a:xfrm rot="10800000">
            <a:off x="1381125" y="3762375"/>
            <a:ext cx="4333875" cy="476250"/>
          </a:xfrm>
          <a:prstGeom prst="round2SameRect">
            <a:avLst>
              <a:gd name="adj1" fmla="val 18213"/>
              <a:gd name="adj2" fmla="val 0"/>
            </a:avLst>
          </a:prstGeom>
          <a:solidFill>
            <a:srgbClr val="F0ECE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sz="1200">
              <a:solidFill>
                <a:srgbClr val="47433B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3" name="Round Same Side Corner Rectangle 22">
            <a:extLst>
              <a:ext uri="{FF2B5EF4-FFF2-40B4-BE49-F238E27FC236}">
                <a16:creationId xmlns:a16="http://schemas.microsoft.com/office/drawing/2014/main" id="{9634BB5C-AC6A-B713-27BE-1742CF794C1F}"/>
              </a:ext>
            </a:extLst>
          </p:cNvPr>
          <p:cNvSpPr>
            <a:spLocks noGrp="1"/>
          </p:cNvSpPr>
          <p:nvPr/>
        </p:nvSpPr>
        <p:spPr>
          <a:xfrm rot="10800000">
            <a:off x="6286500" y="3762375"/>
            <a:ext cx="4333875" cy="476250"/>
          </a:xfrm>
          <a:prstGeom prst="round2SameRect">
            <a:avLst>
              <a:gd name="adj1" fmla="val 18213"/>
              <a:gd name="adj2" fmla="val 0"/>
            </a:avLst>
          </a:prstGeom>
          <a:solidFill>
            <a:srgbClr val="F0ECE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sz="1200">
              <a:solidFill>
                <a:srgbClr val="47433B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8" name="Round Same Side Corner Rectangle 27">
            <a:extLst>
              <a:ext uri="{FF2B5EF4-FFF2-40B4-BE49-F238E27FC236}">
                <a16:creationId xmlns:a16="http://schemas.microsoft.com/office/drawing/2014/main" id="{65D8E0E5-F776-3579-9F86-D4E721B14EF8}"/>
              </a:ext>
            </a:extLst>
          </p:cNvPr>
          <p:cNvSpPr>
            <a:spLocks noGrp="1"/>
          </p:cNvSpPr>
          <p:nvPr/>
        </p:nvSpPr>
        <p:spPr>
          <a:xfrm rot="10800000">
            <a:off x="1381125" y="5715000"/>
            <a:ext cx="4333875" cy="476250"/>
          </a:xfrm>
          <a:prstGeom prst="round2SameRect">
            <a:avLst>
              <a:gd name="adj1" fmla="val 18213"/>
              <a:gd name="adj2" fmla="val 0"/>
            </a:avLst>
          </a:prstGeom>
          <a:solidFill>
            <a:srgbClr val="F0ECE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sz="1200">
              <a:solidFill>
                <a:srgbClr val="47433B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9" name="Round Same Side Corner Rectangle 28">
            <a:extLst>
              <a:ext uri="{FF2B5EF4-FFF2-40B4-BE49-F238E27FC236}">
                <a16:creationId xmlns:a16="http://schemas.microsoft.com/office/drawing/2014/main" id="{09595243-22B5-763F-2E68-F9404D267E5B}"/>
              </a:ext>
            </a:extLst>
          </p:cNvPr>
          <p:cNvSpPr>
            <a:spLocks noGrp="1"/>
          </p:cNvSpPr>
          <p:nvPr/>
        </p:nvSpPr>
        <p:spPr>
          <a:xfrm rot="10800000">
            <a:off x="6286500" y="5715000"/>
            <a:ext cx="4333875" cy="476250"/>
          </a:xfrm>
          <a:prstGeom prst="round2SameRect">
            <a:avLst>
              <a:gd name="adj1" fmla="val 18213"/>
              <a:gd name="adj2" fmla="val 0"/>
            </a:avLst>
          </a:prstGeom>
          <a:solidFill>
            <a:srgbClr val="F0ECE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sz="1200">
              <a:solidFill>
                <a:srgbClr val="47433B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585CF87-C276-49D8-A574-1052393D7FF6}"/>
              </a:ext>
            </a:extLst>
          </p:cNvPr>
          <p:cNvSpPr>
            <a:spLocks noGrp="1"/>
          </p:cNvSpPr>
          <p:nvPr/>
        </p:nvSpPr>
        <p:spPr>
          <a:xfrm>
            <a:off x="1647825" y="2762250"/>
            <a:ext cx="1809750" cy="2857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683"/>
              </a:lnSpc>
              <a:buNone/>
            </a:pPr>
            <a:r>
              <a:rPr sz="14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Single loop</a:t>
            </a:r>
            <a:endParaRPr sz="1400">
              <a:latin typeface="Tahoma"/>
              <a:ea typeface="Tahoma"/>
              <a:cs typeface="Tahoma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027EF360-F400-4D9C-BF83-5F264853B976}"/>
              </a:ext>
            </a:extLst>
          </p:cNvPr>
          <p:cNvSpPr>
            <a:spLocks noGrp="1"/>
          </p:cNvSpPr>
          <p:nvPr/>
        </p:nvSpPr>
        <p:spPr>
          <a:xfrm>
            <a:off x="1647825" y="4714875"/>
            <a:ext cx="1809750" cy="2857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683"/>
              </a:lnSpc>
              <a:buNone/>
            </a:pPr>
            <a:r>
              <a:rPr sz="14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Staged loop</a:t>
            </a:r>
            <a:endParaRPr sz="1400">
              <a:latin typeface="Tahoma"/>
              <a:ea typeface="Tahoma"/>
              <a:cs typeface="Tahoma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A861AFE8-4C85-42F0-BA53-05F445AFD908}"/>
              </a:ext>
            </a:extLst>
          </p:cNvPr>
          <p:cNvSpPr>
            <a:spLocks noGrp="1"/>
          </p:cNvSpPr>
          <p:nvPr/>
        </p:nvSpPr>
        <p:spPr>
          <a:xfrm>
            <a:off x="6553200" y="2762250"/>
            <a:ext cx="1809750" cy="2857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683"/>
              </a:lnSpc>
              <a:buNone/>
            </a:pPr>
            <a:r>
              <a:rPr sz="14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Parallel loops</a:t>
            </a:r>
            <a:endParaRPr sz="1400">
              <a:latin typeface="Tahoma"/>
              <a:ea typeface="Tahoma"/>
              <a:cs typeface="Tahoma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FE456358-9656-4B4E-9B66-A0ABEEBDCF9D}"/>
              </a:ext>
            </a:extLst>
          </p:cNvPr>
          <p:cNvSpPr>
            <a:spLocks noGrp="1"/>
          </p:cNvSpPr>
          <p:nvPr/>
        </p:nvSpPr>
        <p:spPr>
          <a:xfrm>
            <a:off x="6553200" y="4714875"/>
            <a:ext cx="1809750" cy="2857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683"/>
              </a:lnSpc>
              <a:buNone/>
            </a:pPr>
            <a:r>
              <a:rPr sz="14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Graph</a:t>
            </a:r>
            <a:endParaRPr sz="1400">
              <a:latin typeface="Tahoma"/>
              <a:ea typeface="Tahoma"/>
              <a:cs typeface="Tahoma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A1D481D1-4FCB-49E1-B3CE-D5E88495C9A3}"/>
              </a:ext>
            </a:extLst>
          </p:cNvPr>
          <p:cNvSpPr>
            <a:spLocks noGrp="1"/>
          </p:cNvSpPr>
          <p:nvPr/>
        </p:nvSpPr>
        <p:spPr>
          <a:xfrm>
            <a:off x="3429000" y="2743200"/>
            <a:ext cx="2000250" cy="8191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347"/>
              </a:lnSpc>
              <a:buNone/>
            </a:pPr>
            <a:r>
              <a:rPr sz="11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Tarea simple con pocos pasos y una sola condición de éxito.</a:t>
            </a: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37ECFC3A-09FD-4FC7-B34A-A270FE0FD1D4}"/>
              </a:ext>
            </a:extLst>
          </p:cNvPr>
          <p:cNvSpPr>
            <a:spLocks noGrp="1"/>
          </p:cNvSpPr>
          <p:nvPr/>
        </p:nvSpPr>
        <p:spPr>
          <a:xfrm>
            <a:off x="1647825" y="3829050"/>
            <a:ext cx="3714750" cy="2857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347"/>
              </a:lnSpc>
              <a:buNone/>
            </a:pPr>
            <a:r>
              <a:rPr sz="1100">
                <a:solidFill>
                  <a:srgbClr val="857C6D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Ejemplo: implementar una función</a:t>
            </a:r>
            <a:endParaRPr sz="1100">
              <a:latin typeface="Tahoma"/>
              <a:ea typeface="Tahoma"/>
              <a:cs typeface="Tahoma"/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E4168010-F92E-4D6B-A860-A1BC596E3A3E}"/>
              </a:ext>
            </a:extLst>
          </p:cNvPr>
          <p:cNvSpPr>
            <a:spLocks noGrp="1"/>
          </p:cNvSpPr>
          <p:nvPr/>
        </p:nvSpPr>
        <p:spPr>
          <a:xfrm>
            <a:off x="3429000" y="4695825"/>
            <a:ext cx="2000250" cy="8191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347"/>
              </a:lnSpc>
              <a:buNone/>
            </a:pPr>
            <a:r>
              <a:rPr sz="11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Tarea compleja con etapas que dependen de la anterior.</a:t>
            </a: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C7E6613E-5BC3-40FE-8CA2-7AAC962CA5E4}"/>
              </a:ext>
            </a:extLst>
          </p:cNvPr>
          <p:cNvSpPr>
            <a:spLocks noGrp="1"/>
          </p:cNvSpPr>
          <p:nvPr/>
        </p:nvSpPr>
        <p:spPr>
          <a:xfrm>
            <a:off x="8334375" y="2743200"/>
            <a:ext cx="2000250" cy="8191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347"/>
              </a:lnSpc>
              <a:buNone/>
            </a:pPr>
            <a:r>
              <a:rPr sz="11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Trabajo simple y divisible en unidades independientes.</a:t>
            </a: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AE368DFB-955C-429B-BFD0-674574BA8864}"/>
              </a:ext>
            </a:extLst>
          </p:cNvPr>
          <p:cNvSpPr>
            <a:spLocks noGrp="1"/>
          </p:cNvSpPr>
          <p:nvPr/>
        </p:nvSpPr>
        <p:spPr>
          <a:xfrm>
            <a:off x="8334375" y="4695825"/>
            <a:ext cx="2000250" cy="8191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347"/>
              </a:lnSpc>
              <a:buNone/>
            </a:pPr>
            <a:r>
              <a:rPr sz="11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Tarea compleja con revisiones independientes y rutas condicionales.</a:t>
            </a: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248AB2C7-16A1-4A24-B7D4-18C276160702}"/>
              </a:ext>
            </a:extLst>
          </p:cNvPr>
          <p:cNvSpPr>
            <a:spLocks noGrp="1"/>
          </p:cNvSpPr>
          <p:nvPr/>
        </p:nvSpPr>
        <p:spPr>
          <a:xfrm>
            <a:off x="6553200" y="3829050"/>
            <a:ext cx="3714750" cy="2857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347"/>
              </a:lnSpc>
              <a:buNone/>
            </a:pPr>
            <a:r>
              <a:rPr sz="1100">
                <a:solidFill>
                  <a:srgbClr val="857C6D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Ejemplo: revisar 10 PRs</a:t>
            </a:r>
            <a:endParaRPr sz="1100">
              <a:latin typeface="Tahoma"/>
              <a:ea typeface="Tahoma"/>
              <a:cs typeface="Tahoma"/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1000EB14-1D09-453E-92B6-701BD250CE23}"/>
              </a:ext>
            </a:extLst>
          </p:cNvPr>
          <p:cNvSpPr>
            <a:spLocks noGrp="1"/>
          </p:cNvSpPr>
          <p:nvPr/>
        </p:nvSpPr>
        <p:spPr>
          <a:xfrm>
            <a:off x="1647825" y="5781675"/>
            <a:ext cx="3714750" cy="2857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347"/>
              </a:lnSpc>
              <a:buNone/>
            </a:pPr>
            <a:r>
              <a:rPr sz="1100">
                <a:solidFill>
                  <a:srgbClr val="857C6D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Ejemplo: feature con checkpoints</a:t>
            </a:r>
            <a:endParaRPr sz="1100">
              <a:latin typeface="Tahoma"/>
              <a:ea typeface="Tahoma"/>
              <a:cs typeface="Tahoma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4F367E6C-1C66-4AB3-A2BE-DBCB1B3684E9}"/>
              </a:ext>
            </a:extLst>
          </p:cNvPr>
          <p:cNvSpPr>
            <a:spLocks noGrp="1"/>
          </p:cNvSpPr>
          <p:nvPr/>
        </p:nvSpPr>
        <p:spPr>
          <a:xfrm>
            <a:off x="6553200" y="5781675"/>
            <a:ext cx="3714750" cy="2857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347"/>
              </a:lnSpc>
              <a:buNone/>
            </a:pPr>
            <a:r>
              <a:rPr sz="1100">
                <a:solidFill>
                  <a:srgbClr val="857C6D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Ejemplo: auth + datos + APIs</a:t>
            </a:r>
            <a:endParaRPr sz="1100">
              <a:latin typeface="Tahoma"/>
              <a:ea typeface="Tahoma"/>
              <a:cs typeface="Tahoma"/>
            </a:endParaRPr>
          </a:p>
        </p:txBody>
      </p:sp>
      <p:pic>
        <p:nvPicPr>
          <p:cNvPr id="53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750552" y="400051"/>
            <a:ext cx="867785" cy="183659"/>
          </a:xfrm>
          <a:prstGeom prst="rect">
            <a:avLst/>
          </a:prstGeom>
        </p:spPr>
      </p:pic>
      <p:sp>
        <p:nvSpPr>
          <p:cNvPr id="27" name="Text 6">
            <a:extLst>
              <a:ext uri="{FF2B5EF4-FFF2-40B4-BE49-F238E27FC236}">
                <a16:creationId xmlns:a16="http://schemas.microsoft.com/office/drawing/2014/main" id="{80C2779C-110F-521F-7322-B4774D515BDF}"/>
              </a:ext>
            </a:extLst>
          </p:cNvPr>
          <p:cNvSpPr>
            <a:spLocks noGrp="1"/>
          </p:cNvSpPr>
          <p:nvPr/>
        </p:nvSpPr>
        <p:spPr>
          <a:xfrm>
            <a:off x="571501" y="583709"/>
            <a:ext cx="4991100" cy="508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4013"/>
              </a:lnSpc>
              <a:buNone/>
            </a:pPr>
            <a:r>
              <a:rPr sz="2700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Loop o graph </a:t>
            </a:r>
            <a:r>
              <a:rPr sz="2700" dirty="0" err="1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según</a:t>
            </a:r>
            <a:r>
              <a:rPr sz="2700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el </a:t>
            </a:r>
            <a:r>
              <a:rPr sz="2700" dirty="0" err="1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trabajo</a:t>
            </a:r>
            <a:endParaRPr sz="2700" dirty="0"/>
          </a:p>
        </p:txBody>
      </p:sp>
      <p:sp>
        <p:nvSpPr>
          <p:cNvPr id="3" name="Text 5">
            <a:extLst>
              <a:ext uri="{FF2B5EF4-FFF2-40B4-BE49-F238E27FC236}">
                <a16:creationId xmlns:a16="http://schemas.microsoft.com/office/drawing/2014/main" id="{0095BBB8-652A-DF33-1D12-737C9C40CD44}"/>
              </a:ext>
            </a:extLst>
          </p:cNvPr>
          <p:cNvSpPr>
            <a:spLocks noGrp="1"/>
          </p:cNvSpPr>
          <p:nvPr/>
        </p:nvSpPr>
        <p:spPr>
          <a:xfrm>
            <a:off x="577851" y="1192437"/>
            <a:ext cx="4819339" cy="4254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La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complejidad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y la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necesidad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de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concurrencia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determinan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la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topología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.</a:t>
            </a:r>
            <a:endParaRPr sz="1400" dirty="0">
              <a:latin typeface="Tahoma"/>
              <a:ea typeface="Tahoma"/>
              <a:cs typeface="Tahoma"/>
            </a:endParaRPr>
          </a:p>
        </p:txBody>
      </p:sp>
      <p:sp>
        <p:nvSpPr>
          <p:cNvPr id="31" name="Concurrency Axis">
            <a:extLst>
              <a:ext uri="{FF2B5EF4-FFF2-40B4-BE49-F238E27FC236}">
                <a16:creationId xmlns:a16="http://schemas.microsoft.com/office/drawing/2014/main" id="{9B78208D-7236-47E1-82E5-33CD2CBBEE2D}"/>
              </a:ext>
            </a:extLst>
          </p:cNvPr>
          <p:cNvSpPr>
            <a:spLocks noGrp="1"/>
          </p:cNvSpPr>
          <p:nvPr/>
        </p:nvSpPr>
        <p:spPr>
          <a:xfrm>
            <a:off x="6201726" y="2071688"/>
            <a:ext cx="49530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>
              <a:defRPr sz="1050" b="1">
                <a:solidFill>
                  <a:srgbClr val="E53212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E53212"/>
                </a:solidFill>
                <a:latin typeface="Tahoma"/>
                <a:ea typeface="Tahoma"/>
                <a:cs typeface="Tahoma"/>
              </a:rPr>
              <a:t>Mayor necesidad de concurrencia</a:t>
            </a:r>
          </a:p>
        </p:txBody>
      </p:sp>
      <p:sp>
        <p:nvSpPr>
          <p:cNvPr id="32" name="Complexity Axis">
            <a:extLst>
              <a:ext uri="{FF2B5EF4-FFF2-40B4-BE49-F238E27FC236}">
                <a16:creationId xmlns:a16="http://schemas.microsoft.com/office/drawing/2014/main" id="{2D5864D8-3D3B-47ED-B013-55BB92E316E1}"/>
              </a:ext>
            </a:extLst>
          </p:cNvPr>
          <p:cNvSpPr>
            <a:spLocks noGrp="1"/>
          </p:cNvSpPr>
          <p:nvPr/>
        </p:nvSpPr>
        <p:spPr>
          <a:xfrm rot="16200000">
            <a:off x="223837" y="5167313"/>
            <a:ext cx="1190625" cy="85725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>
              <a:defRPr sz="1050" b="1">
                <a:solidFill>
                  <a:srgbClr val="E53212"/>
                </a:solidFill>
                <a:latin typeface="Tahoma"/>
                <a:ea typeface="Tahoma"/>
                <a:cs typeface="Tahoma"/>
              </a:defRPr>
            </a:pPr>
            <a:r>
              <a:rPr sz="1050" b="1" dirty="0">
                <a:solidFill>
                  <a:srgbClr val="E53212"/>
                </a:solidFill>
                <a:latin typeface="Tahoma"/>
                <a:ea typeface="Tahoma"/>
                <a:cs typeface="Tahoma"/>
              </a:rPr>
              <a:t>Mayor </a:t>
            </a:r>
            <a:r>
              <a:rPr sz="1050" b="1" dirty="0" err="1">
                <a:solidFill>
                  <a:srgbClr val="E53212"/>
                </a:solidFill>
                <a:latin typeface="Tahoma"/>
                <a:ea typeface="Tahoma"/>
                <a:cs typeface="Tahoma"/>
              </a:rPr>
              <a:t>complejidad</a:t>
            </a:r>
            <a:endParaRPr sz="1050" b="1" dirty="0">
              <a:solidFill>
                <a:srgbClr val="E532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7" name="Complexity Axis">
            <a:extLst>
              <a:ext uri="{FF2B5EF4-FFF2-40B4-BE49-F238E27FC236}">
                <a16:creationId xmlns:a16="http://schemas.microsoft.com/office/drawing/2014/main" id="{F77C4293-F66F-6460-0BDC-4C518E861F26}"/>
              </a:ext>
            </a:extLst>
          </p:cNvPr>
          <p:cNvSpPr>
            <a:spLocks noGrp="1"/>
          </p:cNvSpPr>
          <p:nvPr/>
        </p:nvSpPr>
        <p:spPr>
          <a:xfrm rot="16200000">
            <a:off x="223838" y="2880631"/>
            <a:ext cx="1190625" cy="85725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>
              <a:defRPr sz="1050" b="1">
                <a:solidFill>
                  <a:srgbClr val="E53212"/>
                </a:solidFill>
                <a:latin typeface="Tahoma"/>
                <a:ea typeface="Tahoma"/>
                <a:cs typeface="Tahoma"/>
              </a:defRPr>
            </a:pPr>
            <a:r>
              <a:rPr sz="1050" b="1" dirty="0">
                <a:solidFill>
                  <a:srgbClr val="E53212"/>
                </a:solidFill>
                <a:latin typeface="Tahoma"/>
                <a:ea typeface="Tahoma"/>
                <a:cs typeface="Tahoma"/>
              </a:rPr>
              <a:t>M</a:t>
            </a:r>
            <a:r>
              <a:rPr lang="en-US" sz="1050" b="1" dirty="0">
                <a:solidFill>
                  <a:srgbClr val="E53212"/>
                </a:solidFill>
                <a:latin typeface="Tahoma"/>
                <a:ea typeface="Tahoma"/>
                <a:cs typeface="Tahoma"/>
              </a:rPr>
              <a:t>enor</a:t>
            </a:r>
            <a:r>
              <a:rPr sz="1050" b="1" dirty="0">
                <a:solidFill>
                  <a:srgbClr val="E53212"/>
                </a:solidFill>
                <a:latin typeface="Tahoma"/>
                <a:ea typeface="Tahoma"/>
                <a:cs typeface="Tahoma"/>
              </a:rPr>
              <a:t> </a:t>
            </a:r>
            <a:r>
              <a:rPr sz="1050" b="1" dirty="0" err="1">
                <a:solidFill>
                  <a:srgbClr val="E53212"/>
                </a:solidFill>
                <a:latin typeface="Tahoma"/>
                <a:ea typeface="Tahoma"/>
                <a:cs typeface="Tahoma"/>
              </a:rPr>
              <a:t>complejidad</a:t>
            </a:r>
            <a:endParaRPr sz="1050" b="1" dirty="0">
              <a:solidFill>
                <a:srgbClr val="E532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4" name="Concurrency Axis">
            <a:extLst>
              <a:ext uri="{FF2B5EF4-FFF2-40B4-BE49-F238E27FC236}">
                <a16:creationId xmlns:a16="http://schemas.microsoft.com/office/drawing/2014/main" id="{DADB36B2-39E6-AD70-F61E-87DF5F42BD8A}"/>
              </a:ext>
            </a:extLst>
          </p:cNvPr>
          <p:cNvSpPr>
            <a:spLocks noGrp="1"/>
          </p:cNvSpPr>
          <p:nvPr/>
        </p:nvSpPr>
        <p:spPr>
          <a:xfrm>
            <a:off x="1381124" y="2070325"/>
            <a:ext cx="49530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>
              <a:defRPr sz="1050" b="1">
                <a:solidFill>
                  <a:srgbClr val="E53212"/>
                </a:solidFill>
                <a:latin typeface="Tahoma"/>
                <a:ea typeface="Tahoma"/>
                <a:cs typeface="Tahoma"/>
              </a:defRPr>
            </a:pPr>
            <a:r>
              <a:rPr sz="1050" b="1" dirty="0">
                <a:solidFill>
                  <a:srgbClr val="E53212"/>
                </a:solidFill>
                <a:latin typeface="Tahoma"/>
                <a:ea typeface="Tahoma"/>
                <a:cs typeface="Tahoma"/>
              </a:rPr>
              <a:t>M</a:t>
            </a:r>
            <a:r>
              <a:rPr lang="en-US" sz="1050" b="1" dirty="0">
                <a:solidFill>
                  <a:srgbClr val="E53212"/>
                </a:solidFill>
                <a:latin typeface="Tahoma"/>
                <a:ea typeface="Tahoma"/>
                <a:cs typeface="Tahoma"/>
              </a:rPr>
              <a:t>enor</a:t>
            </a:r>
            <a:r>
              <a:rPr sz="1050" b="1" dirty="0">
                <a:solidFill>
                  <a:srgbClr val="E53212"/>
                </a:solidFill>
                <a:latin typeface="Tahoma"/>
                <a:ea typeface="Tahoma"/>
                <a:cs typeface="Tahoma"/>
              </a:rPr>
              <a:t> </a:t>
            </a:r>
            <a:r>
              <a:rPr sz="1050" b="1" dirty="0" err="1">
                <a:solidFill>
                  <a:srgbClr val="E53212"/>
                </a:solidFill>
                <a:latin typeface="Tahoma"/>
                <a:ea typeface="Tahoma"/>
                <a:cs typeface="Tahoma"/>
              </a:rPr>
              <a:t>necesidad</a:t>
            </a:r>
            <a:r>
              <a:rPr sz="1050" b="1" dirty="0">
                <a:solidFill>
                  <a:srgbClr val="E53212"/>
                </a:solidFill>
                <a:latin typeface="Tahoma"/>
                <a:ea typeface="Tahoma"/>
                <a:cs typeface="Tahoma"/>
              </a:rPr>
              <a:t> de </a:t>
            </a:r>
            <a:r>
              <a:rPr sz="1050" b="1" dirty="0" err="1">
                <a:solidFill>
                  <a:srgbClr val="E53212"/>
                </a:solidFill>
                <a:latin typeface="Tahoma"/>
                <a:ea typeface="Tahoma"/>
                <a:cs typeface="Tahoma"/>
              </a:rPr>
              <a:t>concurrencia</a:t>
            </a:r>
            <a:endParaRPr sz="1050" b="1" dirty="0">
              <a:solidFill>
                <a:srgbClr val="E53212"/>
              </a:solidFill>
              <a:latin typeface="Tahoma"/>
              <a:ea typeface="Tahom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3988079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28B4DBD-077A-4D90-856D-32417B219C3C}"/>
              </a:ext>
            </a:extLst>
          </p:cNvPr>
          <p:cNvSpPr>
            <a:spLocks noGrp="1"/>
          </p:cNvSpPr>
          <p:nvPr/>
        </p:nvSpPr>
        <p:spPr>
          <a:xfrm>
            <a:off x="571500" y="2559051"/>
            <a:ext cx="3515125" cy="3515125"/>
          </a:xfrm>
          <a:prstGeom prst="ellipse">
            <a:avLst/>
          </a:prstGeom>
          <a:solidFill>
            <a:srgbClr val="FCF9F3"/>
          </a:solidFill>
          <a:ln w="5385">
            <a:solidFill>
              <a:srgbClr val="E0DACE"/>
            </a:solidFill>
            <a:prstDash val="solid"/>
          </a:ln>
        </p:spPr>
        <p:txBody>
          <a:bodyPr/>
          <a:lstStyle/>
          <a:p>
            <a:endParaRPr sz="32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E764C5B-8FC4-40C0-A6BA-9AC91C2C68CE}"/>
              </a:ext>
            </a:extLst>
          </p:cNvPr>
          <p:cNvSpPr>
            <a:spLocks noGrp="1"/>
          </p:cNvSpPr>
          <p:nvPr/>
        </p:nvSpPr>
        <p:spPr>
          <a:xfrm>
            <a:off x="4338427" y="2559051"/>
            <a:ext cx="3515125" cy="3515125"/>
          </a:xfrm>
          <a:prstGeom prst="ellipse">
            <a:avLst/>
          </a:prstGeom>
          <a:solidFill>
            <a:srgbClr val="FCF9F3"/>
          </a:solidFill>
          <a:ln w="5385">
            <a:solidFill>
              <a:srgbClr val="E0DACE"/>
            </a:solidFill>
            <a:prstDash val="solid"/>
          </a:ln>
        </p:spPr>
        <p:txBody>
          <a:bodyPr/>
          <a:lstStyle/>
          <a:p>
            <a:endParaRPr sz="32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CCAD4A6-E21E-4B16-90ED-3F9517D19DB4}"/>
              </a:ext>
            </a:extLst>
          </p:cNvPr>
          <p:cNvSpPr>
            <a:spLocks noGrp="1"/>
          </p:cNvSpPr>
          <p:nvPr/>
        </p:nvSpPr>
        <p:spPr>
          <a:xfrm>
            <a:off x="8105379" y="2559051"/>
            <a:ext cx="3515125" cy="3515125"/>
          </a:xfrm>
          <a:prstGeom prst="ellipse">
            <a:avLst/>
          </a:prstGeom>
          <a:solidFill>
            <a:srgbClr val="FCF9F3"/>
          </a:solidFill>
          <a:ln w="5385">
            <a:solidFill>
              <a:srgbClr val="E0DACE"/>
            </a:solidFill>
            <a:prstDash val="solid"/>
          </a:ln>
        </p:spPr>
        <p:txBody>
          <a:bodyPr/>
          <a:lstStyle/>
          <a:p>
            <a:endParaRPr sz="3200"/>
          </a:p>
        </p:txBody>
      </p:sp>
      <p:pic>
        <p:nvPicPr>
          <p:cNvPr id="25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750551" y="400051"/>
            <a:ext cx="867792" cy="183659"/>
          </a:xfrm>
          <a:prstGeom prst="rect">
            <a:avLst/>
          </a:prstGeom>
        </p:spPr>
      </p:pic>
      <p:sp>
        <p:nvSpPr>
          <p:cNvPr id="8" name="Text 5">
            <a:extLst>
              <a:ext uri="{FF2B5EF4-FFF2-40B4-BE49-F238E27FC236}">
                <a16:creationId xmlns:a16="http://schemas.microsoft.com/office/drawing/2014/main" id="{BA0A5E8C-2998-4785-8295-315CBFFEBC50}"/>
              </a:ext>
            </a:extLst>
          </p:cNvPr>
          <p:cNvSpPr>
            <a:spLocks noGrp="1"/>
          </p:cNvSpPr>
          <p:nvPr/>
        </p:nvSpPr>
        <p:spPr>
          <a:xfrm>
            <a:off x="965200" y="3835400"/>
            <a:ext cx="1009651" cy="558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357"/>
              </a:lnSpc>
              <a:buNone/>
            </a:pPr>
            <a:r>
              <a:rPr sz="7400">
                <a:solidFill>
                  <a:srgbClr val="EBE6DD">
                    <a:alpha val="99000"/>
                  </a:srgbClr>
                </a:solidFill>
                <a:latin typeface="Tahoma"/>
                <a:ea typeface="Tahoma"/>
                <a:cs typeface="Tahoma"/>
              </a:rPr>
              <a:t>1.</a:t>
            </a:r>
            <a:endParaRPr sz="740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7976B785-B45B-4138-B62D-4446F290E2AC}"/>
              </a:ext>
            </a:extLst>
          </p:cNvPr>
          <p:cNvSpPr>
            <a:spLocks noGrp="1"/>
          </p:cNvSpPr>
          <p:nvPr/>
        </p:nvSpPr>
        <p:spPr>
          <a:xfrm>
            <a:off x="4730751" y="3835400"/>
            <a:ext cx="977900" cy="558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357"/>
              </a:lnSpc>
              <a:buNone/>
            </a:pPr>
            <a:r>
              <a:rPr sz="7400">
                <a:solidFill>
                  <a:srgbClr val="EBE6DD">
                    <a:alpha val="99000"/>
                  </a:srgbClr>
                </a:solidFill>
                <a:latin typeface="Tahoma"/>
                <a:ea typeface="Tahoma"/>
                <a:cs typeface="Tahoma"/>
              </a:rPr>
              <a:t>2.</a:t>
            </a:r>
            <a:endParaRPr sz="740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44DC72D6-109D-4F88-8831-0211687222E6}"/>
              </a:ext>
            </a:extLst>
          </p:cNvPr>
          <p:cNvSpPr>
            <a:spLocks noGrp="1"/>
          </p:cNvSpPr>
          <p:nvPr/>
        </p:nvSpPr>
        <p:spPr>
          <a:xfrm>
            <a:off x="8496301" y="3835400"/>
            <a:ext cx="971551" cy="558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357"/>
              </a:lnSpc>
              <a:buNone/>
            </a:pPr>
            <a:r>
              <a:rPr sz="7400">
                <a:solidFill>
                  <a:srgbClr val="EBE6DD">
                    <a:alpha val="99000"/>
                  </a:srgbClr>
                </a:solidFill>
                <a:latin typeface="Tahoma"/>
                <a:ea typeface="Tahoma"/>
                <a:cs typeface="Tahoma"/>
              </a:rPr>
              <a:t>3.</a:t>
            </a:r>
            <a:endParaRPr sz="740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2C1888E8-390B-4910-9568-F2E3CECFB601}"/>
              </a:ext>
            </a:extLst>
          </p:cNvPr>
          <p:cNvSpPr>
            <a:spLocks noGrp="1"/>
          </p:cNvSpPr>
          <p:nvPr/>
        </p:nvSpPr>
        <p:spPr>
          <a:xfrm>
            <a:off x="1784351" y="3530771"/>
            <a:ext cx="1949451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4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Preparar</a:t>
            </a:r>
            <a:endParaRPr sz="140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9CFE7D11-D05A-44D3-8949-FDA3902846AD}"/>
              </a:ext>
            </a:extLst>
          </p:cNvPr>
          <p:cNvSpPr>
            <a:spLocks noGrp="1"/>
          </p:cNvSpPr>
          <p:nvPr/>
        </p:nvSpPr>
        <p:spPr>
          <a:xfrm>
            <a:off x="1784351" y="3925575"/>
            <a:ext cx="1949451" cy="1276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1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El humano define objetivos, límites, permisos y criterios de aceptación.</a:t>
            </a:r>
            <a:endParaRPr sz="1100">
              <a:solidFill>
                <a:srgbClr val="47433B"/>
              </a:solidFill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44A06CA9-CC69-474D-AAE5-059592211C93}"/>
              </a:ext>
            </a:extLst>
          </p:cNvPr>
          <p:cNvSpPr>
            <a:spLocks noGrp="1"/>
          </p:cNvSpPr>
          <p:nvPr/>
        </p:nvSpPr>
        <p:spPr>
          <a:xfrm>
            <a:off x="5549900" y="3530771"/>
            <a:ext cx="19558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4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Ejecutar</a:t>
            </a:r>
            <a:endParaRPr sz="140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17E8DDFE-E7CC-45FB-8C15-3F0C1A9310A2}"/>
              </a:ext>
            </a:extLst>
          </p:cNvPr>
          <p:cNvSpPr>
            <a:spLocks noGrp="1"/>
          </p:cNvSpPr>
          <p:nvPr/>
        </p:nvSpPr>
        <p:spPr>
          <a:xfrm>
            <a:off x="9315451" y="3530771"/>
            <a:ext cx="19558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4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Aprobar</a:t>
            </a:r>
            <a:endParaRPr sz="140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28286170-8FC1-418C-AD86-DA14FEDCAFE2}"/>
              </a:ext>
            </a:extLst>
          </p:cNvPr>
          <p:cNvSpPr>
            <a:spLocks noGrp="1"/>
          </p:cNvSpPr>
          <p:nvPr/>
        </p:nvSpPr>
        <p:spPr>
          <a:xfrm>
            <a:off x="5549900" y="3925575"/>
            <a:ext cx="1955800" cy="1276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1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Los agentes producen cambios, tests, revisiones y evidencia.</a:t>
            </a:r>
            <a:endParaRPr sz="1100">
              <a:solidFill>
                <a:srgbClr val="47433B"/>
              </a:solidFill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91E9101E-A049-4834-9F4E-37F01011E52B}"/>
              </a:ext>
            </a:extLst>
          </p:cNvPr>
          <p:cNvSpPr>
            <a:spLocks noGrp="1"/>
          </p:cNvSpPr>
          <p:nvPr/>
        </p:nvSpPr>
        <p:spPr>
          <a:xfrm>
            <a:off x="9315451" y="3925575"/>
            <a:ext cx="1955800" cy="1276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1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Una persona valida riesgos, excepciones y decisiones irreversibles.</a:t>
            </a:r>
            <a:endParaRPr sz="1100">
              <a:solidFill>
                <a:srgbClr val="47433B"/>
              </a:solidFill>
            </a:endParaRPr>
          </a:p>
        </p:txBody>
      </p:sp>
      <p:sp>
        <p:nvSpPr>
          <p:cNvPr id="20" name="Text 6">
            <a:extLst>
              <a:ext uri="{FF2B5EF4-FFF2-40B4-BE49-F238E27FC236}">
                <a16:creationId xmlns:a16="http://schemas.microsoft.com/office/drawing/2014/main" id="{AC04798C-021F-6C81-DF61-F135C863DB9C}"/>
              </a:ext>
            </a:extLst>
          </p:cNvPr>
          <p:cNvSpPr>
            <a:spLocks noGrp="1"/>
          </p:cNvSpPr>
          <p:nvPr/>
        </p:nvSpPr>
        <p:spPr>
          <a:xfrm>
            <a:off x="571501" y="583709"/>
            <a:ext cx="4991100" cy="508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4013"/>
              </a:lnSpc>
              <a:buNone/>
            </a:pPr>
            <a:r>
              <a:rPr sz="2700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La </a:t>
            </a:r>
            <a:r>
              <a:rPr sz="2700" dirty="0" err="1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autonomía</a:t>
            </a:r>
            <a:r>
              <a:rPr sz="2700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2700" dirty="0" err="1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exige</a:t>
            </a:r>
            <a:r>
              <a:rPr sz="2700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control</a:t>
            </a:r>
            <a:endParaRPr sz="2700" dirty="0"/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DEF1667B-4A75-FFEC-B3D7-55E36573F9C8}"/>
              </a:ext>
            </a:extLst>
          </p:cNvPr>
          <p:cNvSpPr>
            <a:spLocks noGrp="1"/>
          </p:cNvSpPr>
          <p:nvPr/>
        </p:nvSpPr>
        <p:spPr>
          <a:xfrm>
            <a:off x="577851" y="1192437"/>
            <a:ext cx="4449253" cy="4254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Human-in-the-loop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aprueba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decisiones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relevantes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.</a:t>
            </a:r>
            <a:endParaRPr sz="1400" dirty="0">
              <a:latin typeface="Tahoma"/>
              <a:ea typeface="Tahom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11507710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 0"/>
          <p:cNvPicPr>
            <a:picLocks noChangeAspect="1"/>
          </p:cNvPicPr>
          <p:nvPr/>
        </p:nvPicPr>
        <p:blipFill>
          <a:blip r:embed="rId3"/>
          <a:srcRect l="2965" t="2836" b="434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>
            <a:extLst>
              <a:ext uri="{FF2B5EF4-FFF2-40B4-BE49-F238E27FC236}">
                <a16:creationId xmlns:a16="http://schemas.microsoft.com/office/drawing/2014/main" id="{42893C36-6597-4E2D-A45A-871D08B52878}"/>
              </a:ext>
            </a:extLst>
          </p:cNvPr>
          <p:cNvSpPr>
            <a:spLocks noGrp="1"/>
          </p:cNvSpPr>
          <p:nvPr/>
        </p:nvSpPr>
        <p:spPr>
          <a:xfrm>
            <a:off x="-549699" y="-454026"/>
            <a:ext cx="12741700" cy="7766051"/>
          </a:xfrm>
          <a:prstGeom prst="rect">
            <a:avLst/>
          </a:prstGeom>
          <a:noFill/>
        </p:spPr>
        <p:txBody>
          <a:bodyPr/>
          <a:lstStyle/>
          <a:p>
            <a:endParaRPr sz="3200"/>
          </a:p>
        </p:txBody>
      </p:sp>
      <p:pic>
        <p:nvPicPr>
          <p:cNvPr id="18" name="Image 1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0750551" y="400051"/>
            <a:ext cx="867792" cy="183659"/>
          </a:xfrm>
          <a:prstGeom prst="rect">
            <a:avLst/>
          </a:prstGeom>
        </p:spPr>
      </p:pic>
      <p:sp>
        <p:nvSpPr>
          <p:cNvPr id="9" name="Text 1">
            <a:extLst>
              <a:ext uri="{FF2B5EF4-FFF2-40B4-BE49-F238E27FC236}">
                <a16:creationId xmlns:a16="http://schemas.microsoft.com/office/drawing/2014/main" id="{EDA64F4A-7748-4901-01F7-62DAC9BAC9AC}"/>
              </a:ext>
            </a:extLst>
          </p:cNvPr>
          <p:cNvSpPr>
            <a:spLocks noGrp="1"/>
          </p:cNvSpPr>
          <p:nvPr/>
        </p:nvSpPr>
        <p:spPr>
          <a:xfrm>
            <a:off x="571501" y="3200400"/>
            <a:ext cx="5010441" cy="24930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683"/>
              </a:lnSpc>
              <a:buNone/>
            </a:pPr>
            <a:r>
              <a:rPr sz="20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Artefactos</a:t>
            </a:r>
            <a:r>
              <a:rPr sz="20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</a:t>
            </a:r>
            <a:r>
              <a:rPr sz="20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agénticos</a:t>
            </a:r>
            <a:endParaRPr sz="2000" dirty="0">
              <a:solidFill>
                <a:srgbClr val="47433B"/>
              </a:solidFill>
            </a:endParaRPr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72851295-16F6-AA2D-59C5-35F0310E3039}"/>
              </a:ext>
            </a:extLst>
          </p:cNvPr>
          <p:cNvSpPr>
            <a:spLocks noGrp="1"/>
          </p:cNvSpPr>
          <p:nvPr/>
        </p:nvSpPr>
        <p:spPr>
          <a:xfrm>
            <a:off x="571501" y="3562223"/>
            <a:ext cx="5010441" cy="263618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347"/>
              </a:lnSpc>
              <a:buNone/>
            </a:pP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Issues,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especificaciones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,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instrucciones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versionadas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, skills, tests, pipelines y checkpoints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forman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el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contexto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operativo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del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desarrollo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.</a:t>
            </a:r>
          </a:p>
          <a:p>
            <a:pPr>
              <a:lnSpc>
                <a:spcPts val="1347"/>
              </a:lnSpc>
              <a:buNone/>
            </a:pPr>
            <a:endParaRPr sz="1100" dirty="0">
              <a:solidFill>
                <a:srgbClr val="47433B"/>
              </a:solidFill>
              <a:latin typeface="Tahoma"/>
              <a:ea typeface="Tahoma"/>
              <a:cs typeface="Tahoma"/>
            </a:endParaRPr>
          </a:p>
          <a:p>
            <a:pPr>
              <a:lnSpc>
                <a:spcPts val="1347"/>
              </a:lnSpc>
              <a:buNone/>
            </a:pP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El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equipo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convierte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su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forma de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trabajar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en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información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seleccionable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,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herramientas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ejecutables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y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controles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reutilizables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.</a:t>
            </a:r>
          </a:p>
        </p:txBody>
      </p:sp>
      <p:sp>
        <p:nvSpPr>
          <p:cNvPr id="13" name="Text 6">
            <a:extLst>
              <a:ext uri="{FF2B5EF4-FFF2-40B4-BE49-F238E27FC236}">
                <a16:creationId xmlns:a16="http://schemas.microsoft.com/office/drawing/2014/main" id="{FEFDA3D4-2739-C50D-FC42-EF14CE40D36A}"/>
              </a:ext>
            </a:extLst>
          </p:cNvPr>
          <p:cNvSpPr>
            <a:spLocks noGrp="1"/>
          </p:cNvSpPr>
          <p:nvPr/>
        </p:nvSpPr>
        <p:spPr>
          <a:xfrm>
            <a:off x="571501" y="583708"/>
            <a:ext cx="5010440" cy="8097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2981"/>
              </a:lnSpc>
              <a:buNone/>
            </a:pPr>
            <a:r>
              <a:rPr sz="2700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El SDLC se </a:t>
            </a:r>
            <a:r>
              <a:rPr sz="2700" dirty="0" err="1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vuelve</a:t>
            </a:r>
            <a:r>
              <a:rPr sz="2700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2700" dirty="0" err="1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contexto</a:t>
            </a:r>
            <a:r>
              <a:rPr sz="2700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2700" dirty="0" err="1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ejecutable</a:t>
            </a:r>
            <a:endParaRPr sz="2700" dirty="0"/>
          </a:p>
        </p:txBody>
      </p:sp>
      <p:sp>
        <p:nvSpPr>
          <p:cNvPr id="5" name="Text 5">
            <a:extLst>
              <a:ext uri="{FF2B5EF4-FFF2-40B4-BE49-F238E27FC236}">
                <a16:creationId xmlns:a16="http://schemas.microsoft.com/office/drawing/2014/main" id="{1A8578D6-A539-04E1-117F-96C4DE8086F7}"/>
              </a:ext>
            </a:extLst>
          </p:cNvPr>
          <p:cNvSpPr>
            <a:spLocks noGrp="1"/>
          </p:cNvSpPr>
          <p:nvPr/>
        </p:nvSpPr>
        <p:spPr>
          <a:xfrm>
            <a:off x="577851" y="1505961"/>
            <a:ext cx="5004091" cy="4254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Las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prácticas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del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equipo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dejan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de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vivir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solo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en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documentos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y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pasan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a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orientar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el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comportamiento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de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los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agentes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.</a:t>
            </a:r>
            <a:endParaRPr sz="1400" dirty="0">
              <a:latin typeface="Tahoma"/>
              <a:ea typeface="Tahom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532352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750551" y="400051"/>
            <a:ext cx="867792" cy="183659"/>
          </a:xfrm>
          <a:prstGeom prst="rect">
            <a:avLst/>
          </a:prstGeom>
        </p:spPr>
      </p:pic>
      <p:sp>
        <p:nvSpPr>
          <p:cNvPr id="3" name="Shape 0">
            <a:extLst>
              <a:ext uri="{FF2B5EF4-FFF2-40B4-BE49-F238E27FC236}">
                <a16:creationId xmlns:a16="http://schemas.microsoft.com/office/drawing/2014/main" id="{A2845891-05D1-4B93-444A-FAC0905174F8}"/>
              </a:ext>
            </a:extLst>
          </p:cNvPr>
          <p:cNvSpPr>
            <a:spLocks noGrp="1"/>
          </p:cNvSpPr>
          <p:nvPr/>
        </p:nvSpPr>
        <p:spPr>
          <a:xfrm>
            <a:off x="0" y="-38099"/>
            <a:ext cx="12192000" cy="6896100"/>
          </a:xfrm>
          <a:prstGeom prst="rect">
            <a:avLst/>
          </a:prstGeom>
          <a:solidFill>
            <a:srgbClr val="FCF9F3"/>
          </a:solidFill>
        </p:spPr>
        <p:txBody>
          <a:bodyPr/>
          <a:lstStyle/>
          <a:p>
            <a:endParaRPr sz="3200"/>
          </a:p>
        </p:txBody>
      </p:sp>
      <p:sp>
        <p:nvSpPr>
          <p:cNvPr id="5" name="Shape 1">
            <a:extLst>
              <a:ext uri="{FF2B5EF4-FFF2-40B4-BE49-F238E27FC236}">
                <a16:creationId xmlns:a16="http://schemas.microsoft.com/office/drawing/2014/main" id="{0F8F505E-5AB8-EFA3-9AFC-CC4E78D97989}"/>
              </a:ext>
            </a:extLst>
          </p:cNvPr>
          <p:cNvSpPr>
            <a:spLocks noGrp="1"/>
          </p:cNvSpPr>
          <p:nvPr/>
        </p:nvSpPr>
        <p:spPr>
          <a:xfrm rot="10800000">
            <a:off x="2813051" y="-555391"/>
            <a:ext cx="9883140" cy="8115300"/>
          </a:xfrm>
          <a:prstGeom prst="rect">
            <a:avLst/>
          </a:prstGeom>
          <a:noFill/>
        </p:spPr>
        <p:txBody>
          <a:bodyPr/>
          <a:lstStyle/>
          <a:p>
            <a:endParaRPr sz="3200"/>
          </a:p>
        </p:txBody>
      </p:sp>
      <p:pic>
        <p:nvPicPr>
          <p:cNvPr id="21" name="Picture 16"/>
          <p:cNvPicPr>
            <a:picLocks noChangeAspect="1"/>
          </p:cNvPicPr>
          <p:nvPr/>
        </p:nvPicPr>
        <p:blipFill>
          <a:blip r:embed="rId4"/>
          <a:srcRect t="2852" r="15632" b="2122"/>
          <a:stretch>
            <a:fillRect/>
          </a:stretch>
        </p:blipFill>
        <p:spPr>
          <a:xfrm>
            <a:off x="2299353" y="-49628"/>
            <a:ext cx="9908140" cy="6974851"/>
          </a:xfrm>
          <a:prstGeom prst="rect">
            <a:avLst/>
          </a:prstGeom>
        </p:spPr>
      </p:pic>
      <p:pic>
        <p:nvPicPr>
          <p:cNvPr id="22" name="Image 2"/>
          <p:cNvPicPr>
            <a:picLocks noChangeAspect="1"/>
          </p:cNvPicPr>
          <p:nvPr/>
        </p:nvPicPr>
        <p:blipFill>
          <a:blip r:embed="rId5"/>
          <a:srcRect b="552"/>
          <a:stretch/>
        </p:blipFill>
        <p:spPr>
          <a:xfrm>
            <a:off x="1813942" y="-49626"/>
            <a:ext cx="5144393" cy="6957252"/>
          </a:xfrm>
          <a:prstGeom prst="rect">
            <a:avLst/>
          </a:prstGeom>
        </p:spPr>
      </p:pic>
      <p:pic>
        <p:nvPicPr>
          <p:cNvPr id="23" name="Image 3"/>
          <p:cNvPicPr>
            <a:picLocks noChangeAspect="1"/>
          </p:cNvPicPr>
          <p:nvPr/>
        </p:nvPicPr>
        <p:blipFill>
          <a:blip r:embed="rId6"/>
          <a:srcRect r="436" b="990"/>
          <a:stretch/>
        </p:blipFill>
        <p:spPr>
          <a:xfrm>
            <a:off x="-30839" y="-58468"/>
            <a:ext cx="12238332" cy="6983691"/>
          </a:xfrm>
          <a:prstGeom prst="rect">
            <a:avLst/>
          </a:prstGeom>
        </p:spPr>
      </p:pic>
      <p:pic>
        <p:nvPicPr>
          <p:cNvPr id="24" name="Image 4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71500" y="400051"/>
            <a:ext cx="867792" cy="183659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FD79C6AC-91EF-7FF8-5DCD-FBC7F2EB3A7B}"/>
              </a:ext>
            </a:extLst>
          </p:cNvPr>
          <p:cNvSpPr>
            <a:spLocks noGrp="1"/>
          </p:cNvSpPr>
          <p:nvPr/>
        </p:nvSpPr>
        <p:spPr>
          <a:xfrm>
            <a:off x="609601" y="2438400"/>
            <a:ext cx="4792980" cy="1981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7068"/>
              </a:lnSpc>
              <a:buNone/>
            </a:pPr>
            <a:r>
              <a:rPr sz="7000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Sistemas,</a:t>
            </a:r>
            <a:endParaRPr sz="7000" dirty="0"/>
          </a:p>
          <a:p>
            <a:pPr>
              <a:lnSpc>
                <a:spcPts val="7068"/>
              </a:lnSpc>
              <a:buNone/>
            </a:pPr>
            <a:r>
              <a:rPr sz="7000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no prompts</a:t>
            </a:r>
            <a:endParaRPr sz="7000" dirty="0"/>
          </a:p>
        </p:txBody>
      </p:sp>
      <p:sp>
        <p:nvSpPr>
          <p:cNvPr id="12" name="Text 3">
            <a:extLst>
              <a:ext uri="{FF2B5EF4-FFF2-40B4-BE49-F238E27FC236}">
                <a16:creationId xmlns:a16="http://schemas.microsoft.com/office/drawing/2014/main" id="{5C2CD06E-37FF-E2FD-B9E8-85C19902EFD0}"/>
              </a:ext>
            </a:extLst>
          </p:cNvPr>
          <p:cNvSpPr>
            <a:spLocks noGrp="1"/>
          </p:cNvSpPr>
          <p:nvPr/>
        </p:nvSpPr>
        <p:spPr>
          <a:xfrm>
            <a:off x="609601" y="5295923"/>
            <a:ext cx="3192780" cy="67985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2109"/>
              </a:lnSpc>
              <a:buNone/>
            </a:pP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Contexto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útil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.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Ejecución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verificable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.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Autonomía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gobernable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.</a:t>
            </a:r>
            <a:endParaRPr sz="1400" dirty="0">
              <a:latin typeface="Tahoma"/>
              <a:ea typeface="Tahom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16680623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Image 0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750551" y="400051"/>
            <a:ext cx="867792" cy="183659"/>
          </a:xfrm>
          <a:prstGeom prst="rect">
            <a:avLst/>
          </a:prstGeom>
        </p:spPr>
      </p:pic>
      <p:sp>
        <p:nvSpPr>
          <p:cNvPr id="3" name="Shape 0">
            <a:extLst>
              <a:ext uri="{FF2B5EF4-FFF2-40B4-BE49-F238E27FC236}">
                <a16:creationId xmlns:a16="http://schemas.microsoft.com/office/drawing/2014/main" id="{A2845891-05D1-4B93-444A-FAC0905174F8}"/>
              </a:ext>
            </a:extLst>
          </p:cNvPr>
          <p:cNvSpPr>
            <a:spLocks noGrp="1"/>
          </p:cNvSpPr>
          <p:nvPr/>
        </p:nvSpPr>
        <p:spPr>
          <a:xfrm>
            <a:off x="0" y="-38099"/>
            <a:ext cx="12192000" cy="6896100"/>
          </a:xfrm>
          <a:prstGeom prst="rect">
            <a:avLst/>
          </a:prstGeom>
          <a:solidFill>
            <a:srgbClr val="FCF9F3"/>
          </a:solidFill>
        </p:spPr>
        <p:txBody>
          <a:bodyPr/>
          <a:lstStyle/>
          <a:p>
            <a:endParaRPr sz="3200"/>
          </a:p>
        </p:txBody>
      </p:sp>
      <p:sp>
        <p:nvSpPr>
          <p:cNvPr id="5" name="Shape 1">
            <a:extLst>
              <a:ext uri="{FF2B5EF4-FFF2-40B4-BE49-F238E27FC236}">
                <a16:creationId xmlns:a16="http://schemas.microsoft.com/office/drawing/2014/main" id="{0F8F505E-5AB8-EFA3-9AFC-CC4E78D97989}"/>
              </a:ext>
            </a:extLst>
          </p:cNvPr>
          <p:cNvSpPr>
            <a:spLocks noGrp="1"/>
          </p:cNvSpPr>
          <p:nvPr/>
        </p:nvSpPr>
        <p:spPr>
          <a:xfrm rot="10800000">
            <a:off x="2813051" y="-555391"/>
            <a:ext cx="9883140" cy="8115300"/>
          </a:xfrm>
          <a:prstGeom prst="rect">
            <a:avLst/>
          </a:prstGeom>
          <a:noFill/>
        </p:spPr>
        <p:txBody>
          <a:bodyPr/>
          <a:lstStyle/>
          <a:p>
            <a:endParaRPr sz="3200"/>
          </a:p>
        </p:txBody>
      </p:sp>
      <p:pic>
        <p:nvPicPr>
          <p:cNvPr id="24" name="Image 4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571500" y="400051"/>
            <a:ext cx="867792" cy="183659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FD79C6AC-91EF-7FF8-5DCD-FBC7F2EB3A7B}"/>
              </a:ext>
            </a:extLst>
          </p:cNvPr>
          <p:cNvSpPr>
            <a:spLocks noGrp="1"/>
          </p:cNvSpPr>
          <p:nvPr/>
        </p:nvSpPr>
        <p:spPr>
          <a:xfrm>
            <a:off x="179832" y="2873122"/>
            <a:ext cx="4792980" cy="107365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ts val="7068"/>
              </a:lnSpc>
              <a:buNone/>
            </a:pPr>
            <a:r>
              <a:rPr lang="en-US" sz="6000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¿</a:t>
            </a:r>
            <a:r>
              <a:rPr sz="6000" dirty="0" err="1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Preguntas</a:t>
            </a:r>
            <a:r>
              <a:rPr lang="en-US" sz="6000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?</a:t>
            </a:r>
            <a:endParaRPr sz="6000" dirty="0"/>
          </a:p>
        </p:txBody>
      </p:sp>
      <p:sp>
        <p:nvSpPr>
          <p:cNvPr id="12" name="Text 3">
            <a:extLst>
              <a:ext uri="{FF2B5EF4-FFF2-40B4-BE49-F238E27FC236}">
                <a16:creationId xmlns:a16="http://schemas.microsoft.com/office/drawing/2014/main" id="{5C2CD06E-37FF-E2FD-B9E8-85C19902EFD0}"/>
              </a:ext>
            </a:extLst>
          </p:cNvPr>
          <p:cNvSpPr>
            <a:spLocks noGrp="1"/>
          </p:cNvSpPr>
          <p:nvPr/>
        </p:nvSpPr>
        <p:spPr>
          <a:xfrm>
            <a:off x="508254" y="4464072"/>
            <a:ext cx="4136135" cy="14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2109"/>
              </a:lnSpc>
              <a:buNone/>
            </a:pP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Dudas,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objeciones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y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los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casos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reales de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tu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equipo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.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Abramos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el debate.</a:t>
            </a:r>
            <a:endParaRPr sz="1400" dirty="0">
              <a:latin typeface="Tahoma"/>
              <a:ea typeface="Tahoma"/>
              <a:cs typeface="Tahoma"/>
            </a:endParaRPr>
          </a:p>
        </p:txBody>
      </p:sp>
      <p:pic>
        <p:nvPicPr>
          <p:cNvPr id="6" name="Picture 8">
            <a:extLst>
              <a:ext uri="{FF2B5EF4-FFF2-40B4-BE49-F238E27FC236}">
                <a16:creationId xmlns:a16="http://schemas.microsoft.com/office/drawing/2014/main" id="{CDC62794-8FD3-5FDB-7B03-00C6D345E06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770"/>
          <a:stretch>
            <a:fillRect/>
          </a:stretch>
        </p:blipFill>
        <p:spPr>
          <a:xfrm>
            <a:off x="5044048" y="0"/>
            <a:ext cx="7147952" cy="6393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80623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Image 0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750551" y="400051"/>
            <a:ext cx="867792" cy="183659"/>
          </a:xfrm>
          <a:prstGeom prst="rect">
            <a:avLst/>
          </a:prstGeom>
        </p:spPr>
      </p:pic>
      <p:sp>
        <p:nvSpPr>
          <p:cNvPr id="3" name="Shape 0">
            <a:extLst>
              <a:ext uri="{FF2B5EF4-FFF2-40B4-BE49-F238E27FC236}">
                <a16:creationId xmlns:a16="http://schemas.microsoft.com/office/drawing/2014/main" id="{A2845891-05D1-4B93-444A-FAC0905174F8}"/>
              </a:ext>
            </a:extLst>
          </p:cNvPr>
          <p:cNvSpPr>
            <a:spLocks noGrp="1"/>
          </p:cNvSpPr>
          <p:nvPr/>
        </p:nvSpPr>
        <p:spPr>
          <a:xfrm>
            <a:off x="0" y="-38099"/>
            <a:ext cx="12192000" cy="6896100"/>
          </a:xfrm>
          <a:prstGeom prst="rect">
            <a:avLst/>
          </a:prstGeom>
          <a:solidFill>
            <a:srgbClr val="FCF9F3"/>
          </a:solidFill>
        </p:spPr>
        <p:txBody>
          <a:bodyPr/>
          <a:lstStyle/>
          <a:p>
            <a:endParaRPr sz="3200"/>
          </a:p>
        </p:txBody>
      </p:sp>
      <p:sp>
        <p:nvSpPr>
          <p:cNvPr id="5" name="Shape 1">
            <a:extLst>
              <a:ext uri="{FF2B5EF4-FFF2-40B4-BE49-F238E27FC236}">
                <a16:creationId xmlns:a16="http://schemas.microsoft.com/office/drawing/2014/main" id="{0F8F505E-5AB8-EFA3-9AFC-CC4E78D97989}"/>
              </a:ext>
            </a:extLst>
          </p:cNvPr>
          <p:cNvSpPr>
            <a:spLocks noGrp="1"/>
          </p:cNvSpPr>
          <p:nvPr/>
        </p:nvSpPr>
        <p:spPr>
          <a:xfrm rot="10800000">
            <a:off x="2813051" y="-555391"/>
            <a:ext cx="9883140" cy="8115300"/>
          </a:xfrm>
          <a:prstGeom prst="rect">
            <a:avLst/>
          </a:prstGeom>
          <a:noFill/>
        </p:spPr>
        <p:txBody>
          <a:bodyPr/>
          <a:lstStyle/>
          <a:p>
            <a:endParaRPr sz="3200"/>
          </a:p>
        </p:txBody>
      </p:sp>
      <p:pic>
        <p:nvPicPr>
          <p:cNvPr id="21" name="Picture 16"/>
          <p:cNvPicPr>
            <a:picLocks noChangeAspect="1"/>
          </p:cNvPicPr>
          <p:nvPr/>
        </p:nvPicPr>
        <p:blipFill>
          <a:blip r:embed="rId3"/>
          <a:srcRect t="2852" r="15632" b="2122"/>
          <a:stretch>
            <a:fillRect/>
          </a:stretch>
        </p:blipFill>
        <p:spPr>
          <a:xfrm>
            <a:off x="2299353" y="-49628"/>
            <a:ext cx="9908140" cy="6974851"/>
          </a:xfrm>
          <a:prstGeom prst="rect">
            <a:avLst/>
          </a:prstGeom>
        </p:spPr>
      </p:pic>
      <p:pic>
        <p:nvPicPr>
          <p:cNvPr id="22" name="Image 2"/>
          <p:cNvPicPr>
            <a:picLocks noChangeAspect="1"/>
          </p:cNvPicPr>
          <p:nvPr/>
        </p:nvPicPr>
        <p:blipFill>
          <a:blip r:embed="rId4"/>
          <a:srcRect b="552"/>
          <a:stretch/>
        </p:blipFill>
        <p:spPr>
          <a:xfrm>
            <a:off x="1813942" y="-49626"/>
            <a:ext cx="5144393" cy="6957252"/>
          </a:xfrm>
          <a:prstGeom prst="rect">
            <a:avLst/>
          </a:prstGeom>
        </p:spPr>
      </p:pic>
      <p:pic>
        <p:nvPicPr>
          <p:cNvPr id="23" name="Image 3"/>
          <p:cNvPicPr>
            <a:picLocks noChangeAspect="1"/>
          </p:cNvPicPr>
          <p:nvPr/>
        </p:nvPicPr>
        <p:blipFill>
          <a:blip r:embed="rId5"/>
          <a:srcRect r="436" b="990"/>
          <a:stretch/>
        </p:blipFill>
        <p:spPr>
          <a:xfrm>
            <a:off x="-30839" y="-58468"/>
            <a:ext cx="12238332" cy="6983691"/>
          </a:xfrm>
          <a:prstGeom prst="rect">
            <a:avLst/>
          </a:prstGeom>
        </p:spPr>
      </p:pic>
      <p:pic>
        <p:nvPicPr>
          <p:cNvPr id="24" name="Image 4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571500" y="400051"/>
            <a:ext cx="867792" cy="183659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FD79C6AC-91EF-7FF8-5DCD-FBC7F2EB3A7B}"/>
              </a:ext>
            </a:extLst>
          </p:cNvPr>
          <p:cNvSpPr>
            <a:spLocks noGrp="1"/>
          </p:cNvSpPr>
          <p:nvPr/>
        </p:nvSpPr>
        <p:spPr>
          <a:xfrm>
            <a:off x="609601" y="2438400"/>
            <a:ext cx="4792980" cy="1981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7068"/>
              </a:lnSpc>
              <a:buNone/>
            </a:pPr>
            <a:r>
              <a:rPr lang="en-US" sz="7000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¡</a:t>
            </a:r>
            <a:r>
              <a:rPr sz="7000" dirty="0" err="1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Muchas</a:t>
            </a:r>
            <a:r>
              <a:rPr lang="en-US" sz="7000" dirty="0"/>
              <a:t> </a:t>
            </a:r>
            <a:r>
              <a:rPr lang="en-US" sz="7000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g</a:t>
            </a:r>
            <a:r>
              <a:rPr sz="7000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racias</a:t>
            </a:r>
            <a:r>
              <a:rPr lang="en-US" sz="7000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!</a:t>
            </a:r>
            <a:endParaRPr sz="7000" dirty="0"/>
          </a:p>
        </p:txBody>
      </p:sp>
      <p:sp>
        <p:nvSpPr>
          <p:cNvPr id="12" name="Text 3">
            <a:extLst>
              <a:ext uri="{FF2B5EF4-FFF2-40B4-BE49-F238E27FC236}">
                <a16:creationId xmlns:a16="http://schemas.microsoft.com/office/drawing/2014/main" id="{5C2CD06E-37FF-E2FD-B9E8-85C19902EFD0}"/>
              </a:ext>
            </a:extLst>
          </p:cNvPr>
          <p:cNvSpPr>
            <a:spLocks noGrp="1"/>
          </p:cNvSpPr>
          <p:nvPr/>
        </p:nvSpPr>
        <p:spPr>
          <a:xfrm>
            <a:off x="571500" y="1400257"/>
            <a:ext cx="6172200" cy="14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2109"/>
              </a:lnSpc>
              <a:buNone/>
            </a:pP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Dejá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de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escribir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el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próximo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prompt: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diseñá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el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sistema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que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ya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no lo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necesita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.</a:t>
            </a:r>
            <a:endParaRPr sz="1400" dirty="0">
              <a:latin typeface="Tahoma"/>
              <a:ea typeface="Tahoma"/>
              <a:cs typeface="Tahoma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8A983488-1550-EA77-E116-B58E21AC6357}"/>
              </a:ext>
            </a:extLst>
          </p:cNvPr>
          <p:cNvSpPr/>
          <p:nvPr/>
        </p:nvSpPr>
        <p:spPr>
          <a:xfrm>
            <a:off x="609601" y="5295923"/>
            <a:ext cx="3192780" cy="6798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109"/>
              </a:lnSpc>
            </a:pP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Ezequiel Etchecoin, Senior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.Net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Engineer</a:t>
            </a:r>
            <a:endParaRPr lang="en-US" sz="1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>
              <a:lnSpc>
                <a:spcPts val="2109"/>
              </a:lnSpc>
            </a:pPr>
            <a:r>
              <a:rPr lang="en-US" sz="140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ezequiel.etchecoin@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avenga.com</a:t>
            </a:r>
            <a:endParaRPr lang="en-US" sz="1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80623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Avenga 2">
      <a:dk1>
        <a:srgbClr val="47433B"/>
      </a:dk1>
      <a:lt1>
        <a:srgbClr val="FBF8F3"/>
      </a:lt1>
      <a:dk2>
        <a:srgbClr val="B2A893"/>
      </a:dk2>
      <a:lt2>
        <a:srgbClr val="DBD7CB"/>
      </a:lt2>
      <a:accent1>
        <a:srgbClr val="DD2C00"/>
      </a:accent1>
      <a:accent2>
        <a:srgbClr val="FEA890"/>
      </a:accent2>
      <a:accent3>
        <a:srgbClr val="857B6D"/>
      </a:accent3>
      <a:accent4>
        <a:srgbClr val="EEEDE8"/>
      </a:accent4>
      <a:accent5>
        <a:srgbClr val="FDFBFA"/>
      </a:accent5>
      <a:accent6>
        <a:srgbClr val="F7F3ED"/>
      </a:accent6>
      <a:hlink>
        <a:srgbClr val="857C6D"/>
      </a:hlink>
      <a:folHlink>
        <a:srgbClr val="EBE6DD"/>
      </a:folHlink>
    </a:clrScheme>
    <a:fontScheme name="Office 2013 - 2022 Them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venga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2013 - 2022 Theme">
  <a:themeElements>
    <a:clrScheme name="Avenga 2">
      <a:dk1>
        <a:srgbClr val="47433B"/>
      </a:dk1>
      <a:lt1>
        <a:srgbClr val="FBF8F3"/>
      </a:lt1>
      <a:dk2>
        <a:srgbClr val="B2A893"/>
      </a:dk2>
      <a:lt2>
        <a:srgbClr val="DBD7CB"/>
      </a:lt2>
      <a:accent1>
        <a:srgbClr val="DD2C00"/>
      </a:accent1>
      <a:accent2>
        <a:srgbClr val="FEA890"/>
      </a:accent2>
      <a:accent3>
        <a:srgbClr val="857B6D"/>
      </a:accent3>
      <a:accent4>
        <a:srgbClr val="EEEDE8"/>
      </a:accent4>
      <a:accent5>
        <a:srgbClr val="FDFBFA"/>
      </a:accent5>
      <a:accent6>
        <a:srgbClr val="F7F3ED"/>
      </a:accent6>
      <a:hlink>
        <a:srgbClr val="857C6D"/>
      </a:hlink>
      <a:folHlink>
        <a:srgbClr val="EBE6DD"/>
      </a:folHlink>
    </a:clrScheme>
    <a:fontScheme name="Office 2013 - 2022 Them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venga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</TotalTime>
  <Words>2422</Words>
  <Application>Microsoft Office PowerPoint</Application>
  <DocSecurity>0</DocSecurity>
  <PresentationFormat>Panorámica</PresentationFormat>
  <Paragraphs>296</Paragraphs>
  <Slides>20</Slides>
  <Notes>18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20</vt:i4>
      </vt:variant>
    </vt:vector>
  </HeadingPairs>
  <TitlesOfParts>
    <vt:vector size="25" baseType="lpstr">
      <vt:lpstr>Tahoma</vt:lpstr>
      <vt:lpstr>Calibri</vt:lpstr>
      <vt:lpstr>Arial</vt:lpstr>
      <vt:lpstr>Calibri Light</vt:lpstr>
      <vt:lpstr>Office 2013 - 2022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Ezequiel Etchecoin</cp:lastModifiedBy>
  <cp:revision>12</cp:revision>
  <dcterms:created xsi:type="dcterms:W3CDTF">2026-09-19T21:30:01Z</dcterms:created>
  <dcterms:modified xsi:type="dcterms:W3CDTF">2026-09-23T03:52:55Z</dcterms:modified>
</cp:coreProperties>
</file>