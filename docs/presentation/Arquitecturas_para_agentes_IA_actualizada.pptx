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embeddedFontLst>
    <p:embeddedFont>
      <p:font typeface="Tahoma" panose="020B060403050404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2 minutos.</a:t>
            </a:r>
          </a:p>
          <a:p>
            <a:r>
              <a:t>Abrir con una pregunta: ¿cuánto de nuestro trabajo con IA sigue dependiendo de que una persona escriba el próximo prompt?</a:t>
            </a:r>
          </a:p>
          <a:p>
            <a:r>
              <a:t>Anticipar que la charla alternará conceptos breves con demostraciones en vivo.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3 minutos.</a:t>
            </a:r>
          </a:p>
          <a:p>
            <a:r>
              <a:t>Diferenciar una respuesta plausible de un proceso confiable.</a:t>
            </a:r>
          </a:p>
          <a:p>
            <a:r>
              <a:t>Introducir el cambio de foco: instrucción, información disponible, capacidad de actuar y control del progreso.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Flowtivity, “From Loops to Graphs: The Next Paradigm in AI Agent Engineering”, 2026: https://flowtivity.ai/blog/graph-engineering-2026-guide-openclaw-codex/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4 minutos.</a:t>
            </a:r>
          </a:p>
          <a:p>
            <a:r>
              <a:t>Presentar la secuencia como un modelo didáctico, no como una taxonomía universal ni una carrera hacia el grafo.</a:t>
            </a:r>
          </a:p>
          <a:p>
            <a:r>
              <a:t>Prompt diseña la instrucción. Context diseña lo que el modelo puede ver. Harness vuelve ese contexto ejecutable. Loop diseña la iteración. Graph diseña la topología del trabajo.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Flowtivity, “The Evolution: Four Paradigms in Four Years”, 2026: https://flowtivity.ai/blog/graph-engineering-2026-guide-openclaw-codex/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 del bloque: 8 minutos.</a:t>
            </a:r>
          </a:p>
          <a:p>
            <a:r>
              <a:t>Cambiar a Visual Studio y comenzar desde una aplicación de consola vacía.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4 minutos, después de la primera demo.</a:t>
            </a:r>
          </a:p>
          <a:p>
            <a:r>
              <a:t>Explicar que un buen prompt puede fallar si recibe información irrelevante, incompleta o desactualizada.</a:t>
            </a:r>
          </a:p>
          <a:p>
            <a:r>
              <a:t>Context engineering incluye system prompts, ejemplos, RAG, memoria, tool descriptions y el estado actual de la tarea.</a:t>
            </a:r>
          </a:p>
          <a:p>
            <a:r>
              <a:t>Transición: seleccionar información todavía no le da al modelo capacidad para actuar. Esa capacidad aparece en el harness.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Flowtivity, “The Evolution: Four Paradigms in Four Years”, 2026: https://flowtivity.ai/blog/graph-engineering-2026-guide-openclaw-codex/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 del bloque: 12 minutos.</a:t>
            </a:r>
          </a:p>
          <a:p>
            <a:r>
              <a:t>El contexto define qué información recibe el modelo. El harness añade la interfaz para actuar sobre el entorno y obtener feedback verificable.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contexto responde “qué necesita saber”. El harness responde “qué puede hacer, bajo qué reglas y con qué evidencia”.</a:t>
            </a:r>
          </a:p>
          <a:p>
            <a:r>
              <a:t>Un prompt largo no reemplaza ninguna de las dos capas.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Flowtivity, “The Evolution: Four Paradigms in Four Years”, 2026: https://flowtivity.ai/blog/graph-engineering-2026-guide-openclaw-codex/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Cambiar a la demo.</a:t>
            </a:r>
          </a:p>
          <a:p>
            <a:r>
              <a:t>Entregar un objetivo más general y mostrar cómo el agente inspecciona, modifica, compila y prueba dentro del harness.</a:t>
            </a:r>
          </a:p>
          <a:p>
            <a:r>
              <a:t>No buscar perfección arquitectónica: la evidencia clave es una entrega funcional y verificada.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 del bloque: 15 minutos.</a:t>
            </a:r>
          </a:p>
          <a:p>
            <a:r>
              <a:t>Abrir el tablero Kanban preparado con issues pequeños y criterios de aceptación claros.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tomar un issue del tablero, aplicar TDD y dejar que el agente itere.</a:t>
            </a:r>
          </a:p>
          <a:p>
            <a:r>
              <a:t>Marcar explícitamente la condición de salida: criterios aceptados, tests verdes y cambio listo para revisión.</a:t>
            </a:r>
          </a:p>
          <a:p>
            <a:r>
              <a:t>Si una iteración se desvía, usarlo como evidencia de por qué límites y observabilidad importan.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 del bloque: 15 minutos.</a:t>
            </a:r>
          </a:p>
          <a:p>
            <a:r>
              <a:t>Explicar que el grafo agrega estructura explícita al flujo: nodos, transiciones, dependencias y condiciones.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una topología concreta: Planner, Worker, tres reviewers paralelos, Synthesizer y gate.</a:t>
            </a:r>
          </a:p>
          <a:p>
            <a:r>
              <a:t>La ganancia no proviene de agregar personajes, sino de separar responsabilidades, permitir concurrencia y enrutar feedback al nodo correcto.</a:t>
            </a:r>
          </a:p>
          <a:p>
            <a:r>
              <a:t>Un reviewer independiente necesita criterios y evidencia propios.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Flowtivity, “Graph Topology in Action: The Parallel Review Pattern”, 2026: https://flowtivity.ai/blog/graph-engineering-2026-guide-openclaw-codex/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4 minutos.</a:t>
            </a:r>
          </a:p>
          <a:p>
            <a:r>
              <a:t>Explicar que Graph no representa un nivel obligatorio de madurez. La topología debe responder a la forma del trabajo.</a:t>
            </a:r>
          </a:p>
          <a:p>
            <a:r>
              <a:t>Single loop sirve para tareas simples. Parallel loops para unidades independientes. Staged loop para procesos complejos pero secuenciales. Graph para complejidad con verificaciones independientes y routing condicional.</a:t>
            </a:r>
          </a:p>
          <a:p>
            <a:r>
              <a:t>Frase clave: un graph organiza nodos; muchos de esos nodos ejecutan sus propios loops.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Flowtivity, “When to Use Loops vs Graphs: The Decision Matrix”, 2026: https://flowtivity.ai/blog/graph-engineering-2026-guide-openclaw-codex/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3 minutos.</a:t>
            </a:r>
          </a:p>
          <a:p>
            <a:r>
              <a:t>Aclarar que los checkpoints deben ubicarse por riesgo y costo de reversión, no después de cada acción.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3 minutos.</a:t>
            </a:r>
          </a:p>
          <a:p>
            <a:r>
              <a:t>Conectar con la experiencia real del equipo: metodología, Definition of Done, convenciones, revisión y delivery se convierten en artefactos consumibles por agentes.</a:t>
            </a:r>
          </a:p>
          <a:p>
            <a:r>
              <a:t>Esta es la transición desde prompt engineering hacia ingeniería agéntica.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Tiempo sugerido: 3 minutos más preguntas.</a:t>
            </a:r>
          </a:p>
          <a:p>
            <a:r>
              <a:t>Cerrar retomando la pregunta inicial.</a:t>
            </a:r>
          </a:p>
          <a:p>
            <a:r>
              <a:t>Síntesis: Prompt expresa intención. Context selecciona información. Harness aporta capacidad de actuar. Loop aporta persistencia. Graph aporta coordinación. Los artefactos conectan todo con el SDLC.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Avenga template deck (visual assets and brand styling).</a:t>
            </a:r>
          </a:p>
          <a:p>
            <a:r>
              <a:t>- Presentation concepts and demo plan supplied by Ezequiel Etchecoin.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F392-74A1-4EF9-8107-400BCFBF2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4B0D0-0921-48DA-AA6F-D21B7D6A3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EAFC-BF11-4427-989F-2FD73F667A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94223-4B66-41D0-BB72-D6F222D6AA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B1DA2-07C4-4F40-81C9-F609810701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2BCE-C6BF-4F13-AC84-B4321D7D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E6FE-BD00-4039-8007-F3FD772BD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1625E-74FD-4311-9101-831818E94B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A2E47-7634-411F-82D3-BE9AFEE585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5BBF1-6A48-4262-9FC4-7D6FA9B724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515B-FC82-40D7-B7F5-712E9825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3226E-1E48-482E-B839-DCBCD3F14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68C73-A29B-4A80-946E-1EEFC5A235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8F8BC-F450-4A1E-9D4A-69603D1C12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B74F9-F94C-40D0-A0ED-E4A14C293B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C1CE-8B57-4DBF-902E-67AAF846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D49E-60BD-40A8-B4E1-52D86BBC8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E2704-33CE-4FA4-AACC-BD2245B66B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E3849-F4E0-4BA5-9C67-91BDD451D7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63D1F-7241-47E4-B930-DCBA77F301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0A56D-0803-4DBD-9CD8-90FF38BD22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6C94-55D9-4E57-B997-EFB7CD85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5347A-FEEB-4675-AAA8-30AEF7042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CA4C2-6E85-4C8B-881E-06F1866697F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AC19D-16D5-4323-90C0-C4C02D54160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6F532-D2EC-4A0F-84B2-CD63BE50DE7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7FAAC-0DE6-4A71-B16D-6F3EFB18B4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48D12-241C-4FE4-9C6A-107391147B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4B17C0-C0EC-4ED4-8B63-434DBE6A31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8079-C5B0-4588-A3EE-B85F555B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9882F-F168-4A1E-95BE-63CC5C7DFB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4144A-F1F9-4567-9DD6-DDEBE3AAF2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6E74D-0D78-4591-9D46-AB0E7311EB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61707-E4DA-4AC4-9074-DF99035B0B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35E4C-4059-41EA-805F-7B46B84B30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B5CE1-623D-434F-8C8A-73890EA40A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8FE2-2388-4EA6-8760-2CCB6FE1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657B-2776-45EC-9727-1AF47EDD8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9DC9F-EF6E-45B6-BA65-AD004FB211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3740C-C5E0-4685-90F4-400D9BD4FF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4C67F-4A11-473D-A1C1-D5883330C1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F46A6-9F2F-424E-B5FC-7AC1489E0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ADAD-0E26-477C-A901-43C02686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99FE20-5866-4A8A-A7B7-2DB96DB0C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D37B0-5B01-4AA8-8267-EC61D076C4E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FAD60-CB5C-48A5-B9C7-6A2D491D46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CD47-51BC-483C-BBA9-122B5E33FD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33042-34CC-4DAA-899F-D5BA62CADC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E7F1-A05C-4F9C-9E83-2B0BEC56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C3157-3692-4CA1-8F46-8AF6B1FEE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D65F7-C148-45EE-BB24-4BB938072D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7FAE-9984-44EC-B2CE-62C7699230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40C59-F4A1-45D4-B15E-1F02393B8C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1E4A48-09CE-4D5F-AFD4-4BCBBA7C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F7029-37B7-455D-B8F5-6CCD655B3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20C60-D2AD-41B3-A0A5-33CE92D235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8F96E-AB68-4BB0-9657-480CC8CAFB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5CF0A-DF0A-4D1F-BEDF-1526EFEC35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12CE33-3693-F2FE-1179-3CE810920C44}"/>
              </a:ext>
            </a:extLst>
          </p:cNvPr>
          <p:cNvSpPr>
            <a:spLocks noGrp="1"/>
          </p:cNvSpPr>
          <p:nvPr>
            <p:ph type="sldNum" idx="26"/>
          </p:nvPr>
        </p:nvSpPr>
        <p:spPr>
          <a:xfrm>
            <a:off x="9216660" y="6356350"/>
            <a:ext cx="2743200" cy="365125"/>
          </a:xfrm>
        </p:spPr>
        <p:txBody>
          <a:bodyPr/>
          <a:lstStyle>
            <a:lvl1pPr>
              <a:buNone/>
              <a:defRPr sz="80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1pPr>
          </a:lstStyle>
          <a:p>
            <a:fld id="{1AD6CA63-AF0D-8049-A3D3-C10DC7CEFA53}" type="slidenum">
              <a:t>‹Nº›</a:t>
            </a:fld>
            <a:endParaRPr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ground Logo"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83BA7EF-F283-4FBC-6F04-F7779E5922C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46163" y="662838"/>
            <a:ext cx="2242915" cy="304165"/>
          </a:xfrm>
          <a:prstGeom prst="rect">
            <a:avLst/>
          </a:prstGeom>
        </p:spPr>
        <p:txBody>
          <a:bodyPr anchor="ctr"/>
          <a:lstStyle>
            <a:lvl1pPr>
              <a:buNone/>
              <a:defRPr sz="2700">
                <a:solidFill>
                  <a:srgbClr val="DD2C00"/>
                </a:solidFill>
                <a:latin typeface="Tahoma"/>
                <a:ea typeface="Tahoma"/>
                <a:cs typeface="Tahoma"/>
              </a:defRPr>
            </a:lvl1pPr>
          </a:lstStyle>
          <a:p>
            <a:r>
              <a:t>Headline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A6152B7-87A6-13AF-9BDB-91410A288F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6163" y="1384938"/>
            <a:ext cx="5578671" cy="30416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/>
              <a:buNone/>
              <a:defRPr sz="1500">
                <a:latin typeface="Tahoma"/>
                <a:ea typeface="Tahoma"/>
                <a:cs typeface="Tahoma"/>
              </a:defRPr>
            </a:lvl1pPr>
          </a:lstStyle>
          <a:p>
            <a:pPr marL="0" indent="0" algn="l">
              <a:lnSpc>
                <a:spcPts val="1069"/>
              </a:lnSpc>
              <a:buNone/>
            </a:pPr>
            <a:r>
              <a:rPr sz="12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Every engagement is powered by three proprietary assets a philosophy, a platform, and a measurement framework.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32BE06-8039-9805-88D1-5871A888763F}"/>
              </a:ext>
            </a:extLst>
          </p:cNvPr>
          <p:cNvSpPr>
            <a:spLocks noGrp="1"/>
          </p:cNvSpPr>
          <p:nvPr>
            <p:ph type="sldNum" idx="26"/>
          </p:nvPr>
        </p:nvSpPr>
        <p:spPr>
          <a:xfrm>
            <a:off x="9216660" y="6356350"/>
            <a:ext cx="2743200" cy="365125"/>
          </a:xfrm>
        </p:spPr>
        <p:txBody>
          <a:bodyPr/>
          <a:lstStyle>
            <a:lvl1pPr>
              <a:buNone/>
              <a:defRPr sz="800">
                <a:solidFill>
                  <a:schemeClr val="tx1"/>
                </a:solidFill>
                <a:latin typeface="Tahoma"/>
                <a:ea typeface="Tahoma"/>
                <a:cs typeface="Tahoma"/>
              </a:defRPr>
            </a:lvl1pPr>
          </a:lstStyle>
          <a:p>
            <a:fld id="{48F63A3B-78C7-47BE-AE5E-E10140E04643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B660ED-668C-483C-B265-48A621BD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5BCA-504D-4540-9BFF-63EC944D5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4AE9-807D-4606-9802-C3BFD7BC32A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68D15-9D2F-4735-9847-CFCCE828975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C9BA6-D195-43C0-8EF1-24203F83712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1810C90-0760-C58D-E274-703C94BC6B0C}"/>
              </a:ext>
            </a:extLst>
          </p:cNvPr>
          <p:cNvSpPr>
            <a:spLocks noGrp="1"/>
          </p:cNvSpPr>
          <p:nvPr/>
        </p:nvSpPr>
        <p:spPr>
          <a:xfrm>
            <a:off x="0" y="-38099"/>
            <a:ext cx="12192000" cy="6896100"/>
          </a:xfrm>
          <a:prstGeom prst="rect">
            <a:avLst/>
          </a:prstGeom>
          <a:solidFill>
            <a:srgbClr val="FCF9F3"/>
          </a:solidFill>
        </p:spPr>
        <p:txBody>
          <a:bodyPr/>
          <a:lstStyle/>
          <a:p>
            <a:endParaRPr sz="32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FEF2530-ED9F-A5D5-FF05-3C7AE2DCC8A8}"/>
              </a:ext>
            </a:extLst>
          </p:cNvPr>
          <p:cNvSpPr>
            <a:spLocks noGrp="1"/>
          </p:cNvSpPr>
          <p:nvPr/>
        </p:nvSpPr>
        <p:spPr>
          <a:xfrm rot="10800000">
            <a:off x="2813051" y="-555391"/>
            <a:ext cx="9883140" cy="8115300"/>
          </a:xfrm>
          <a:prstGeom prst="rect">
            <a:avLst/>
          </a:prstGeom>
          <a:noFill/>
        </p:spPr>
        <p:txBody>
          <a:bodyPr/>
          <a:lstStyle/>
          <a:p>
            <a:endParaRPr sz="3200"/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4"/>
          <a:srcRect t="2852" r="15632" b="2122"/>
          <a:stretch>
            <a:fillRect/>
          </a:stretch>
        </p:blipFill>
        <p:spPr>
          <a:xfrm>
            <a:off x="2052056" y="-288174"/>
            <a:ext cx="10151514" cy="7146174"/>
          </a:xfrm>
          <a:prstGeom prst="rect">
            <a:avLst/>
          </a:prstGeom>
        </p:spPr>
      </p:pic>
      <p:pic>
        <p:nvPicPr>
          <p:cNvPr id="23" name="Image 2"/>
          <p:cNvPicPr>
            <a:picLocks noChangeAspect="1"/>
          </p:cNvPicPr>
          <p:nvPr/>
        </p:nvPicPr>
        <p:blipFill>
          <a:blip r:embed="rId5"/>
          <a:srcRect b="552"/>
          <a:stretch/>
        </p:blipFill>
        <p:spPr>
          <a:xfrm>
            <a:off x="1813942" y="-49626"/>
            <a:ext cx="5144393" cy="6957252"/>
          </a:xfrm>
          <a:prstGeom prst="rect">
            <a:avLst/>
          </a:prstGeom>
        </p:spPr>
      </p:pic>
      <p:pic>
        <p:nvPicPr>
          <p:cNvPr id="24" name="Image 3"/>
          <p:cNvPicPr>
            <a:picLocks noChangeAspect="1"/>
          </p:cNvPicPr>
          <p:nvPr/>
        </p:nvPicPr>
        <p:blipFill>
          <a:blip r:embed="rId6"/>
          <a:srcRect r="436" b="990"/>
          <a:stretch/>
        </p:blipFill>
        <p:spPr>
          <a:xfrm>
            <a:off x="-339702" y="-288175"/>
            <a:ext cx="12543272" cy="7157702"/>
          </a:xfrm>
          <a:prstGeom prst="rect">
            <a:avLst/>
          </a:prstGeom>
        </p:spPr>
      </p:pic>
      <p:pic>
        <p:nvPicPr>
          <p:cNvPr id="25" name="Imag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00051"/>
            <a:ext cx="867792" cy="183659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E481C300-E935-91FC-C676-32A76BD2CDC2}"/>
              </a:ext>
            </a:extLst>
          </p:cNvPr>
          <p:cNvSpPr>
            <a:spLocks noGrp="1"/>
          </p:cNvSpPr>
          <p:nvPr/>
        </p:nvSpPr>
        <p:spPr>
          <a:xfrm>
            <a:off x="571501" y="2692401"/>
            <a:ext cx="4857751" cy="16197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3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Más allá del prompt</a:t>
            </a:r>
            <a:endParaRPr sz="3400">
              <a:latin typeface="Tahoma"/>
              <a:ea typeface="Tahoma"/>
              <a:cs typeface="Tahoma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9937CF4-07B6-B322-1601-99B4C8DCE17C}"/>
              </a:ext>
            </a:extLst>
          </p:cNvPr>
          <p:cNvSpPr>
            <a:spLocks noGrp="1"/>
          </p:cNvSpPr>
          <p:nvPr/>
        </p:nvSpPr>
        <p:spPr>
          <a:xfrm>
            <a:off x="571501" y="4416424"/>
            <a:ext cx="4229100" cy="3238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900"/>
              </a:lnSpc>
              <a:buNone/>
            </a:pPr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Arquitecturas para agentes de IA en el ciclo de vida del software</a:t>
            </a:r>
            <a:endParaRPr sz="140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00FBD0DF-B24C-BA70-750A-716C86E800D5}"/>
              </a:ext>
            </a:extLst>
          </p:cNvPr>
          <p:cNvSpPr>
            <a:spLocks noGrp="1"/>
          </p:cNvSpPr>
          <p:nvPr/>
        </p:nvSpPr>
        <p:spPr>
          <a:xfrm>
            <a:off x="571501" y="6020437"/>
            <a:ext cx="1866900" cy="2857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09"/>
              </a:lnSpc>
              <a:buNone/>
            </a:pPr>
            <a:r>
              <a:rPr sz="1200">
                <a:latin typeface="Tahoma"/>
                <a:ea typeface="Tahoma"/>
                <a:cs typeface="Tahoma"/>
              </a:rPr>
              <a:t>Ezequiel Etchecoin · 2026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75550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 l="2965" t="2836" b="43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2893C36-6597-4E2D-A45A-871D08B52878}"/>
              </a:ext>
            </a:extLst>
          </p:cNvPr>
          <p:cNvSpPr>
            <a:spLocks noGrp="1"/>
          </p:cNvSpPr>
          <p:nvPr/>
        </p:nvSpPr>
        <p:spPr>
          <a:xfrm>
            <a:off x="-549699" y="-454026"/>
            <a:ext cx="12741700" cy="7766051"/>
          </a:xfrm>
          <a:prstGeom prst="rect">
            <a:avLst/>
          </a:prstGeom>
          <a:noFill/>
        </p:spPr>
        <p:txBody>
          <a:bodyPr/>
          <a:lstStyle/>
          <a:p>
            <a:endParaRPr sz="3200"/>
          </a:p>
        </p:txBody>
      </p:sp>
      <p:pic>
        <p:nvPicPr>
          <p:cNvPr id="1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EDA64F4A-7748-4901-01F7-62DAC9BAC9AC}"/>
              </a:ext>
            </a:extLst>
          </p:cNvPr>
          <p:cNvSpPr>
            <a:spLocks noGrp="1"/>
          </p:cNvSpPr>
          <p:nvPr/>
        </p:nvSpPr>
        <p:spPr>
          <a:xfrm>
            <a:off x="571501" y="3149665"/>
            <a:ext cx="5010441" cy="30004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20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La pregunta cambió</a:t>
            </a:r>
            <a:endParaRPr sz="2000">
              <a:solidFill>
                <a:srgbClr val="47433B"/>
              </a:solidFill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2851295-16F6-AA2D-59C5-35F0310E3039}"/>
              </a:ext>
            </a:extLst>
          </p:cNvPr>
          <p:cNvSpPr>
            <a:spLocks noGrp="1"/>
          </p:cNvSpPr>
          <p:nvPr/>
        </p:nvSpPr>
        <p:spPr>
          <a:xfrm>
            <a:off x="571501" y="3562223"/>
            <a:ext cx="5010441" cy="26361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Antes: ¿qué instrucción produce mejor código?</a:t>
            </a:r>
          </a:p>
          <a:p>
            <a:pPr>
              <a:lnSpc>
                <a:spcPts val="1347"/>
              </a:lnSpc>
              <a:buNone/>
            </a:pPr>
            <a:endParaRPr sz="1100">
              <a:solidFill>
                <a:srgbClr val="47433B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Ahora: ¿qué información necesita el modelo, qué puede hacer con ella y cómo verificamos el resultado?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EFDA3D4-2739-C50D-FC42-EF14CE40D36A}"/>
              </a:ext>
            </a:extLst>
          </p:cNvPr>
          <p:cNvSpPr>
            <a:spLocks noGrp="1"/>
          </p:cNvSpPr>
          <p:nvPr/>
        </p:nvSpPr>
        <p:spPr>
          <a:xfrm>
            <a:off x="571501" y="583708"/>
            <a:ext cx="5010440" cy="8097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981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Escribir prompts no es construir un sistema</a:t>
            </a:r>
            <a:endParaRPr sz="27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A8578D6-A539-04E1-117F-96C4DE8086F7}"/>
              </a:ext>
            </a:extLst>
          </p:cNvPr>
          <p:cNvSpPr>
            <a:spLocks noGrp="1"/>
          </p:cNvSpPr>
          <p:nvPr/>
        </p:nvSpPr>
        <p:spPr>
          <a:xfrm>
            <a:off x="577851" y="1505961"/>
            <a:ext cx="5004091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prompt inicia la tarea. El contexto, el entorno de ejecución y los ciclos determinan la confiabilidad.</a:t>
            </a:r>
            <a:endParaRPr sz="140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323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CE35EC-3EAF-4177-A944-F820E0766F05}"/>
              </a:ext>
            </a:extLst>
          </p:cNvPr>
          <p:cNvSpPr>
            <a:spLocks noGrp="1"/>
          </p:cNvSpPr>
          <p:nvPr/>
        </p:nvSpPr>
        <p:spPr>
          <a:xfrm>
            <a:off x="571501" y="2419351"/>
            <a:ext cx="2130289" cy="3750509"/>
          </a:xfrm>
          <a:prstGeom prst="roundRect">
            <a:avLst>
              <a:gd name="adj" fmla="val 5698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CB4D3F-2332-4595-8979-A0E442DF2A55}"/>
              </a:ext>
            </a:extLst>
          </p:cNvPr>
          <p:cNvSpPr>
            <a:spLocks noGrp="1"/>
          </p:cNvSpPr>
          <p:nvPr/>
        </p:nvSpPr>
        <p:spPr>
          <a:xfrm>
            <a:off x="5027117" y="2419351"/>
            <a:ext cx="2137791" cy="3750509"/>
          </a:xfrm>
          <a:prstGeom prst="roundRect">
            <a:avLst>
              <a:gd name="adj" fmla="val 4760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4A9BB2-DB3F-48B4-957F-AAF894EF9B12}"/>
              </a:ext>
            </a:extLst>
          </p:cNvPr>
          <p:cNvSpPr>
            <a:spLocks noGrp="1"/>
          </p:cNvSpPr>
          <p:nvPr/>
        </p:nvSpPr>
        <p:spPr>
          <a:xfrm>
            <a:off x="2794316" y="2419351"/>
            <a:ext cx="2130289" cy="3750509"/>
          </a:xfrm>
          <a:prstGeom prst="roundRect">
            <a:avLst>
              <a:gd name="adj" fmla="val 4146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A2C645-B99B-4819-93C2-F1E3E7CAFF07}"/>
              </a:ext>
            </a:extLst>
          </p:cNvPr>
          <p:cNvSpPr>
            <a:spLocks noGrp="1"/>
          </p:cNvSpPr>
          <p:nvPr/>
        </p:nvSpPr>
        <p:spPr>
          <a:xfrm>
            <a:off x="7262417" y="2419351"/>
            <a:ext cx="2130289" cy="3750509"/>
          </a:xfrm>
          <a:prstGeom prst="roundRect">
            <a:avLst>
              <a:gd name="adj" fmla="val 4717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05BADD-5C20-4351-9671-AE344AE12F23}"/>
              </a:ext>
            </a:extLst>
          </p:cNvPr>
          <p:cNvSpPr>
            <a:spLocks noGrp="1"/>
          </p:cNvSpPr>
          <p:nvPr/>
        </p:nvSpPr>
        <p:spPr>
          <a:xfrm>
            <a:off x="9490200" y="2419351"/>
            <a:ext cx="2130289" cy="3750509"/>
          </a:xfrm>
          <a:prstGeom prst="roundRect">
            <a:avLst>
              <a:gd name="adj" fmla="val 4718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E2712B-C95B-4231-9F5D-77116255C62F}"/>
              </a:ext>
            </a:extLst>
          </p:cNvPr>
          <p:cNvSpPr>
            <a:spLocks noGrp="1"/>
          </p:cNvSpPr>
          <p:nvPr/>
        </p:nvSpPr>
        <p:spPr>
          <a:xfrm>
            <a:off x="841548" y="2816904"/>
            <a:ext cx="13144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Prompt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6F12F42-FE71-48F1-8329-744AD4951430}"/>
              </a:ext>
            </a:extLst>
          </p:cNvPr>
          <p:cNvSpPr>
            <a:spLocks noGrp="1"/>
          </p:cNvSpPr>
          <p:nvPr/>
        </p:nvSpPr>
        <p:spPr>
          <a:xfrm>
            <a:off x="841534" y="5614797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Instrucción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A3741C-7509-416D-87C0-05CA1FA17013}"/>
              </a:ext>
            </a:extLst>
          </p:cNvPr>
          <p:cNvSpPr>
            <a:spLocks noGrp="1"/>
          </p:cNvSpPr>
          <p:nvPr/>
        </p:nvSpPr>
        <p:spPr>
          <a:xfrm>
            <a:off x="3069336" y="5614797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Contexto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B22A1E8-3AF2-40AE-AC3C-E6CB47E362DE}"/>
              </a:ext>
            </a:extLst>
          </p:cNvPr>
          <p:cNvSpPr>
            <a:spLocks noGrp="1"/>
          </p:cNvSpPr>
          <p:nvPr/>
        </p:nvSpPr>
        <p:spPr>
          <a:xfrm>
            <a:off x="5297138" y="5614797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Entrega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568694-1F94-4B38-BF8E-B6EF8B6A3A99}"/>
              </a:ext>
            </a:extLst>
          </p:cNvPr>
          <p:cNvSpPr>
            <a:spLocks noGrp="1"/>
          </p:cNvSpPr>
          <p:nvPr/>
        </p:nvSpPr>
        <p:spPr>
          <a:xfrm>
            <a:off x="7532465" y="5614797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Issue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662ED1B-7B4A-4EE6-BABD-D0B0E604D1BF}"/>
              </a:ext>
            </a:extLst>
          </p:cNvPr>
          <p:cNvSpPr>
            <a:spLocks noGrp="1"/>
          </p:cNvSpPr>
          <p:nvPr/>
        </p:nvSpPr>
        <p:spPr>
          <a:xfrm>
            <a:off x="9760268" y="5614797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Workflow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F2971A-14C4-41C7-81ED-951112FD946B}"/>
              </a:ext>
            </a:extLst>
          </p:cNvPr>
          <p:cNvSpPr>
            <a:spLocks noGrp="1"/>
          </p:cNvSpPr>
          <p:nvPr/>
        </p:nvSpPr>
        <p:spPr>
          <a:xfrm>
            <a:off x="3069333" y="2816904"/>
            <a:ext cx="14541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Context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96D7EB5-7978-4F73-A314-1213E1288F8A}"/>
              </a:ext>
            </a:extLst>
          </p:cNvPr>
          <p:cNvSpPr>
            <a:spLocks noGrp="1"/>
          </p:cNvSpPr>
          <p:nvPr/>
        </p:nvSpPr>
        <p:spPr>
          <a:xfrm>
            <a:off x="5297141" y="2816904"/>
            <a:ext cx="15180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Harness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7C9B49-84DB-4270-9A62-7C2C6F1422C5}"/>
              </a:ext>
            </a:extLst>
          </p:cNvPr>
          <p:cNvSpPr>
            <a:spLocks noGrp="1"/>
          </p:cNvSpPr>
          <p:nvPr/>
        </p:nvSpPr>
        <p:spPr>
          <a:xfrm>
            <a:off x="7532441" y="2816904"/>
            <a:ext cx="14795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Loop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33DC860-1FF9-4ED3-BA48-D209A8DF59F2}"/>
              </a:ext>
            </a:extLst>
          </p:cNvPr>
          <p:cNvSpPr>
            <a:spLocks noGrp="1"/>
          </p:cNvSpPr>
          <p:nvPr/>
        </p:nvSpPr>
        <p:spPr>
          <a:xfrm>
            <a:off x="9760248" y="281690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Graph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2BB78A-AFFB-4B79-A32E-7EB2E4267AC1}"/>
              </a:ext>
            </a:extLst>
          </p:cNvPr>
          <p:cNvSpPr>
            <a:spLocks noGrp="1"/>
          </p:cNvSpPr>
          <p:nvPr/>
        </p:nvSpPr>
        <p:spPr>
          <a:xfrm>
            <a:off x="841549" y="3334473"/>
            <a:ext cx="1605217" cy="10253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Define la tarea, las restricciones y el formato esperado.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2653375-4414-4BB1-88DC-1C8D5CF5FE1D}"/>
              </a:ext>
            </a:extLst>
          </p:cNvPr>
          <p:cNvSpPr>
            <a:spLocks noGrp="1"/>
          </p:cNvSpPr>
          <p:nvPr/>
        </p:nvSpPr>
        <p:spPr>
          <a:xfrm>
            <a:off x="3069333" y="3334473"/>
            <a:ext cx="1605217" cy="10253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Selecciona información, ejemplos, memoria y estado relevante.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8850BA-0DFF-4736-83F6-A8483B8E1084}"/>
              </a:ext>
            </a:extLst>
          </p:cNvPr>
          <p:cNvSpPr>
            <a:spLocks noGrp="1"/>
          </p:cNvSpPr>
          <p:nvPr/>
        </p:nvSpPr>
        <p:spPr>
          <a:xfrm>
            <a:off x="5297141" y="3334473"/>
            <a:ext cx="1605217" cy="10253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Conecta contexto, herramientas, reglas y validación.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3B28E42-E600-4D9D-8DF3-71268BB42D21}"/>
              </a:ext>
            </a:extLst>
          </p:cNvPr>
          <p:cNvSpPr>
            <a:spLocks noGrp="1"/>
          </p:cNvSpPr>
          <p:nvPr/>
        </p:nvSpPr>
        <p:spPr>
          <a:xfrm>
            <a:off x="7532441" y="3334473"/>
            <a:ext cx="1605217" cy="10253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Repite acciones hasta alcanzar una salida observable.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5D569D-D990-44BF-AA1C-3FD6B36B9C40}"/>
              </a:ext>
            </a:extLst>
          </p:cNvPr>
          <p:cNvSpPr>
            <a:spLocks noGrp="1"/>
          </p:cNvSpPr>
          <p:nvPr/>
        </p:nvSpPr>
        <p:spPr>
          <a:xfrm>
            <a:off x="9760249" y="3334473"/>
            <a:ext cx="1605217" cy="10253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Coordina roles, dependencias y rutas de validación.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AB95EA0-F0DA-4F08-AD6F-4642FB35493F}"/>
              </a:ext>
            </a:extLst>
          </p:cNvPr>
          <p:cNvSpPr>
            <a:spLocks noGrp="1"/>
          </p:cNvSpPr>
          <p:nvPr/>
        </p:nvSpPr>
        <p:spPr>
          <a:xfrm>
            <a:off x="841549" y="5464764"/>
            <a:ext cx="1605217" cy="0"/>
          </a:xfrm>
          <a:prstGeom prst="line">
            <a:avLst/>
          </a:prstGeom>
          <a:noFill/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53B377C-0EFA-4798-A4F2-D36DECC86832}"/>
              </a:ext>
            </a:extLst>
          </p:cNvPr>
          <p:cNvSpPr>
            <a:spLocks noGrp="1"/>
          </p:cNvSpPr>
          <p:nvPr/>
        </p:nvSpPr>
        <p:spPr>
          <a:xfrm>
            <a:off x="3069333" y="5464764"/>
            <a:ext cx="1605217" cy="0"/>
          </a:xfrm>
          <a:prstGeom prst="line">
            <a:avLst/>
          </a:prstGeom>
          <a:noFill/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534BF89-C8EA-48CB-8F90-79E107A106B9}"/>
              </a:ext>
            </a:extLst>
          </p:cNvPr>
          <p:cNvSpPr>
            <a:spLocks noGrp="1"/>
          </p:cNvSpPr>
          <p:nvPr/>
        </p:nvSpPr>
        <p:spPr>
          <a:xfrm>
            <a:off x="5297141" y="5464764"/>
            <a:ext cx="1605217" cy="0"/>
          </a:xfrm>
          <a:prstGeom prst="line">
            <a:avLst/>
          </a:prstGeom>
          <a:noFill/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C2647E8-DDCF-4232-A826-B1741764E71F}"/>
              </a:ext>
            </a:extLst>
          </p:cNvPr>
          <p:cNvSpPr>
            <a:spLocks noGrp="1"/>
          </p:cNvSpPr>
          <p:nvPr/>
        </p:nvSpPr>
        <p:spPr>
          <a:xfrm>
            <a:off x="7524949" y="5464764"/>
            <a:ext cx="1605217" cy="0"/>
          </a:xfrm>
          <a:prstGeom prst="line">
            <a:avLst/>
          </a:prstGeom>
          <a:noFill/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495A352-569C-4064-9C06-E14DC3AF4BF4}"/>
              </a:ext>
            </a:extLst>
          </p:cNvPr>
          <p:cNvSpPr>
            <a:spLocks noGrp="1"/>
          </p:cNvSpPr>
          <p:nvPr/>
        </p:nvSpPr>
        <p:spPr>
          <a:xfrm>
            <a:off x="9752757" y="5464764"/>
            <a:ext cx="1605217" cy="0"/>
          </a:xfrm>
          <a:prstGeom prst="line">
            <a:avLst/>
          </a:prstGeom>
          <a:noFill/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9913E55-AE2A-46CD-AC6F-9A41B9FD7B01}"/>
              </a:ext>
            </a:extLst>
          </p:cNvPr>
          <p:cNvSpPr>
            <a:spLocks noGrp="1"/>
          </p:cNvSpPr>
          <p:nvPr/>
        </p:nvSpPr>
        <p:spPr>
          <a:xfrm>
            <a:off x="841548" y="4908551"/>
            <a:ext cx="16002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347"/>
              </a:lnSpc>
              <a:buNone/>
            </a:pPr>
            <a:r>
              <a:rPr sz="54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1.</a:t>
            </a:r>
            <a:endParaRPr sz="5400">
              <a:latin typeface="Tahoma"/>
              <a:ea typeface="Tahoma"/>
              <a:cs typeface="Tahoma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11CFFBF-56A4-4E6D-9E6F-07BA7685333E}"/>
              </a:ext>
            </a:extLst>
          </p:cNvPr>
          <p:cNvSpPr>
            <a:spLocks noGrp="1"/>
          </p:cNvSpPr>
          <p:nvPr/>
        </p:nvSpPr>
        <p:spPr>
          <a:xfrm>
            <a:off x="3069332" y="4908551"/>
            <a:ext cx="16002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347"/>
              </a:lnSpc>
              <a:buNone/>
            </a:pPr>
            <a:r>
              <a:rPr sz="54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2.</a:t>
            </a:r>
            <a:endParaRPr sz="5400">
              <a:latin typeface="Tahoma"/>
              <a:ea typeface="Tahoma"/>
              <a:cs typeface="Tahoma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9FB1FFC-AEC9-42AD-928A-AB7F067D52E1}"/>
              </a:ext>
            </a:extLst>
          </p:cNvPr>
          <p:cNvSpPr>
            <a:spLocks noGrp="1"/>
          </p:cNvSpPr>
          <p:nvPr/>
        </p:nvSpPr>
        <p:spPr>
          <a:xfrm>
            <a:off x="5302249" y="4908551"/>
            <a:ext cx="16002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347"/>
              </a:lnSpc>
              <a:buNone/>
            </a:pPr>
            <a:r>
              <a:rPr sz="54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3.</a:t>
            </a:r>
            <a:endParaRPr sz="5400">
              <a:latin typeface="Tahoma"/>
              <a:ea typeface="Tahoma"/>
              <a:cs typeface="Tahoma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A0134FF-D33F-45C7-B89F-F3B4A9B00B7F}"/>
              </a:ext>
            </a:extLst>
          </p:cNvPr>
          <p:cNvSpPr>
            <a:spLocks noGrp="1"/>
          </p:cNvSpPr>
          <p:nvPr/>
        </p:nvSpPr>
        <p:spPr>
          <a:xfrm>
            <a:off x="7522567" y="4908551"/>
            <a:ext cx="1606551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347"/>
              </a:lnSpc>
              <a:buNone/>
            </a:pPr>
            <a:r>
              <a:rPr sz="54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4.</a:t>
            </a:r>
            <a:endParaRPr sz="5400">
              <a:latin typeface="Tahoma"/>
              <a:ea typeface="Tahoma"/>
              <a:cs typeface="Tahoma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83C4CD0-F218-4109-AB43-AEE237960D30}"/>
              </a:ext>
            </a:extLst>
          </p:cNvPr>
          <p:cNvSpPr>
            <a:spLocks noGrp="1"/>
          </p:cNvSpPr>
          <p:nvPr/>
        </p:nvSpPr>
        <p:spPr>
          <a:xfrm>
            <a:off x="9745242" y="4909689"/>
            <a:ext cx="1575213" cy="5550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347"/>
              </a:lnSpc>
              <a:buNone/>
            </a:pPr>
            <a:r>
              <a:rPr sz="54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5.</a:t>
            </a:r>
            <a:endParaRPr sz="5400">
              <a:latin typeface="Tahoma"/>
              <a:ea typeface="Tahoma"/>
              <a:cs typeface="Tahoma"/>
            </a:endParaRPr>
          </a:p>
        </p:txBody>
      </p:sp>
      <p:pic>
        <p:nvPicPr>
          <p:cNvPr id="6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6" name="Text 6">
            <a:extLst>
              <a:ext uri="{FF2B5EF4-FFF2-40B4-BE49-F238E27FC236}">
                <a16:creationId xmlns:a16="http://schemas.microsoft.com/office/drawing/2014/main" id="{CDC314E1-0341-0686-ACE8-6415444C43E1}"/>
              </a:ext>
            </a:extLst>
          </p:cNvPr>
          <p:cNvSpPr>
            <a:spLocks noGrp="1"/>
          </p:cNvSpPr>
          <p:nvPr/>
        </p:nvSpPr>
        <p:spPr>
          <a:xfrm>
            <a:off x="571501" y="583709"/>
            <a:ext cx="4991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4013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Evolución de la arquitectura</a:t>
            </a:r>
            <a:endParaRPr sz="270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C9DDB942-E9CF-434D-6854-CE47544FF69A}"/>
              </a:ext>
            </a:extLst>
          </p:cNvPr>
          <p:cNvSpPr>
            <a:spLocks noGrp="1"/>
          </p:cNvSpPr>
          <p:nvPr/>
        </p:nvSpPr>
        <p:spPr>
          <a:xfrm>
            <a:off x="577851" y="1192437"/>
            <a:ext cx="4808188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Cada etapa resuelve un límite de la anterior y cambia la unidad que diseñamos.</a:t>
            </a:r>
            <a:endParaRPr sz="140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0093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 r="-1"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9933BA6-B705-4165-852D-745A1D9E0C78}"/>
              </a:ext>
            </a:extLst>
          </p:cNvPr>
          <p:cNvSpPr>
            <a:spLocks noGrp="1"/>
          </p:cNvSpPr>
          <p:nvPr/>
        </p:nvSpPr>
        <p:spPr>
          <a:xfrm>
            <a:off x="1066800" y="2146301"/>
            <a:ext cx="5340349" cy="20637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Prompt</a:t>
            </a:r>
            <a:endParaRPr sz="8000"/>
          </a:p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engineering</a:t>
            </a:r>
            <a:endParaRPr sz="8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19B78BC-08CA-4A85-95D8-D158707E9EC1}"/>
              </a:ext>
            </a:extLst>
          </p:cNvPr>
          <p:cNvSpPr>
            <a:spLocks noGrp="1"/>
          </p:cNvSpPr>
          <p:nvPr/>
        </p:nvSpPr>
        <p:spPr>
          <a:xfrm>
            <a:off x="1066800" y="4503066"/>
            <a:ext cx="5340413" cy="6744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20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humano divide el problema y guía cada transformación.</a:t>
            </a:r>
            <a:endParaRPr sz="2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128170E-DD67-45D2-8ABE-8CFD167D0985}"/>
              </a:ext>
            </a:extLst>
          </p:cNvPr>
          <p:cNvSpPr>
            <a:spLocks noGrp="1"/>
          </p:cNvSpPr>
          <p:nvPr/>
        </p:nvSpPr>
        <p:spPr>
          <a:xfrm>
            <a:off x="1066800" y="5963147"/>
            <a:ext cx="2312504" cy="277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Demo en vivo · Visual Studio + Copilot Chat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BE845C0-FD96-4D73-B33E-55CD74FD49FC}"/>
              </a:ext>
            </a:extLst>
          </p:cNvPr>
          <p:cNvSpPr>
            <a:spLocks noGrp="1"/>
          </p:cNvSpPr>
          <p:nvPr/>
        </p:nvSpPr>
        <p:spPr>
          <a:xfrm>
            <a:off x="1066800" y="5709220"/>
            <a:ext cx="11125200" cy="0"/>
          </a:xfrm>
          <a:prstGeom prst="line">
            <a:avLst/>
          </a:prstGeom>
          <a:noFill/>
          <a:ln w="5654">
            <a:solidFill>
              <a:srgbClr val="B2A89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</p:spTree>
    <p:extLst>
      <p:ext uri="{BB962C8B-B14F-4D97-AF65-F5344CB8AC3E}">
        <p14:creationId xmlns:p14="http://schemas.microsoft.com/office/powerpoint/2010/main" val="21568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8B4DBD-077A-4D90-856D-32417B219C3C}"/>
              </a:ext>
            </a:extLst>
          </p:cNvPr>
          <p:cNvSpPr>
            <a:spLocks noGrp="1"/>
          </p:cNvSpPr>
          <p:nvPr/>
        </p:nvSpPr>
        <p:spPr>
          <a:xfrm>
            <a:off x="571500" y="2559051"/>
            <a:ext cx="3515125" cy="3515125"/>
          </a:xfrm>
          <a:prstGeom prst="ellipse">
            <a:avLst/>
          </a:prstGeom>
          <a:solidFill>
            <a:srgbClr val="FCF9F3"/>
          </a:solidFill>
          <a:ln w="5385">
            <a:solidFill>
              <a:srgbClr val="E0DACE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764C5B-8FC4-40C0-A6BA-9AC91C2C68CE}"/>
              </a:ext>
            </a:extLst>
          </p:cNvPr>
          <p:cNvSpPr>
            <a:spLocks noGrp="1"/>
          </p:cNvSpPr>
          <p:nvPr/>
        </p:nvSpPr>
        <p:spPr>
          <a:xfrm>
            <a:off x="4338427" y="2559051"/>
            <a:ext cx="3515125" cy="3515125"/>
          </a:xfrm>
          <a:prstGeom prst="ellipse">
            <a:avLst/>
          </a:prstGeom>
          <a:solidFill>
            <a:srgbClr val="FCF9F3"/>
          </a:solidFill>
          <a:ln w="5385">
            <a:solidFill>
              <a:srgbClr val="E0DACE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CAD4A6-E21E-4B16-90ED-3F9517D19DB4}"/>
              </a:ext>
            </a:extLst>
          </p:cNvPr>
          <p:cNvSpPr>
            <a:spLocks noGrp="1"/>
          </p:cNvSpPr>
          <p:nvPr/>
        </p:nvSpPr>
        <p:spPr>
          <a:xfrm>
            <a:off x="8105379" y="2559051"/>
            <a:ext cx="3515125" cy="3515125"/>
          </a:xfrm>
          <a:prstGeom prst="ellipse">
            <a:avLst/>
          </a:prstGeom>
          <a:solidFill>
            <a:srgbClr val="FCF9F3"/>
          </a:solidFill>
          <a:ln w="5385">
            <a:solidFill>
              <a:srgbClr val="E0DACE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BA0A5E8C-2998-4785-8295-315CBFFEBC50}"/>
              </a:ext>
            </a:extLst>
          </p:cNvPr>
          <p:cNvSpPr>
            <a:spLocks noGrp="1"/>
          </p:cNvSpPr>
          <p:nvPr/>
        </p:nvSpPr>
        <p:spPr>
          <a:xfrm>
            <a:off x="965200" y="3835400"/>
            <a:ext cx="1009651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57"/>
              </a:lnSpc>
              <a:buNone/>
            </a:pPr>
            <a:r>
              <a:rPr sz="7400">
                <a:solidFill>
                  <a:srgbClr val="EBE6D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1.</a:t>
            </a:r>
            <a:endParaRPr sz="7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976B785-B45B-4138-B62D-4446F290E2AC}"/>
              </a:ext>
            </a:extLst>
          </p:cNvPr>
          <p:cNvSpPr>
            <a:spLocks noGrp="1"/>
          </p:cNvSpPr>
          <p:nvPr/>
        </p:nvSpPr>
        <p:spPr>
          <a:xfrm>
            <a:off x="4730751" y="3835400"/>
            <a:ext cx="9779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57"/>
              </a:lnSpc>
              <a:buNone/>
            </a:pPr>
            <a:r>
              <a:rPr sz="7400">
                <a:solidFill>
                  <a:srgbClr val="EBE6D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2.</a:t>
            </a:r>
            <a:endParaRPr sz="7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DC72D6-109D-4F88-8831-0211687222E6}"/>
              </a:ext>
            </a:extLst>
          </p:cNvPr>
          <p:cNvSpPr>
            <a:spLocks noGrp="1"/>
          </p:cNvSpPr>
          <p:nvPr/>
        </p:nvSpPr>
        <p:spPr>
          <a:xfrm>
            <a:off x="8496301" y="3835400"/>
            <a:ext cx="971551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57"/>
              </a:lnSpc>
              <a:buNone/>
            </a:pPr>
            <a:r>
              <a:rPr sz="7400">
                <a:solidFill>
                  <a:srgbClr val="EBE6D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3.</a:t>
            </a:r>
            <a:endParaRPr sz="7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C1888E8-390B-4910-9568-F2E3CECFB601}"/>
              </a:ext>
            </a:extLst>
          </p:cNvPr>
          <p:cNvSpPr>
            <a:spLocks noGrp="1"/>
          </p:cNvSpPr>
          <p:nvPr/>
        </p:nvSpPr>
        <p:spPr>
          <a:xfrm>
            <a:off x="1784351" y="3530771"/>
            <a:ext cx="1949451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Seleccionar</a:t>
            </a:r>
            <a:endParaRPr sz="1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CFE7D11-D05A-44D3-8949-FDA3902846AD}"/>
              </a:ext>
            </a:extLst>
          </p:cNvPr>
          <p:cNvSpPr>
            <a:spLocks noGrp="1"/>
          </p:cNvSpPr>
          <p:nvPr/>
        </p:nvSpPr>
        <p:spPr>
          <a:xfrm>
            <a:off x="1784351" y="3925575"/>
            <a:ext cx="1949451" cy="1276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Objetivo, código, ejemplos y restricciones relevantes para la decisión actual.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4A06CA9-CC69-474D-AAE5-059592211C93}"/>
              </a:ext>
            </a:extLst>
          </p:cNvPr>
          <p:cNvSpPr>
            <a:spLocks noGrp="1"/>
          </p:cNvSpPr>
          <p:nvPr/>
        </p:nvSpPr>
        <p:spPr>
          <a:xfrm>
            <a:off x="5549900" y="3530771"/>
            <a:ext cx="195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Organizar</a:t>
            </a:r>
            <a:endParaRPr sz="14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7E8DDFE-E7CC-45FB-8C15-3F0C1A9310A2}"/>
              </a:ext>
            </a:extLst>
          </p:cNvPr>
          <p:cNvSpPr>
            <a:spLocks noGrp="1"/>
          </p:cNvSpPr>
          <p:nvPr/>
        </p:nvSpPr>
        <p:spPr>
          <a:xfrm>
            <a:off x="9315451" y="3530771"/>
            <a:ext cx="195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Actualizar</a:t>
            </a:r>
            <a:endParaRPr sz="1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8286170-8FC1-418C-AD86-DA14FEDCAFE2}"/>
              </a:ext>
            </a:extLst>
          </p:cNvPr>
          <p:cNvSpPr>
            <a:spLocks noGrp="1"/>
          </p:cNvSpPr>
          <p:nvPr/>
        </p:nvSpPr>
        <p:spPr>
          <a:xfrm>
            <a:off x="5549900" y="3925575"/>
            <a:ext cx="1955800" cy="1276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Priorizar fuentes, memoria y estado sin saturar la ventana de contexto.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1E9101E-A049-4834-9F4E-37F01011E52B}"/>
              </a:ext>
            </a:extLst>
          </p:cNvPr>
          <p:cNvSpPr>
            <a:spLocks noGrp="1"/>
          </p:cNvSpPr>
          <p:nvPr/>
        </p:nvSpPr>
        <p:spPr>
          <a:xfrm>
            <a:off x="9315451" y="3925575"/>
            <a:ext cx="1955800" cy="1276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Incorporar resultados de herramientas y decisiones del trabajo en curso.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C04798C-021F-6C81-DF61-F135C863DB9C}"/>
              </a:ext>
            </a:extLst>
          </p:cNvPr>
          <p:cNvSpPr>
            <a:spLocks noGrp="1"/>
          </p:cNvSpPr>
          <p:nvPr/>
        </p:nvSpPr>
        <p:spPr>
          <a:xfrm>
            <a:off x="571501" y="583709"/>
            <a:ext cx="4991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4013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Context engineering</a:t>
            </a:r>
            <a:endParaRPr sz="270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EF1667B-4A75-FFEC-B3D7-55E36573F9C8}"/>
              </a:ext>
            </a:extLst>
          </p:cNvPr>
          <p:cNvSpPr>
            <a:spLocks noGrp="1"/>
          </p:cNvSpPr>
          <p:nvPr/>
        </p:nvSpPr>
        <p:spPr>
          <a:xfrm>
            <a:off x="577851" y="1192437"/>
            <a:ext cx="4449253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Diseña la información que el modelo recibe en cada momento.</a:t>
            </a:r>
            <a:endParaRPr sz="140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50771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4B29154-BBB5-4287-7F3D-0EAC66DC20B1}"/>
              </a:ext>
            </a:extLst>
          </p:cNvPr>
          <p:cNvSpPr>
            <a:spLocks noGrp="1"/>
          </p:cNvSpPr>
          <p:nvPr/>
        </p:nvSpPr>
        <p:spPr>
          <a:xfrm>
            <a:off x="0" y="-38099"/>
            <a:ext cx="12192000" cy="6896100"/>
          </a:xfrm>
          <a:prstGeom prst="rect">
            <a:avLst/>
          </a:prstGeom>
          <a:solidFill>
            <a:srgbClr val="FCF9F3"/>
          </a:solidFill>
        </p:spPr>
        <p:txBody>
          <a:bodyPr/>
          <a:lstStyle/>
          <a:p>
            <a:endParaRPr sz="320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50CE0D60-4F48-1455-73C9-C6D8C34B932C}"/>
              </a:ext>
            </a:extLst>
          </p:cNvPr>
          <p:cNvSpPr>
            <a:spLocks noGrp="1"/>
          </p:cNvSpPr>
          <p:nvPr/>
        </p:nvSpPr>
        <p:spPr>
          <a:xfrm>
            <a:off x="1066800" y="5963147"/>
            <a:ext cx="2312504" cy="277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Demo en vivo · producto + tests + entrega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345A19E2-07A7-8D6D-CCAE-9E3B8CEA8C67}"/>
              </a:ext>
            </a:extLst>
          </p:cNvPr>
          <p:cNvSpPr>
            <a:spLocks noGrp="1"/>
          </p:cNvSpPr>
          <p:nvPr/>
        </p:nvSpPr>
        <p:spPr>
          <a:xfrm>
            <a:off x="1066800" y="2146301"/>
            <a:ext cx="5340349" cy="20637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Harness</a:t>
            </a:r>
            <a:endParaRPr sz="8000"/>
          </a:p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engineering</a:t>
            </a:r>
            <a:endParaRPr sz="800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5DEC0D9-AB00-7592-5B31-597F7F0B0672}"/>
              </a:ext>
            </a:extLst>
          </p:cNvPr>
          <p:cNvSpPr>
            <a:spLocks noGrp="1"/>
          </p:cNvSpPr>
          <p:nvPr/>
        </p:nvSpPr>
        <p:spPr>
          <a:xfrm>
            <a:off x="1066800" y="4503066"/>
            <a:ext cx="5340413" cy="6744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20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Convierte el contexto en capacidad operativa mediante herramientas, reglas y validación.</a:t>
            </a:r>
            <a:endParaRPr sz="2000"/>
          </a:p>
        </p:txBody>
      </p:sp>
      <p:pic>
        <p:nvPicPr>
          <p:cNvPr id="31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1" r="321"/>
          <a:stretch/>
        </p:blipFill>
        <p:spPr>
          <a:xfrm>
            <a:off x="10750551" y="372671"/>
            <a:ext cx="867792" cy="183659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0A511EB6-97B8-DE6F-0463-6E2219C28D1B}"/>
              </a:ext>
            </a:extLst>
          </p:cNvPr>
          <p:cNvSpPr>
            <a:spLocks noGrp="1"/>
          </p:cNvSpPr>
          <p:nvPr/>
        </p:nvSpPr>
        <p:spPr>
          <a:xfrm>
            <a:off x="1066800" y="5709220"/>
            <a:ext cx="11125200" cy="0"/>
          </a:xfrm>
          <a:prstGeom prst="line">
            <a:avLst/>
          </a:prstGeom>
          <a:noFill/>
          <a:ln w="5654">
            <a:solidFill>
              <a:srgbClr val="B2A89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</p:spTree>
    <p:extLst>
      <p:ext uri="{BB962C8B-B14F-4D97-AF65-F5344CB8AC3E}">
        <p14:creationId xmlns:p14="http://schemas.microsoft.com/office/powerpoint/2010/main" val="374221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CA09645-D8B8-44AD-9D27-432F9381530B}"/>
              </a:ext>
            </a:extLst>
          </p:cNvPr>
          <p:cNvSpPr>
            <a:spLocks noGrp="1"/>
          </p:cNvSpPr>
          <p:nvPr/>
        </p:nvSpPr>
        <p:spPr>
          <a:xfrm>
            <a:off x="571500" y="2616200"/>
            <a:ext cx="2670363" cy="3658091"/>
          </a:xfrm>
          <a:prstGeom prst="roundRect">
            <a:avLst>
              <a:gd name="adj" fmla="val 4789"/>
            </a:avLst>
          </a:prstGeom>
          <a:solidFill>
            <a:srgbClr val="F7F4ED"/>
          </a:solidFill>
        </p:spPr>
        <p:txBody>
          <a:bodyPr/>
          <a:lstStyle/>
          <a:p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A66A65-EC27-43C1-A642-3736F628ECD3}"/>
              </a:ext>
            </a:extLst>
          </p:cNvPr>
          <p:cNvSpPr>
            <a:spLocks noGrp="1"/>
          </p:cNvSpPr>
          <p:nvPr/>
        </p:nvSpPr>
        <p:spPr>
          <a:xfrm>
            <a:off x="6152257" y="2616200"/>
            <a:ext cx="2677864" cy="3658091"/>
          </a:xfrm>
          <a:prstGeom prst="roundRect">
            <a:avLst>
              <a:gd name="adj" fmla="val 4818"/>
            </a:avLst>
          </a:prstGeom>
          <a:solidFill>
            <a:srgbClr val="F7F4ED"/>
          </a:solidFill>
        </p:spPr>
        <p:txBody>
          <a:bodyPr/>
          <a:lstStyle/>
          <a:p>
            <a:endParaRPr sz="3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BFD362-A2D9-4E62-A62E-CF937752F47C}"/>
              </a:ext>
            </a:extLst>
          </p:cNvPr>
          <p:cNvSpPr>
            <a:spLocks noGrp="1"/>
          </p:cNvSpPr>
          <p:nvPr/>
        </p:nvSpPr>
        <p:spPr>
          <a:xfrm>
            <a:off x="3361879" y="2616200"/>
            <a:ext cx="2670363" cy="3658091"/>
          </a:xfrm>
          <a:prstGeom prst="roundRect">
            <a:avLst>
              <a:gd name="adj" fmla="val 5112"/>
            </a:avLst>
          </a:prstGeom>
          <a:solidFill>
            <a:srgbClr val="F7F4ED"/>
          </a:solidFill>
        </p:spPr>
        <p:txBody>
          <a:bodyPr/>
          <a:lstStyle/>
          <a:p>
            <a:endParaRPr sz="3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6BFBD0-DFAB-48FD-81AB-C1844B457A68}"/>
              </a:ext>
            </a:extLst>
          </p:cNvPr>
          <p:cNvSpPr>
            <a:spLocks noGrp="1"/>
          </p:cNvSpPr>
          <p:nvPr/>
        </p:nvSpPr>
        <p:spPr>
          <a:xfrm>
            <a:off x="8950127" y="2616200"/>
            <a:ext cx="2670363" cy="3658091"/>
          </a:xfrm>
          <a:prstGeom prst="roundRect">
            <a:avLst>
              <a:gd name="adj" fmla="val 4789"/>
            </a:avLst>
          </a:prstGeom>
          <a:solidFill>
            <a:srgbClr val="F7F4ED"/>
          </a:solidFill>
        </p:spPr>
        <p:txBody>
          <a:bodyPr/>
          <a:lstStyle/>
          <a:p>
            <a:endParaRPr sz="3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74C5E3-4395-4CBA-BA20-04A4EAA5B167}"/>
              </a:ext>
            </a:extLst>
          </p:cNvPr>
          <p:cNvSpPr>
            <a:spLocks noGrp="1"/>
          </p:cNvSpPr>
          <p:nvPr/>
        </p:nvSpPr>
        <p:spPr>
          <a:xfrm>
            <a:off x="841523" y="4208822"/>
            <a:ext cx="2115287" cy="2179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Contexto</a:t>
            </a:r>
            <a:endParaRPr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63D7917-6DE9-4A5A-99B4-B232393C7840}"/>
              </a:ext>
            </a:extLst>
          </p:cNvPr>
          <p:cNvSpPr>
            <a:spLocks noGrp="1"/>
          </p:cNvSpPr>
          <p:nvPr/>
        </p:nvSpPr>
        <p:spPr>
          <a:xfrm>
            <a:off x="6422280" y="4208822"/>
            <a:ext cx="2115287" cy="2179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Reglas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08C8A1-9D32-486B-AE89-8AFAA3254056}"/>
              </a:ext>
            </a:extLst>
          </p:cNvPr>
          <p:cNvSpPr>
            <a:spLocks noGrp="1"/>
          </p:cNvSpPr>
          <p:nvPr/>
        </p:nvSpPr>
        <p:spPr>
          <a:xfrm>
            <a:off x="3631903" y="4208822"/>
            <a:ext cx="2115287" cy="2179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Herramientas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FC80B5-6FB1-41DF-BBF8-4E2D7820F2FD}"/>
              </a:ext>
            </a:extLst>
          </p:cNvPr>
          <p:cNvSpPr>
            <a:spLocks noGrp="1"/>
          </p:cNvSpPr>
          <p:nvPr/>
        </p:nvSpPr>
        <p:spPr>
          <a:xfrm>
            <a:off x="9212661" y="4208822"/>
            <a:ext cx="2115287" cy="2179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Validación</a:t>
            </a:r>
            <a:endParaRPr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19EC8B2-332F-4A5F-BC78-BCCD23BB2258}"/>
              </a:ext>
            </a:extLst>
          </p:cNvPr>
          <p:cNvSpPr>
            <a:spLocks noGrp="1"/>
          </p:cNvSpPr>
          <p:nvPr/>
        </p:nvSpPr>
        <p:spPr>
          <a:xfrm>
            <a:off x="841525" y="4603970"/>
            <a:ext cx="2115287" cy="12751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Objetivo, repositorio, convenciones, memoria y estado actual de la tarea.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52BFA74-3883-4ED7-9EA2-3B2A1F30C122}"/>
              </a:ext>
            </a:extLst>
          </p:cNvPr>
          <p:cNvSpPr>
            <a:spLocks noGrp="1"/>
          </p:cNvSpPr>
          <p:nvPr/>
        </p:nvSpPr>
        <p:spPr>
          <a:xfrm>
            <a:off x="6422282" y="4603970"/>
            <a:ext cx="2115287" cy="12751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Restricciones, límites, definición de terminado y permisos.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05AEB69-AEEC-4DA4-B37B-958D177069D3}"/>
              </a:ext>
            </a:extLst>
          </p:cNvPr>
          <p:cNvSpPr>
            <a:spLocks noGrp="1"/>
          </p:cNvSpPr>
          <p:nvPr/>
        </p:nvSpPr>
        <p:spPr>
          <a:xfrm>
            <a:off x="3631903" y="4603970"/>
            <a:ext cx="2115287" cy="12751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Editor, terminal, archivos, tests y control de versiones.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3ABC3D4-FBFF-4BB9-9821-508A4DD58881}"/>
              </a:ext>
            </a:extLst>
          </p:cNvPr>
          <p:cNvSpPr>
            <a:spLocks noGrp="1"/>
          </p:cNvSpPr>
          <p:nvPr/>
        </p:nvSpPr>
        <p:spPr>
          <a:xfrm>
            <a:off x="9212661" y="4603970"/>
            <a:ext cx="2115287" cy="12751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Compilación, unit tests y evidencia antes de aceptar el resultado.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E7E2349-48EB-47A8-9592-78AC2B2889A0}"/>
              </a:ext>
            </a:extLst>
          </p:cNvPr>
          <p:cNvSpPr>
            <a:spLocks noGrp="1"/>
          </p:cNvSpPr>
          <p:nvPr/>
        </p:nvSpPr>
        <p:spPr>
          <a:xfrm>
            <a:off x="841525" y="2863734"/>
            <a:ext cx="1507705" cy="304167"/>
          </a:xfrm>
          <a:prstGeom prst="roundRect">
            <a:avLst>
              <a:gd name="adj" fmla="val 284093"/>
            </a:avLst>
          </a:prstGeom>
          <a:solidFill>
            <a:srgbClr val="F0ECE4"/>
          </a:solidFill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8239961-D4D2-42CE-B019-5A1207E38003}"/>
              </a:ext>
            </a:extLst>
          </p:cNvPr>
          <p:cNvSpPr>
            <a:spLocks noGrp="1"/>
          </p:cNvSpPr>
          <p:nvPr/>
        </p:nvSpPr>
        <p:spPr>
          <a:xfrm>
            <a:off x="1071514" y="2934893"/>
            <a:ext cx="1047751" cy="1841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347"/>
              </a:lnSpc>
              <a:buNone/>
            </a:pPr>
            <a:r>
              <a:rPr sz="10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01</a:t>
            </a:r>
            <a:endParaRPr sz="1000">
              <a:solidFill>
                <a:srgbClr val="47433B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855A698-3BD1-4F86-B4AF-1758B05DC7A6}"/>
              </a:ext>
            </a:extLst>
          </p:cNvPr>
          <p:cNvSpPr>
            <a:spLocks noGrp="1"/>
          </p:cNvSpPr>
          <p:nvPr/>
        </p:nvSpPr>
        <p:spPr>
          <a:xfrm>
            <a:off x="6422282" y="2863734"/>
            <a:ext cx="1507705" cy="304167"/>
          </a:xfrm>
          <a:prstGeom prst="roundRect">
            <a:avLst>
              <a:gd name="adj" fmla="val 284093"/>
            </a:avLst>
          </a:prstGeom>
          <a:solidFill>
            <a:srgbClr val="F0ECE4"/>
          </a:solidFill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D8787B0-CCE3-4500-AAD2-07D7F300D343}"/>
              </a:ext>
            </a:extLst>
          </p:cNvPr>
          <p:cNvSpPr>
            <a:spLocks noGrp="1"/>
          </p:cNvSpPr>
          <p:nvPr/>
        </p:nvSpPr>
        <p:spPr>
          <a:xfrm>
            <a:off x="6652270" y="2934893"/>
            <a:ext cx="1047751" cy="1841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347"/>
              </a:lnSpc>
              <a:buNone/>
            </a:pPr>
            <a:r>
              <a:rPr sz="10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03</a:t>
            </a:r>
            <a:endParaRPr sz="1000">
              <a:solidFill>
                <a:srgbClr val="47433B"/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1A873F6-08E6-4D0B-B027-36E646BD35F1}"/>
              </a:ext>
            </a:extLst>
          </p:cNvPr>
          <p:cNvSpPr>
            <a:spLocks noGrp="1"/>
          </p:cNvSpPr>
          <p:nvPr/>
        </p:nvSpPr>
        <p:spPr>
          <a:xfrm>
            <a:off x="3631904" y="2863734"/>
            <a:ext cx="1507705" cy="304167"/>
          </a:xfrm>
          <a:prstGeom prst="roundRect">
            <a:avLst>
              <a:gd name="adj" fmla="val 284093"/>
            </a:avLst>
          </a:prstGeom>
          <a:solidFill>
            <a:srgbClr val="F0ECE4"/>
          </a:solidFill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78ED3FF-BA30-4078-8DAC-4757327C0D3B}"/>
              </a:ext>
            </a:extLst>
          </p:cNvPr>
          <p:cNvSpPr>
            <a:spLocks noGrp="1"/>
          </p:cNvSpPr>
          <p:nvPr/>
        </p:nvSpPr>
        <p:spPr>
          <a:xfrm>
            <a:off x="3861893" y="2934893"/>
            <a:ext cx="1047751" cy="1841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347"/>
              </a:lnSpc>
              <a:buNone/>
            </a:pPr>
            <a:r>
              <a:rPr sz="10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02</a:t>
            </a:r>
            <a:endParaRPr sz="1000">
              <a:solidFill>
                <a:srgbClr val="47433B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8001F93-5F38-4D13-9F2E-5F9D88AB845C}"/>
              </a:ext>
            </a:extLst>
          </p:cNvPr>
          <p:cNvSpPr>
            <a:spLocks noGrp="1"/>
          </p:cNvSpPr>
          <p:nvPr/>
        </p:nvSpPr>
        <p:spPr>
          <a:xfrm>
            <a:off x="9212661" y="2863734"/>
            <a:ext cx="1507705" cy="304167"/>
          </a:xfrm>
          <a:prstGeom prst="roundRect">
            <a:avLst>
              <a:gd name="adj" fmla="val 284093"/>
            </a:avLst>
          </a:prstGeom>
          <a:solidFill>
            <a:srgbClr val="F0ECE4"/>
          </a:solidFill>
          <a:ln w="5344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CE7C964-E512-4CC8-9D24-A939E1619082}"/>
              </a:ext>
            </a:extLst>
          </p:cNvPr>
          <p:cNvSpPr>
            <a:spLocks noGrp="1"/>
          </p:cNvSpPr>
          <p:nvPr/>
        </p:nvSpPr>
        <p:spPr>
          <a:xfrm>
            <a:off x="9442649" y="2934893"/>
            <a:ext cx="1047751" cy="1841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347"/>
              </a:lnSpc>
              <a:buNone/>
            </a:pPr>
            <a:r>
              <a:rPr sz="10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04</a:t>
            </a:r>
            <a:endParaRPr sz="1000">
              <a:solidFill>
                <a:srgbClr val="47433B"/>
              </a:solidFill>
            </a:endParaRPr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rcRect r="-1"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26" name="Text 6">
            <a:extLst>
              <a:ext uri="{FF2B5EF4-FFF2-40B4-BE49-F238E27FC236}">
                <a16:creationId xmlns:a16="http://schemas.microsoft.com/office/drawing/2014/main" id="{E4147A36-84F9-9A48-E740-F72DB148EB59}"/>
              </a:ext>
            </a:extLst>
          </p:cNvPr>
          <p:cNvSpPr>
            <a:spLocks noGrp="1"/>
          </p:cNvSpPr>
          <p:nvPr/>
        </p:nvSpPr>
        <p:spPr>
          <a:xfrm>
            <a:off x="571500" y="583709"/>
            <a:ext cx="5850781" cy="11139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945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Del contexto al harness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31345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2AC5CF-C7A6-4C8E-815A-5CE577DECDF7}"/>
              </a:ext>
            </a:extLst>
          </p:cNvPr>
          <p:cNvSpPr>
            <a:spLocks noGrp="1"/>
          </p:cNvSpPr>
          <p:nvPr/>
        </p:nvSpPr>
        <p:spPr>
          <a:xfrm>
            <a:off x="571500" y="2609851"/>
            <a:ext cx="11049000" cy="3750509"/>
          </a:xfrm>
          <a:prstGeom prst="roundRect">
            <a:avLst>
              <a:gd name="adj" fmla="val 4120"/>
            </a:avLst>
          </a:prstGeom>
          <a:solidFill>
            <a:srgbClr val="F7F4ED"/>
          </a:solidFill>
        </p:spPr>
        <p:txBody>
          <a:bodyPr/>
          <a:lstStyle/>
          <a:p>
            <a:endParaRPr sz="3200"/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9580" y="2609851"/>
            <a:ext cx="6810921" cy="375050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9A96468-5750-4BA2-B3FB-5A7D3C105B3F}"/>
              </a:ext>
            </a:extLst>
          </p:cNvPr>
          <p:cNvSpPr>
            <a:spLocks noGrp="1"/>
          </p:cNvSpPr>
          <p:nvPr/>
        </p:nvSpPr>
        <p:spPr>
          <a:xfrm>
            <a:off x="1134072" y="3037409"/>
            <a:ext cx="3300437" cy="391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Demo: aplicación de consola componentizada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A867E8A-4B3E-4AD9-8FB3-3F13DA11BA8D}"/>
              </a:ext>
            </a:extLst>
          </p:cNvPr>
          <p:cNvSpPr>
            <a:spLocks noGrp="1"/>
          </p:cNvSpPr>
          <p:nvPr/>
        </p:nvSpPr>
        <p:spPr>
          <a:xfrm>
            <a:off x="1104057" y="3735003"/>
            <a:ext cx="3300437" cy="1995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Implementar un caso de uso completo; separar dominio, aplicación e infraestructura; generar unit tests; compilar y corregir hasta obtener una entrega funcional.</a:t>
            </a:r>
          </a:p>
        </p:txBody>
      </p:sp>
      <p:pic>
        <p:nvPicPr>
          <p:cNvPr id="21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7B054CF0-DA6C-E9F2-686C-8A05D43EBBFC}"/>
              </a:ext>
            </a:extLst>
          </p:cNvPr>
          <p:cNvSpPr>
            <a:spLocks noGrp="1"/>
          </p:cNvSpPr>
          <p:nvPr/>
        </p:nvSpPr>
        <p:spPr>
          <a:xfrm>
            <a:off x="577851" y="1505961"/>
            <a:ext cx="4908549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agente recibe el objetivo; el harness le proporciona los medios para alcanzarlo.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F4E0E03-1D82-C320-5492-7AAF451E8AD6}"/>
              </a:ext>
            </a:extLst>
          </p:cNvPr>
          <p:cNvSpPr>
            <a:spLocks noGrp="1"/>
          </p:cNvSpPr>
          <p:nvPr/>
        </p:nvSpPr>
        <p:spPr>
          <a:xfrm>
            <a:off x="571501" y="583709"/>
            <a:ext cx="4991100" cy="77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981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Una consigna amplia puede producir una entrega completa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6609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 r="-1"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9933BA6-B705-4165-852D-745A1D9E0C78}"/>
              </a:ext>
            </a:extLst>
          </p:cNvPr>
          <p:cNvSpPr>
            <a:spLocks noGrp="1"/>
          </p:cNvSpPr>
          <p:nvPr/>
        </p:nvSpPr>
        <p:spPr>
          <a:xfrm>
            <a:off x="1066800" y="2146301"/>
            <a:ext cx="5340349" cy="20637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Loop</a:t>
            </a:r>
            <a:endParaRPr sz="8000"/>
          </a:p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engineering</a:t>
            </a:r>
            <a:endParaRPr sz="8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19B78BC-08CA-4A85-95D8-D158707E9EC1}"/>
              </a:ext>
            </a:extLst>
          </p:cNvPr>
          <p:cNvSpPr>
            <a:spLocks noGrp="1"/>
          </p:cNvSpPr>
          <p:nvPr/>
        </p:nvSpPr>
        <p:spPr>
          <a:xfrm>
            <a:off x="1066800" y="4503066"/>
            <a:ext cx="5340413" cy="6744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20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agente deja de esperar cada instrucción y comienza a conducir iteraciones.</a:t>
            </a:r>
            <a:endParaRPr sz="2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128170E-DD67-45D2-8ABE-8CFD167D0985}"/>
              </a:ext>
            </a:extLst>
          </p:cNvPr>
          <p:cNvSpPr>
            <a:spLocks noGrp="1"/>
          </p:cNvSpPr>
          <p:nvPr/>
        </p:nvSpPr>
        <p:spPr>
          <a:xfrm>
            <a:off x="1066800" y="5963147"/>
            <a:ext cx="2312504" cy="277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Demo en vivo · GitHub Issues + TDD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BE845C0-FD96-4D73-B33E-55CD74FD49FC}"/>
              </a:ext>
            </a:extLst>
          </p:cNvPr>
          <p:cNvSpPr>
            <a:spLocks noGrp="1"/>
          </p:cNvSpPr>
          <p:nvPr/>
        </p:nvSpPr>
        <p:spPr>
          <a:xfrm>
            <a:off x="1066800" y="5709220"/>
            <a:ext cx="11125200" cy="0"/>
          </a:xfrm>
          <a:prstGeom prst="line">
            <a:avLst/>
          </a:prstGeom>
          <a:noFill/>
          <a:ln w="5654">
            <a:solidFill>
              <a:srgbClr val="B2A89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</p:spTree>
    <p:extLst>
      <p:ext uri="{BB962C8B-B14F-4D97-AF65-F5344CB8AC3E}">
        <p14:creationId xmlns:p14="http://schemas.microsoft.com/office/powerpoint/2010/main" val="21568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AE2619C-630D-451A-A05E-00E25A4D286B}"/>
              </a:ext>
            </a:extLst>
          </p:cNvPr>
          <p:cNvSpPr>
            <a:spLocks noGrp="1"/>
          </p:cNvSpPr>
          <p:nvPr/>
        </p:nvSpPr>
        <p:spPr>
          <a:xfrm>
            <a:off x="1170361" y="4152744"/>
            <a:ext cx="1435100" cy="2730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57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Issue</a:t>
            </a:r>
            <a:endParaRPr sz="1400">
              <a:solidFill>
                <a:srgbClr val="47433B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7D3AFB-A07F-44DB-92EC-A3934E340E91}"/>
              </a:ext>
            </a:extLst>
          </p:cNvPr>
          <p:cNvSpPr>
            <a:spLocks noGrp="1"/>
          </p:cNvSpPr>
          <p:nvPr/>
        </p:nvSpPr>
        <p:spPr>
          <a:xfrm>
            <a:off x="3947815" y="3681034"/>
            <a:ext cx="1048924" cy="27331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57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Test rojo</a:t>
            </a:r>
            <a:endParaRPr sz="1400">
              <a:solidFill>
                <a:srgbClr val="47433B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1F0B27-536D-480E-B124-C4554D1AFF48}"/>
              </a:ext>
            </a:extLst>
          </p:cNvPr>
          <p:cNvSpPr>
            <a:spLocks noGrp="1"/>
          </p:cNvSpPr>
          <p:nvPr/>
        </p:nvSpPr>
        <p:spPr>
          <a:xfrm>
            <a:off x="9502677" y="3957406"/>
            <a:ext cx="1494791" cy="27331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57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Verificar</a:t>
            </a:r>
            <a:endParaRPr sz="1400">
              <a:solidFill>
                <a:srgbClr val="47433B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0A3160-89B0-4F91-910D-EA75F00E78BA}"/>
              </a:ext>
            </a:extLst>
          </p:cNvPr>
          <p:cNvSpPr>
            <a:spLocks noGrp="1"/>
          </p:cNvSpPr>
          <p:nvPr/>
        </p:nvSpPr>
        <p:spPr>
          <a:xfrm>
            <a:off x="6725246" y="3511137"/>
            <a:ext cx="1380368" cy="2297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57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Implementar</a:t>
            </a:r>
            <a:endParaRPr sz="1400">
              <a:solidFill>
                <a:srgbClr val="47433B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F075BD-BABE-4E02-9376-EBBBD4FCD514}"/>
              </a:ext>
            </a:extLst>
          </p:cNvPr>
          <p:cNvSpPr>
            <a:spLocks noGrp="1"/>
          </p:cNvSpPr>
          <p:nvPr/>
        </p:nvSpPr>
        <p:spPr>
          <a:xfrm>
            <a:off x="-2870200" y="5082865"/>
            <a:ext cx="18865851" cy="7564068"/>
          </a:xfrm>
          <a:prstGeom prst="ellipse">
            <a:avLst/>
          </a:prstGeom>
          <a:noFill/>
          <a:ln w="5263">
            <a:solidFill>
              <a:srgbClr val="CFC5B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E742105-D00F-47E9-AFB2-805B763190AD}"/>
              </a:ext>
            </a:extLst>
          </p:cNvPr>
          <p:cNvSpPr>
            <a:spLocks noGrp="1"/>
          </p:cNvSpPr>
          <p:nvPr/>
        </p:nvSpPr>
        <p:spPr>
          <a:xfrm>
            <a:off x="1170360" y="5651645"/>
            <a:ext cx="169896" cy="169896"/>
          </a:xfrm>
          <a:prstGeom prst="ellipse">
            <a:avLst/>
          </a:prstGeom>
          <a:solidFill>
            <a:srgbClr val="CFC5B4"/>
          </a:solidFill>
        </p:spPr>
        <p:txBody>
          <a:bodyPr/>
          <a:lstStyle/>
          <a:p>
            <a:endParaRPr sz="3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7E938A6-2BBC-4E9D-82E0-C3D4FA990701}"/>
              </a:ext>
            </a:extLst>
          </p:cNvPr>
          <p:cNvSpPr>
            <a:spLocks noGrp="1"/>
          </p:cNvSpPr>
          <p:nvPr/>
        </p:nvSpPr>
        <p:spPr>
          <a:xfrm>
            <a:off x="3947815" y="5134571"/>
            <a:ext cx="169896" cy="169896"/>
          </a:xfrm>
          <a:prstGeom prst="ellipse">
            <a:avLst/>
          </a:prstGeom>
          <a:solidFill>
            <a:srgbClr val="CFC5B4"/>
          </a:solidFill>
        </p:spPr>
        <p:txBody>
          <a:bodyPr/>
          <a:lstStyle/>
          <a:p>
            <a:endParaRPr sz="3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930ECA9-0653-4E69-876E-28F7ED95766E}"/>
              </a:ext>
            </a:extLst>
          </p:cNvPr>
          <p:cNvSpPr>
            <a:spLocks noGrp="1"/>
          </p:cNvSpPr>
          <p:nvPr/>
        </p:nvSpPr>
        <p:spPr>
          <a:xfrm>
            <a:off x="9443567" y="5193664"/>
            <a:ext cx="169896" cy="169896"/>
          </a:xfrm>
          <a:prstGeom prst="ellipse">
            <a:avLst/>
          </a:prstGeom>
          <a:solidFill>
            <a:srgbClr val="CFC5B4"/>
          </a:solidFill>
        </p:spPr>
        <p:txBody>
          <a:bodyPr/>
          <a:lstStyle/>
          <a:p>
            <a:endParaRPr sz="3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686E455-AFF1-4B1C-BE6E-BAE11911778A}"/>
              </a:ext>
            </a:extLst>
          </p:cNvPr>
          <p:cNvSpPr>
            <a:spLocks noGrp="1"/>
          </p:cNvSpPr>
          <p:nvPr/>
        </p:nvSpPr>
        <p:spPr>
          <a:xfrm>
            <a:off x="6695679" y="4994223"/>
            <a:ext cx="169896" cy="169896"/>
          </a:xfrm>
          <a:prstGeom prst="ellipse">
            <a:avLst/>
          </a:prstGeom>
          <a:solidFill>
            <a:srgbClr val="CFC5B4"/>
          </a:solidFill>
        </p:spPr>
        <p:txBody>
          <a:bodyPr/>
          <a:lstStyle/>
          <a:p>
            <a:endParaRPr sz="3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FE50E1-1007-450E-AA97-6818A5855FAF}"/>
              </a:ext>
            </a:extLst>
          </p:cNvPr>
          <p:cNvSpPr>
            <a:spLocks noGrp="1"/>
          </p:cNvSpPr>
          <p:nvPr/>
        </p:nvSpPr>
        <p:spPr>
          <a:xfrm>
            <a:off x="1168400" y="3794565"/>
            <a:ext cx="2031365" cy="4348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50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1.</a:t>
            </a:r>
            <a:endParaRPr sz="5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5576C27-AFE0-4C3D-8B57-B0B9CFCE73AE}"/>
              </a:ext>
            </a:extLst>
          </p:cNvPr>
          <p:cNvSpPr>
            <a:spLocks noGrp="1"/>
          </p:cNvSpPr>
          <p:nvPr/>
        </p:nvSpPr>
        <p:spPr>
          <a:xfrm>
            <a:off x="3945855" y="3349985"/>
            <a:ext cx="2031365" cy="4094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50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2.</a:t>
            </a:r>
            <a:endParaRPr sz="5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D5811BB-529A-4606-9BF1-DF779B98C62E}"/>
              </a:ext>
            </a:extLst>
          </p:cNvPr>
          <p:cNvSpPr>
            <a:spLocks noGrp="1"/>
          </p:cNvSpPr>
          <p:nvPr/>
        </p:nvSpPr>
        <p:spPr>
          <a:xfrm>
            <a:off x="9512837" y="3601786"/>
            <a:ext cx="1494791" cy="3987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5000">
                <a:solidFill>
                  <a:srgbClr val="E0DACE">
                    <a:alpha val="99000"/>
                  </a:srgbClr>
                </a:solidFill>
                <a:latin typeface="Tahoma"/>
                <a:ea typeface="Tahoma"/>
                <a:cs typeface="Tahoma"/>
              </a:rPr>
              <a:t>4.</a:t>
            </a:r>
            <a:endParaRPr sz="5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A629EA-3B81-4080-8352-6988BE56898E}"/>
              </a:ext>
            </a:extLst>
          </p:cNvPr>
          <p:cNvSpPr>
            <a:spLocks noGrp="1"/>
          </p:cNvSpPr>
          <p:nvPr/>
        </p:nvSpPr>
        <p:spPr>
          <a:xfrm>
            <a:off x="6710006" y="3158215"/>
            <a:ext cx="2046605" cy="4247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5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3.</a:t>
            </a:r>
            <a:endParaRPr sz="5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CADD991-17DC-45C5-8A83-0CBEFC47F1DC}"/>
              </a:ext>
            </a:extLst>
          </p:cNvPr>
          <p:cNvSpPr>
            <a:spLocks noGrp="1"/>
          </p:cNvSpPr>
          <p:nvPr/>
        </p:nvSpPr>
        <p:spPr>
          <a:xfrm>
            <a:off x="1170360" y="4407583"/>
            <a:ext cx="2029405" cy="9869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Lee alcance, criterios de aceptación y dependencias.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25ED74-5E2B-491B-B296-FC4A758861A1}"/>
              </a:ext>
            </a:extLst>
          </p:cNvPr>
          <p:cNvSpPr>
            <a:spLocks noGrp="1"/>
          </p:cNvSpPr>
          <p:nvPr/>
        </p:nvSpPr>
        <p:spPr>
          <a:xfrm>
            <a:off x="3947815" y="3934828"/>
            <a:ext cx="2046603" cy="92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Convierte el comportamiento esperado en un test que falla.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D583677-E6E3-4734-A703-3CBA2C8D2883}"/>
              </a:ext>
            </a:extLst>
          </p:cNvPr>
          <p:cNvSpPr>
            <a:spLocks noGrp="1"/>
          </p:cNvSpPr>
          <p:nvPr/>
        </p:nvSpPr>
        <p:spPr>
          <a:xfrm>
            <a:off x="9502676" y="4211201"/>
            <a:ext cx="2029405" cy="9233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Ejecuta tests, inspecciona fallos y vuelve al ciclo si hace falta.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A25FB5A-F885-4923-ABCF-693191B878BA}"/>
              </a:ext>
            </a:extLst>
          </p:cNvPr>
          <p:cNvSpPr>
            <a:spLocks noGrp="1"/>
          </p:cNvSpPr>
          <p:nvPr/>
        </p:nvSpPr>
        <p:spPr>
          <a:xfrm>
            <a:off x="6725245" y="3764933"/>
            <a:ext cx="2046605" cy="9233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2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Realiza el cambio mínimo para satisfacer la prueba.</a:t>
            </a:r>
            <a:endParaRPr sz="1100">
              <a:solidFill>
                <a:srgbClr val="47433B"/>
              </a:solidFill>
            </a:endParaRPr>
          </a:p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3D887A09-7BC4-5A94-C717-41B5CAD510B9}"/>
              </a:ext>
            </a:extLst>
          </p:cNvPr>
          <p:cNvSpPr>
            <a:spLocks noGrp="1"/>
          </p:cNvSpPr>
          <p:nvPr/>
        </p:nvSpPr>
        <p:spPr>
          <a:xfrm>
            <a:off x="571501" y="583709"/>
            <a:ext cx="4991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4013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loop busca una salida</a:t>
            </a:r>
            <a:endParaRPr sz="270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026DEF75-5C73-24A2-7812-BA47514A886E}"/>
              </a:ext>
            </a:extLst>
          </p:cNvPr>
          <p:cNvSpPr>
            <a:spLocks noGrp="1"/>
          </p:cNvSpPr>
          <p:nvPr/>
        </p:nvSpPr>
        <p:spPr>
          <a:xfrm>
            <a:off x="577851" y="1192437"/>
            <a:ext cx="4856594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Cada ciclo ejecuta, verifica y decide si continuar.</a:t>
            </a:r>
            <a:endParaRPr sz="140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0427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4B29154-BBB5-4287-7F3D-0EAC66DC20B1}"/>
              </a:ext>
            </a:extLst>
          </p:cNvPr>
          <p:cNvSpPr>
            <a:spLocks noGrp="1"/>
          </p:cNvSpPr>
          <p:nvPr/>
        </p:nvSpPr>
        <p:spPr>
          <a:xfrm>
            <a:off x="0" y="-38099"/>
            <a:ext cx="12192000" cy="6896100"/>
          </a:xfrm>
          <a:prstGeom prst="rect">
            <a:avLst/>
          </a:prstGeom>
          <a:solidFill>
            <a:srgbClr val="FCF9F3"/>
          </a:solidFill>
        </p:spPr>
        <p:txBody>
          <a:bodyPr/>
          <a:lstStyle/>
          <a:p>
            <a:endParaRPr sz="320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50CE0D60-4F48-1455-73C9-C6D8C34B932C}"/>
              </a:ext>
            </a:extLst>
          </p:cNvPr>
          <p:cNvSpPr>
            <a:spLocks noGrp="1"/>
          </p:cNvSpPr>
          <p:nvPr/>
        </p:nvSpPr>
        <p:spPr>
          <a:xfrm>
            <a:off x="1066800" y="5963147"/>
            <a:ext cx="2312504" cy="277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Demo en vivo · agentes especializados + reviews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345A19E2-07A7-8D6D-CCAE-9E3B8CEA8C67}"/>
              </a:ext>
            </a:extLst>
          </p:cNvPr>
          <p:cNvSpPr>
            <a:spLocks noGrp="1"/>
          </p:cNvSpPr>
          <p:nvPr/>
        </p:nvSpPr>
        <p:spPr>
          <a:xfrm>
            <a:off x="1066800" y="2146301"/>
            <a:ext cx="5340349" cy="20637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Graph</a:t>
            </a:r>
            <a:endParaRPr sz="8000"/>
          </a:p>
          <a:p>
            <a:pPr>
              <a:lnSpc>
                <a:spcPts val="7360"/>
              </a:lnSpc>
              <a:buNone/>
            </a:pPr>
            <a:r>
              <a:rPr sz="8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engineering</a:t>
            </a:r>
            <a:endParaRPr sz="800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5DEC0D9-AB00-7592-5B31-597F7F0B0672}"/>
              </a:ext>
            </a:extLst>
          </p:cNvPr>
          <p:cNvSpPr>
            <a:spLocks noGrp="1"/>
          </p:cNvSpPr>
          <p:nvPr/>
        </p:nvSpPr>
        <p:spPr>
          <a:xfrm>
            <a:off x="1066800" y="4503066"/>
            <a:ext cx="5340413" cy="6744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96"/>
              </a:lnSpc>
              <a:buNone/>
            </a:pPr>
            <a:r>
              <a:rPr sz="20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trabajo se modela como roles, dependencias y rutas de validación.</a:t>
            </a:r>
            <a:endParaRPr sz="2000"/>
          </a:p>
        </p:txBody>
      </p:sp>
      <p:pic>
        <p:nvPicPr>
          <p:cNvPr id="31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1" r="321"/>
          <a:stretch/>
        </p:blipFill>
        <p:spPr>
          <a:xfrm>
            <a:off x="10750551" y="372671"/>
            <a:ext cx="867792" cy="183659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C0584E61-612B-3CB0-73D9-D9B1338F3B45}"/>
              </a:ext>
            </a:extLst>
          </p:cNvPr>
          <p:cNvSpPr>
            <a:spLocks noGrp="1"/>
          </p:cNvSpPr>
          <p:nvPr/>
        </p:nvSpPr>
        <p:spPr>
          <a:xfrm>
            <a:off x="1066800" y="5709220"/>
            <a:ext cx="11125200" cy="0"/>
          </a:xfrm>
          <a:prstGeom prst="line">
            <a:avLst/>
          </a:prstGeom>
          <a:noFill/>
          <a:ln w="5654">
            <a:solidFill>
              <a:srgbClr val="B2A89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</p:spTree>
    <p:extLst>
      <p:ext uri="{BB962C8B-B14F-4D97-AF65-F5344CB8AC3E}">
        <p14:creationId xmlns:p14="http://schemas.microsoft.com/office/powerpoint/2010/main" val="3742215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176C6F-477B-4436-A07B-4D0D8D04B465}"/>
              </a:ext>
            </a:extLst>
          </p:cNvPr>
          <p:cNvSpPr>
            <a:spLocks noGrp="1"/>
          </p:cNvSpPr>
          <p:nvPr/>
        </p:nvSpPr>
        <p:spPr>
          <a:xfrm>
            <a:off x="8965978" y="1136967"/>
            <a:ext cx="975597" cy="2497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endParaRPr sz="1500">
              <a:solidFill>
                <a:srgbClr val="47433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95903E-3F0F-4C6C-A9A7-3DBAB0CFD5C2}"/>
              </a:ext>
            </a:extLst>
          </p:cNvPr>
          <p:cNvSpPr>
            <a:spLocks noGrp="1"/>
          </p:cNvSpPr>
          <p:nvPr/>
        </p:nvSpPr>
        <p:spPr>
          <a:xfrm>
            <a:off x="10300594" y="2817526"/>
            <a:ext cx="975597" cy="2497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endParaRPr sz="1500">
              <a:solidFill>
                <a:srgbClr val="47433B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3AB292-D256-4F78-8ADF-255E202C7A60}"/>
              </a:ext>
            </a:extLst>
          </p:cNvPr>
          <p:cNvSpPr>
            <a:spLocks noGrp="1"/>
          </p:cNvSpPr>
          <p:nvPr/>
        </p:nvSpPr>
        <p:spPr>
          <a:xfrm>
            <a:off x="5104608" y="3769709"/>
            <a:ext cx="889745" cy="22633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endParaRPr sz="1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D3ED65-11E1-4D93-81E0-0C51D584B71E}"/>
              </a:ext>
            </a:extLst>
          </p:cNvPr>
          <p:cNvSpPr>
            <a:spLocks noGrp="1"/>
          </p:cNvSpPr>
          <p:nvPr/>
        </p:nvSpPr>
        <p:spPr>
          <a:xfrm>
            <a:off x="8240118" y="3106302"/>
            <a:ext cx="975597" cy="2497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endParaRPr sz="1500">
              <a:solidFill>
                <a:srgbClr val="47433B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4CD285-985B-472B-AD42-B4D58A82D482}"/>
              </a:ext>
            </a:extLst>
          </p:cNvPr>
          <p:cNvSpPr>
            <a:spLocks noGrp="1"/>
          </p:cNvSpPr>
          <p:nvPr/>
        </p:nvSpPr>
        <p:spPr>
          <a:xfrm rot="-3816982">
            <a:off x="8963809" y="3794909"/>
            <a:ext cx="433896" cy="433896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EF5C66-5838-4B73-AFDB-A32FF2E52D4A}"/>
              </a:ext>
            </a:extLst>
          </p:cNvPr>
          <p:cNvSpPr>
            <a:spLocks noGrp="1"/>
          </p:cNvSpPr>
          <p:nvPr/>
        </p:nvSpPr>
        <p:spPr>
          <a:xfrm rot="-3816982">
            <a:off x="7852596" y="2734496"/>
            <a:ext cx="2001921" cy="2001921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5A1749-7188-4F15-910B-89845FF93E9D}"/>
              </a:ext>
            </a:extLst>
          </p:cNvPr>
          <p:cNvSpPr>
            <a:spLocks noGrp="1"/>
          </p:cNvSpPr>
          <p:nvPr/>
        </p:nvSpPr>
        <p:spPr>
          <a:xfrm rot="-6011456">
            <a:off x="7179747" y="1467811"/>
            <a:ext cx="3556269" cy="4389101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5B7EE3B-EEE7-4A4C-BCB0-2D8538B31941}"/>
              </a:ext>
            </a:extLst>
          </p:cNvPr>
          <p:cNvSpPr>
            <a:spLocks noGrp="1"/>
          </p:cNvSpPr>
          <p:nvPr/>
        </p:nvSpPr>
        <p:spPr>
          <a:xfrm rot="-1767396">
            <a:off x="5567979" y="1275285"/>
            <a:ext cx="6438296" cy="4761727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CDA8F49-A952-42DC-B3A2-CD3BD1214521}"/>
              </a:ext>
            </a:extLst>
          </p:cNvPr>
          <p:cNvSpPr>
            <a:spLocks noGrp="1"/>
          </p:cNvSpPr>
          <p:nvPr/>
        </p:nvSpPr>
        <p:spPr>
          <a:xfrm rot="442014">
            <a:off x="7963606" y="3137606"/>
            <a:ext cx="117620" cy="117620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448C431-DE33-40FC-89A3-859669CD9046}"/>
              </a:ext>
            </a:extLst>
          </p:cNvPr>
          <p:cNvSpPr>
            <a:spLocks noGrp="1"/>
          </p:cNvSpPr>
          <p:nvPr/>
        </p:nvSpPr>
        <p:spPr>
          <a:xfrm rot="442014">
            <a:off x="10895492" y="2830992"/>
            <a:ext cx="193233" cy="193233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88D34F9-B787-4860-91F3-7487DF1AE66B}"/>
              </a:ext>
            </a:extLst>
          </p:cNvPr>
          <p:cNvSpPr>
            <a:spLocks noGrp="1"/>
          </p:cNvSpPr>
          <p:nvPr/>
        </p:nvSpPr>
        <p:spPr>
          <a:xfrm rot="442014">
            <a:off x="8550774" y="1028874"/>
            <a:ext cx="285648" cy="285648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902D374-7861-4AD0-BEC7-07BDF0F22A7A}"/>
              </a:ext>
            </a:extLst>
          </p:cNvPr>
          <p:cNvSpPr>
            <a:spLocks noGrp="1"/>
          </p:cNvSpPr>
          <p:nvPr/>
        </p:nvSpPr>
        <p:spPr>
          <a:xfrm rot="-2249">
            <a:off x="5104607" y="4024791"/>
            <a:ext cx="3931715" cy="0"/>
          </a:xfrm>
          <a:prstGeom prst="line">
            <a:avLst/>
          </a:prstGeom>
          <a:noFill/>
          <a:ln w="0"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D428683-CE6B-4FF6-9B50-2F88D038E93C}"/>
              </a:ext>
            </a:extLst>
          </p:cNvPr>
          <p:cNvSpPr>
            <a:spLocks noGrp="1"/>
          </p:cNvSpPr>
          <p:nvPr/>
        </p:nvSpPr>
        <p:spPr>
          <a:xfrm>
            <a:off x="577851" y="3565661"/>
            <a:ext cx="3574589" cy="24385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Worker</a:t>
            </a:r>
            <a:endParaRPr sz="1400">
              <a:solidFill>
                <a:srgbClr val="47433B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4A15BF-8E03-4B00-8A00-64336E7749F0}"/>
              </a:ext>
            </a:extLst>
          </p:cNvPr>
          <p:cNvSpPr>
            <a:spLocks noGrp="1"/>
          </p:cNvSpPr>
          <p:nvPr/>
        </p:nvSpPr>
        <p:spPr>
          <a:xfrm>
            <a:off x="577851" y="4549064"/>
            <a:ext cx="3574589" cy="24385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Revisiones paralelas</a:t>
            </a:r>
            <a:endParaRPr sz="1400">
              <a:solidFill>
                <a:srgbClr val="47433B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5F5664B-21CD-4435-BB9F-DBC8D8F297BA}"/>
              </a:ext>
            </a:extLst>
          </p:cNvPr>
          <p:cNvSpPr>
            <a:spLocks noGrp="1"/>
          </p:cNvSpPr>
          <p:nvPr/>
        </p:nvSpPr>
        <p:spPr>
          <a:xfrm>
            <a:off x="572771" y="5571488"/>
            <a:ext cx="2029243" cy="2443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endParaRPr sz="1333">
              <a:latin typeface="Tahoma"/>
              <a:ea typeface="Tahoma"/>
              <a:cs typeface="Tahoma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42AE0F0-9833-413D-B8EE-F819061DA9B1}"/>
              </a:ext>
            </a:extLst>
          </p:cNvPr>
          <p:cNvSpPr>
            <a:spLocks noGrp="1"/>
          </p:cNvSpPr>
          <p:nvPr/>
        </p:nvSpPr>
        <p:spPr>
          <a:xfrm>
            <a:off x="577852" y="2867993"/>
            <a:ext cx="2653625" cy="4292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Interpreta el issue y produce un plan con criterios de salida.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D1FA153-8D04-422C-8FC5-0FAE0618101C}"/>
              </a:ext>
            </a:extLst>
          </p:cNvPr>
          <p:cNvSpPr>
            <a:spLocks noGrp="1"/>
          </p:cNvSpPr>
          <p:nvPr/>
        </p:nvSpPr>
        <p:spPr>
          <a:xfrm>
            <a:off x="577852" y="3812375"/>
            <a:ext cx="2653625" cy="4292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Implementa código y tests dentro del alcance acordado.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B1F6F66-D622-424F-8054-4ED345A97BB1}"/>
              </a:ext>
            </a:extLst>
          </p:cNvPr>
          <p:cNvSpPr>
            <a:spLocks noGrp="1"/>
          </p:cNvSpPr>
          <p:nvPr/>
        </p:nvSpPr>
        <p:spPr>
          <a:xfrm>
            <a:off x="577851" y="4795778"/>
            <a:ext cx="2708259" cy="3668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Seguridad, lógica y mantenibilidad verifican en forma independiente.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AE1586-E027-4F00-87F6-20602954983E}"/>
              </a:ext>
            </a:extLst>
          </p:cNvPr>
          <p:cNvSpPr>
            <a:spLocks noGrp="1"/>
          </p:cNvSpPr>
          <p:nvPr/>
        </p:nvSpPr>
        <p:spPr>
          <a:xfrm>
            <a:off x="577852" y="5785292"/>
            <a:ext cx="2653625" cy="4292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1"/>
              </a:lnSpc>
              <a:buNone/>
            </a:pPr>
            <a:r>
              <a:rPr sz="1100">
                <a:solidFill>
                  <a:srgbClr val="DD2C00"/>
                </a:solidFill>
                <a:latin typeface="Tahoma"/>
                <a:ea typeface="Tahoma"/>
                <a:cs typeface="Tahoma"/>
              </a:rPr>
              <a:t>Consolida evidencia y decide si aprobar o regresar al worker.</a:t>
            </a:r>
            <a:endParaRPr sz="1100">
              <a:solidFill>
                <a:srgbClr val="DD2C00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F209D7B-9C2E-4128-9535-2B8188FB598A}"/>
              </a:ext>
            </a:extLst>
          </p:cNvPr>
          <p:cNvSpPr>
            <a:spLocks noGrp="1"/>
          </p:cNvSpPr>
          <p:nvPr/>
        </p:nvSpPr>
        <p:spPr>
          <a:xfrm>
            <a:off x="577851" y="3432979"/>
            <a:ext cx="3574589" cy="0"/>
          </a:xfrm>
          <a:prstGeom prst="line">
            <a:avLst/>
          </a:prstGeom>
          <a:noFill/>
          <a:ln w="5561">
            <a:solidFill>
              <a:srgbClr val="B2A89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B98F082-D16C-4810-A994-0F0226D0AE42}"/>
              </a:ext>
            </a:extLst>
          </p:cNvPr>
          <p:cNvSpPr>
            <a:spLocks noGrp="1"/>
          </p:cNvSpPr>
          <p:nvPr/>
        </p:nvSpPr>
        <p:spPr>
          <a:xfrm>
            <a:off x="577851" y="4431991"/>
            <a:ext cx="3574589" cy="0"/>
          </a:xfrm>
          <a:prstGeom prst="line">
            <a:avLst/>
          </a:prstGeom>
          <a:noFill/>
          <a:ln w="5561">
            <a:solidFill>
              <a:srgbClr val="B2A89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2B2C7DE-1391-427F-B0A9-BD1D3DAD0574}"/>
              </a:ext>
            </a:extLst>
          </p:cNvPr>
          <p:cNvSpPr>
            <a:spLocks noGrp="1"/>
          </p:cNvSpPr>
          <p:nvPr/>
        </p:nvSpPr>
        <p:spPr>
          <a:xfrm>
            <a:off x="577851" y="5431003"/>
            <a:ext cx="3574589" cy="0"/>
          </a:xfrm>
          <a:prstGeom prst="line">
            <a:avLst/>
          </a:prstGeom>
          <a:noFill/>
          <a:ln w="5561">
            <a:solidFill>
              <a:srgbClr val="B2A894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pic>
        <p:nvPicPr>
          <p:cNvPr id="7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0" name="Text 13">
            <a:extLst>
              <a:ext uri="{FF2B5EF4-FFF2-40B4-BE49-F238E27FC236}">
                <a16:creationId xmlns:a16="http://schemas.microsoft.com/office/drawing/2014/main" id="{FC9D1DFE-EB69-298D-2C0D-43FA215C95AC}"/>
              </a:ext>
            </a:extLst>
          </p:cNvPr>
          <p:cNvSpPr>
            <a:spLocks noGrp="1"/>
          </p:cNvSpPr>
          <p:nvPr/>
        </p:nvSpPr>
        <p:spPr>
          <a:xfrm>
            <a:off x="571553" y="2608209"/>
            <a:ext cx="3574589" cy="24385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r>
              <a:rPr sz="14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Planificador</a:t>
            </a:r>
            <a:endParaRPr sz="1400">
              <a:solidFill>
                <a:srgbClr val="47433B"/>
              </a:solidFill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951C849C-3A61-A922-160F-F25B68680FE2}"/>
              </a:ext>
            </a:extLst>
          </p:cNvPr>
          <p:cNvSpPr>
            <a:spLocks noGrp="1"/>
          </p:cNvSpPr>
          <p:nvPr/>
        </p:nvSpPr>
        <p:spPr>
          <a:xfrm>
            <a:off x="571501" y="583708"/>
            <a:ext cx="4991100" cy="8051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981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graph hace explícita la topología</a:t>
            </a:r>
            <a:endParaRPr sz="27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CBA1839-EE12-7B43-0DAA-7D124741BF7D}"/>
              </a:ext>
            </a:extLst>
          </p:cNvPr>
          <p:cNvSpPr>
            <a:spLocks noGrp="1"/>
          </p:cNvSpPr>
          <p:nvPr/>
        </p:nvSpPr>
        <p:spPr>
          <a:xfrm>
            <a:off x="577851" y="1505961"/>
            <a:ext cx="4949065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Los nodos trabajan con contratos. Las aristas deciden qué ocurre después.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AB15303B-F3B5-E5EE-90F6-CA18EDE511AC}"/>
              </a:ext>
            </a:extLst>
          </p:cNvPr>
          <p:cNvSpPr>
            <a:spLocks noGrp="1"/>
          </p:cNvSpPr>
          <p:nvPr/>
        </p:nvSpPr>
        <p:spPr>
          <a:xfrm>
            <a:off x="577851" y="5555517"/>
            <a:ext cx="3574589" cy="24385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52"/>
              </a:lnSpc>
              <a:buNone/>
            </a:pPr>
            <a:r>
              <a:rPr sz="1400">
                <a:solidFill>
                  <a:srgbClr val="DD2C00"/>
                </a:solidFill>
                <a:latin typeface="Tahoma"/>
                <a:ea typeface="Tahoma"/>
                <a:cs typeface="Tahoma"/>
              </a:rPr>
              <a:t>Síntesis y gate</a:t>
            </a:r>
            <a:endParaRPr sz="1400">
              <a:solidFill>
                <a:srgbClr val="DD2C00"/>
              </a:solidFill>
            </a:endParaRPr>
          </a:p>
        </p:txBody>
      </p:sp>
      <p:sp>
        <p:nvSpPr>
          <p:cNvPr id="34" name="Graph Planner">
            <a:extLst>
              <a:ext uri="{FF2B5EF4-FFF2-40B4-BE49-F238E27FC236}">
                <a16:creationId xmlns:a16="http://schemas.microsoft.com/office/drawing/2014/main" id="{36AAA514-AEED-411A-B82F-3CD784E4E743}"/>
              </a:ext>
            </a:extLst>
          </p:cNvPr>
          <p:cNvSpPr>
            <a:spLocks noGrp="1"/>
          </p:cNvSpPr>
          <p:nvPr/>
        </p:nvSpPr>
        <p:spPr>
          <a:xfrm>
            <a:off x="7953375" y="1952625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F8F6F1"/>
          </a:solidFill>
          <a:ln w="12383">
            <a:solidFill>
              <a:srgbClr val="E53212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39353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93532"/>
                </a:solidFill>
                <a:latin typeface="Tahoma"/>
                <a:ea typeface="Tahoma"/>
                <a:cs typeface="Tahoma"/>
              </a:rPr>
              <a:t>Planner</a:t>
            </a:r>
          </a:p>
        </p:txBody>
      </p:sp>
      <p:sp>
        <p:nvSpPr>
          <p:cNvPr id="35" name="Graph Worker">
            <a:extLst>
              <a:ext uri="{FF2B5EF4-FFF2-40B4-BE49-F238E27FC236}">
                <a16:creationId xmlns:a16="http://schemas.microsoft.com/office/drawing/2014/main" id="{8869F702-BC40-4646-81B6-C741C6204BC2}"/>
              </a:ext>
            </a:extLst>
          </p:cNvPr>
          <p:cNvSpPr>
            <a:spLocks noGrp="1"/>
          </p:cNvSpPr>
          <p:nvPr/>
        </p:nvSpPr>
        <p:spPr>
          <a:xfrm>
            <a:off x="7953375" y="2667000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383">
            <a:solidFill>
              <a:srgbClr val="E53212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39353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93532"/>
                </a:solidFill>
                <a:latin typeface="Tahoma"/>
                <a:ea typeface="Tahoma"/>
                <a:cs typeface="Tahoma"/>
              </a:rPr>
              <a:t>Worker</a:t>
            </a:r>
          </a:p>
        </p:txBody>
      </p:sp>
      <p:sp>
        <p:nvSpPr>
          <p:cNvPr id="36" name="Security Reviewer">
            <a:extLst>
              <a:ext uri="{FF2B5EF4-FFF2-40B4-BE49-F238E27FC236}">
                <a16:creationId xmlns:a16="http://schemas.microsoft.com/office/drawing/2014/main" id="{C4081F88-4C91-4553-9D52-BA5F18A0F377}"/>
              </a:ext>
            </a:extLst>
          </p:cNvPr>
          <p:cNvSpPr>
            <a:spLocks noGrp="1"/>
          </p:cNvSpPr>
          <p:nvPr/>
        </p:nvSpPr>
        <p:spPr>
          <a:xfrm>
            <a:off x="6191250" y="3571875"/>
            <a:ext cx="1428750" cy="428625"/>
          </a:xfrm>
          <a:prstGeom prst="roundRect">
            <a:avLst>
              <a:gd name="adj" fmla="val 26667"/>
            </a:avLst>
          </a:prstGeom>
          <a:solidFill>
            <a:srgbClr val="F8F6F1"/>
          </a:solidFill>
          <a:ln w="12383">
            <a:solidFill>
              <a:srgbClr val="CFC9BF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050" b="1">
                <a:solidFill>
                  <a:srgbClr val="393532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393532"/>
                </a:solidFill>
                <a:latin typeface="Tahoma"/>
                <a:ea typeface="Tahoma"/>
                <a:cs typeface="Tahoma"/>
              </a:rPr>
              <a:t>Security</a:t>
            </a:r>
          </a:p>
        </p:txBody>
      </p:sp>
      <p:sp>
        <p:nvSpPr>
          <p:cNvPr id="37" name="Logic Reviewer">
            <a:extLst>
              <a:ext uri="{FF2B5EF4-FFF2-40B4-BE49-F238E27FC236}">
                <a16:creationId xmlns:a16="http://schemas.microsoft.com/office/drawing/2014/main" id="{3B5A825D-4D45-4B84-9AC4-47966EE00C21}"/>
              </a:ext>
            </a:extLst>
          </p:cNvPr>
          <p:cNvSpPr>
            <a:spLocks noGrp="1"/>
          </p:cNvSpPr>
          <p:nvPr/>
        </p:nvSpPr>
        <p:spPr>
          <a:xfrm>
            <a:off x="8096250" y="3571875"/>
            <a:ext cx="1428750" cy="428625"/>
          </a:xfrm>
          <a:prstGeom prst="roundRect">
            <a:avLst>
              <a:gd name="adj" fmla="val 26667"/>
            </a:avLst>
          </a:prstGeom>
          <a:solidFill>
            <a:srgbClr val="F8F6F1"/>
          </a:solidFill>
          <a:ln w="12383">
            <a:solidFill>
              <a:srgbClr val="CFC9BF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050" b="1">
                <a:solidFill>
                  <a:srgbClr val="393532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393532"/>
                </a:solidFill>
                <a:latin typeface="Tahoma"/>
                <a:ea typeface="Tahoma"/>
                <a:cs typeface="Tahoma"/>
              </a:rPr>
              <a:t>Logic</a:t>
            </a:r>
          </a:p>
        </p:txBody>
      </p:sp>
      <p:sp>
        <p:nvSpPr>
          <p:cNvPr id="38" name="Maintainability Reviewer">
            <a:extLst>
              <a:ext uri="{FF2B5EF4-FFF2-40B4-BE49-F238E27FC236}">
                <a16:creationId xmlns:a16="http://schemas.microsoft.com/office/drawing/2014/main" id="{883BE171-B275-481B-B63B-E5C78544E399}"/>
              </a:ext>
            </a:extLst>
          </p:cNvPr>
          <p:cNvSpPr>
            <a:spLocks noGrp="1"/>
          </p:cNvSpPr>
          <p:nvPr/>
        </p:nvSpPr>
        <p:spPr>
          <a:xfrm>
            <a:off x="10001250" y="3571875"/>
            <a:ext cx="1428750" cy="428625"/>
          </a:xfrm>
          <a:prstGeom prst="roundRect">
            <a:avLst>
              <a:gd name="adj" fmla="val 26667"/>
            </a:avLst>
          </a:prstGeom>
          <a:solidFill>
            <a:srgbClr val="F8F6F1"/>
          </a:solidFill>
          <a:ln w="12383">
            <a:solidFill>
              <a:srgbClr val="CFC9BF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975" b="1">
                <a:solidFill>
                  <a:srgbClr val="393532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393532"/>
                </a:solidFill>
                <a:latin typeface="Tahoma"/>
                <a:ea typeface="Tahoma"/>
                <a:cs typeface="Tahoma"/>
              </a:rPr>
              <a:t>Maintainability</a:t>
            </a:r>
          </a:p>
        </p:txBody>
      </p:sp>
      <p:sp>
        <p:nvSpPr>
          <p:cNvPr id="39" name="Graph Synthesizer">
            <a:extLst>
              <a:ext uri="{FF2B5EF4-FFF2-40B4-BE49-F238E27FC236}">
                <a16:creationId xmlns:a16="http://schemas.microsoft.com/office/drawing/2014/main" id="{0ACEFA44-19A2-47BB-9E78-A76207461603}"/>
              </a:ext>
            </a:extLst>
          </p:cNvPr>
          <p:cNvSpPr>
            <a:spLocks noGrp="1"/>
          </p:cNvSpPr>
          <p:nvPr/>
        </p:nvSpPr>
        <p:spPr>
          <a:xfrm>
            <a:off x="7953375" y="4457700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383">
            <a:solidFill>
              <a:srgbClr val="E53212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393532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393532"/>
                </a:solidFill>
                <a:latin typeface="Tahoma"/>
                <a:ea typeface="Tahoma"/>
                <a:cs typeface="Tahoma"/>
              </a:rPr>
              <a:t>Synthesizer</a:t>
            </a:r>
          </a:p>
        </p:txBody>
      </p:sp>
      <p:sp>
        <p:nvSpPr>
          <p:cNvPr id="40" name="Graph Gate">
            <a:extLst>
              <a:ext uri="{FF2B5EF4-FFF2-40B4-BE49-F238E27FC236}">
                <a16:creationId xmlns:a16="http://schemas.microsoft.com/office/drawing/2014/main" id="{A6CF36F3-750C-4362-9AC2-992CB1811D36}"/>
              </a:ext>
            </a:extLst>
          </p:cNvPr>
          <p:cNvSpPr>
            <a:spLocks noGrp="1"/>
          </p:cNvSpPr>
          <p:nvPr/>
        </p:nvSpPr>
        <p:spPr>
          <a:xfrm>
            <a:off x="7953375" y="5238750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E53212"/>
          </a:solidFill>
          <a:ln w="12383">
            <a:solidFill>
              <a:srgbClr val="E53212"/>
            </a:solidFill>
            <a:prstDash val="solid"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Pass / revise</a:t>
            </a:r>
          </a:p>
        </p:txBody>
      </p:sp>
      <p:cxnSp>
        <p:nvCxnSpPr>
          <p:cNvPr id="83" name="Conector recto de flecha 82"/>
          <p:cNvCxnSpPr>
            <a:stCxn id="34" idx="2"/>
            <a:endCxn id="35" idx="0"/>
          </p:cNvCxnSpPr>
          <p:nvPr/>
        </p:nvCxnSpPr>
        <p:spPr>
          <a:xfrm>
            <a:off x="8810625" y="2409825"/>
            <a:ext cx="0" cy="257175"/>
          </a:xfrm>
          <a:prstGeom prst="straightConnector1">
            <a:avLst/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  <p:cxnSp>
        <p:nvCxnSpPr>
          <p:cNvPr id="84" name="Conector: angular 83"/>
          <p:cNvCxnSpPr>
            <a:stCxn id="35" idx="2"/>
            <a:endCxn id="36" idx="0"/>
          </p:cNvCxnSpPr>
          <p:nvPr/>
        </p:nvCxnSpPr>
        <p:spPr>
          <a:xfrm flipH="1">
            <a:off x="6905625" y="3124200"/>
            <a:ext cx="1905000" cy="447675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  <p:cxnSp>
        <p:nvCxnSpPr>
          <p:cNvPr id="85" name="Conector recto de flecha 84"/>
          <p:cNvCxnSpPr>
            <a:stCxn id="35" idx="2"/>
            <a:endCxn id="37" idx="0"/>
          </p:cNvCxnSpPr>
          <p:nvPr/>
        </p:nvCxnSpPr>
        <p:spPr>
          <a:xfrm>
            <a:off x="8810625" y="3124200"/>
            <a:ext cx="0" cy="447675"/>
          </a:xfrm>
          <a:prstGeom prst="straightConnector1">
            <a:avLst/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  <p:cxnSp>
        <p:nvCxnSpPr>
          <p:cNvPr id="86" name="Conector: angular 85"/>
          <p:cNvCxnSpPr>
            <a:stCxn id="35" idx="2"/>
            <a:endCxn id="38" idx="0"/>
          </p:cNvCxnSpPr>
          <p:nvPr/>
        </p:nvCxnSpPr>
        <p:spPr>
          <a:xfrm>
            <a:off x="8810625" y="3124200"/>
            <a:ext cx="1905000" cy="447675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  <p:cxnSp>
        <p:nvCxnSpPr>
          <p:cNvPr id="87" name="Conector: angular 86"/>
          <p:cNvCxnSpPr>
            <a:stCxn id="36" idx="2"/>
            <a:endCxn id="39" idx="0"/>
          </p:cNvCxnSpPr>
          <p:nvPr/>
        </p:nvCxnSpPr>
        <p:spPr>
          <a:xfrm>
            <a:off x="6905625" y="4000500"/>
            <a:ext cx="1905000" cy="4572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  <p:cxnSp>
        <p:nvCxnSpPr>
          <p:cNvPr id="88" name="Conector recto de flecha 87"/>
          <p:cNvCxnSpPr>
            <a:stCxn id="37" idx="2"/>
            <a:endCxn id="39" idx="0"/>
          </p:cNvCxnSpPr>
          <p:nvPr/>
        </p:nvCxnSpPr>
        <p:spPr>
          <a:xfrm>
            <a:off x="8810625" y="4000500"/>
            <a:ext cx="0" cy="457200"/>
          </a:xfrm>
          <a:prstGeom prst="straightConnector1">
            <a:avLst/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  <p:cxnSp>
        <p:nvCxnSpPr>
          <p:cNvPr id="89" name="Conector: angular 88"/>
          <p:cNvCxnSpPr>
            <a:stCxn id="38" idx="2"/>
            <a:endCxn id="39" idx="0"/>
          </p:cNvCxnSpPr>
          <p:nvPr/>
        </p:nvCxnSpPr>
        <p:spPr>
          <a:xfrm flipH="1">
            <a:off x="8810625" y="4000500"/>
            <a:ext cx="1905000" cy="4572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  <p:cxnSp>
        <p:nvCxnSpPr>
          <p:cNvPr id="90" name="Conector recto de flecha 89"/>
          <p:cNvCxnSpPr>
            <a:stCxn id="39" idx="2"/>
            <a:endCxn id="40" idx="0"/>
          </p:cNvCxnSpPr>
          <p:nvPr/>
        </p:nvCxnSpPr>
        <p:spPr>
          <a:xfrm>
            <a:off x="8810625" y="4914900"/>
            <a:ext cx="0" cy="323850"/>
          </a:xfrm>
          <a:prstGeom prst="straightConnector1">
            <a:avLst/>
          </a:prstGeom>
          <a:ln w="16193">
            <a:solidFill>
              <a:srgbClr val="A9A39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51019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3FBA5C-AF6F-4830-B073-36A0440EF3B1}"/>
              </a:ext>
            </a:extLst>
          </p:cNvPr>
          <p:cNvSpPr>
            <a:spLocks noGrp="1"/>
          </p:cNvSpPr>
          <p:nvPr/>
        </p:nvSpPr>
        <p:spPr>
          <a:xfrm>
            <a:off x="1381125" y="2571750"/>
            <a:ext cx="4333875" cy="1666875"/>
          </a:xfrm>
          <a:prstGeom prst="roundRect">
            <a:avLst>
              <a:gd name="adj" fmla="val 6312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F35763-F1F1-4004-A148-CBC0D759A761}"/>
              </a:ext>
            </a:extLst>
          </p:cNvPr>
          <p:cNvSpPr>
            <a:spLocks noGrp="1"/>
          </p:cNvSpPr>
          <p:nvPr/>
        </p:nvSpPr>
        <p:spPr>
          <a:xfrm>
            <a:off x="1381125" y="4524375"/>
            <a:ext cx="4333875" cy="1666875"/>
          </a:xfrm>
          <a:prstGeom prst="roundRect">
            <a:avLst>
              <a:gd name="adj" fmla="val 5285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90F202-8ABF-4D5E-9FE4-9E9BF1898AC8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4333875" cy="1666875"/>
          </a:xfrm>
          <a:prstGeom prst="roundRect">
            <a:avLst>
              <a:gd name="adj" fmla="val 5490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FCF6B3-0AC2-4911-B426-0DE2B4E4D3B5}"/>
              </a:ext>
            </a:extLst>
          </p:cNvPr>
          <p:cNvSpPr>
            <a:spLocks noGrp="1"/>
          </p:cNvSpPr>
          <p:nvPr/>
        </p:nvSpPr>
        <p:spPr>
          <a:xfrm>
            <a:off x="6286500" y="4524375"/>
            <a:ext cx="4333875" cy="1666875"/>
          </a:xfrm>
          <a:prstGeom prst="roundRect">
            <a:avLst>
              <a:gd name="adj" fmla="val 5966"/>
            </a:avLst>
          </a:prstGeom>
          <a:solidFill>
            <a:srgbClr val="F7F4ED"/>
          </a:solidFill>
        </p:spPr>
        <p:txBody>
          <a:bodyPr/>
          <a:lstStyle/>
          <a:p>
            <a:endParaRPr sz="3200">
              <a:latin typeface="Tahoma"/>
              <a:ea typeface="Tahoma"/>
              <a:cs typeface="Tahoma"/>
            </a:endParaRPr>
          </a:p>
        </p:txBody>
      </p:sp>
      <p:sp>
        <p:nvSpPr>
          <p:cNvPr id="22" name="Round Same Side Corner Rectangle 21">
            <a:extLst>
              <a:ext uri="{FF2B5EF4-FFF2-40B4-BE49-F238E27FC236}">
                <a16:creationId xmlns:a16="http://schemas.microsoft.com/office/drawing/2014/main" id="{D6DDD592-98A9-D4C1-2760-C861EA807B6D}"/>
              </a:ext>
            </a:extLst>
          </p:cNvPr>
          <p:cNvSpPr>
            <a:spLocks noGrp="1"/>
          </p:cNvSpPr>
          <p:nvPr/>
        </p:nvSpPr>
        <p:spPr>
          <a:xfrm rot="10800000">
            <a:off x="1381125" y="3762375"/>
            <a:ext cx="4333875" cy="476250"/>
          </a:xfrm>
          <a:prstGeom prst="round2SameRect">
            <a:avLst>
              <a:gd name="adj1" fmla="val 18213"/>
              <a:gd name="adj2" fmla="val 0"/>
            </a:avLst>
          </a:prstGeom>
          <a:solidFill>
            <a:srgbClr val="F0E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>
              <a:solidFill>
                <a:srgbClr val="47433B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Round Same Side Corner Rectangle 22">
            <a:extLst>
              <a:ext uri="{FF2B5EF4-FFF2-40B4-BE49-F238E27FC236}">
                <a16:creationId xmlns:a16="http://schemas.microsoft.com/office/drawing/2014/main" id="{9634BB5C-AC6A-B713-27BE-1742CF794C1F}"/>
              </a:ext>
            </a:extLst>
          </p:cNvPr>
          <p:cNvSpPr>
            <a:spLocks noGrp="1"/>
          </p:cNvSpPr>
          <p:nvPr/>
        </p:nvSpPr>
        <p:spPr>
          <a:xfrm rot="10800000">
            <a:off x="6286500" y="3762375"/>
            <a:ext cx="4333875" cy="476250"/>
          </a:xfrm>
          <a:prstGeom prst="round2SameRect">
            <a:avLst>
              <a:gd name="adj1" fmla="val 18213"/>
              <a:gd name="adj2" fmla="val 0"/>
            </a:avLst>
          </a:prstGeom>
          <a:solidFill>
            <a:srgbClr val="F0E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>
              <a:solidFill>
                <a:srgbClr val="47433B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" name="Round Same Side Corner Rectangle 27">
            <a:extLst>
              <a:ext uri="{FF2B5EF4-FFF2-40B4-BE49-F238E27FC236}">
                <a16:creationId xmlns:a16="http://schemas.microsoft.com/office/drawing/2014/main" id="{65D8E0E5-F776-3579-9F86-D4E721B14EF8}"/>
              </a:ext>
            </a:extLst>
          </p:cNvPr>
          <p:cNvSpPr>
            <a:spLocks noGrp="1"/>
          </p:cNvSpPr>
          <p:nvPr/>
        </p:nvSpPr>
        <p:spPr>
          <a:xfrm rot="10800000">
            <a:off x="1381125" y="5715000"/>
            <a:ext cx="4333875" cy="476250"/>
          </a:xfrm>
          <a:prstGeom prst="round2SameRect">
            <a:avLst>
              <a:gd name="adj1" fmla="val 18213"/>
              <a:gd name="adj2" fmla="val 0"/>
            </a:avLst>
          </a:prstGeom>
          <a:solidFill>
            <a:srgbClr val="F0E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>
              <a:solidFill>
                <a:srgbClr val="47433B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09595243-22B5-763F-2E68-F9404D267E5B}"/>
              </a:ext>
            </a:extLst>
          </p:cNvPr>
          <p:cNvSpPr>
            <a:spLocks noGrp="1"/>
          </p:cNvSpPr>
          <p:nvPr/>
        </p:nvSpPr>
        <p:spPr>
          <a:xfrm rot="10800000">
            <a:off x="6286500" y="5715000"/>
            <a:ext cx="4333875" cy="476250"/>
          </a:xfrm>
          <a:prstGeom prst="round2SameRect">
            <a:avLst>
              <a:gd name="adj1" fmla="val 18213"/>
              <a:gd name="adj2" fmla="val 0"/>
            </a:avLst>
          </a:prstGeom>
          <a:solidFill>
            <a:srgbClr val="F0E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>
              <a:solidFill>
                <a:srgbClr val="47433B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585CF87-C276-49D8-A574-1052393D7FF6}"/>
              </a:ext>
            </a:extLst>
          </p:cNvPr>
          <p:cNvSpPr>
            <a:spLocks noGrp="1"/>
          </p:cNvSpPr>
          <p:nvPr/>
        </p:nvSpPr>
        <p:spPr>
          <a:xfrm>
            <a:off x="1647825" y="2762250"/>
            <a:ext cx="1809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Single loop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7EF360-F400-4D9C-BF83-5F264853B976}"/>
              </a:ext>
            </a:extLst>
          </p:cNvPr>
          <p:cNvSpPr>
            <a:spLocks noGrp="1"/>
          </p:cNvSpPr>
          <p:nvPr/>
        </p:nvSpPr>
        <p:spPr>
          <a:xfrm>
            <a:off x="1647825" y="4714875"/>
            <a:ext cx="1809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Staged loop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861AFE8-4C85-42F0-BA53-05F445AFD908}"/>
              </a:ext>
            </a:extLst>
          </p:cNvPr>
          <p:cNvSpPr>
            <a:spLocks noGrp="1"/>
          </p:cNvSpPr>
          <p:nvPr/>
        </p:nvSpPr>
        <p:spPr>
          <a:xfrm>
            <a:off x="6553200" y="2762250"/>
            <a:ext cx="1809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Parallel loops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456358-9656-4B4E-9B66-A0ABEEBDCF9D}"/>
              </a:ext>
            </a:extLst>
          </p:cNvPr>
          <p:cNvSpPr>
            <a:spLocks noGrp="1"/>
          </p:cNvSpPr>
          <p:nvPr/>
        </p:nvSpPr>
        <p:spPr>
          <a:xfrm>
            <a:off x="6553200" y="4714875"/>
            <a:ext cx="1809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Graph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1D481D1-4FCB-49E1-B3CE-D5E88495C9A3}"/>
              </a:ext>
            </a:extLst>
          </p:cNvPr>
          <p:cNvSpPr>
            <a:spLocks noGrp="1"/>
          </p:cNvSpPr>
          <p:nvPr/>
        </p:nvSpPr>
        <p:spPr>
          <a:xfrm>
            <a:off x="3429000" y="2743200"/>
            <a:ext cx="2000250" cy="819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Tarea simple con pocos pasos y una sola condición de éxito.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7ECFC3A-09FD-4FC7-B34A-A270FE0FD1D4}"/>
              </a:ext>
            </a:extLst>
          </p:cNvPr>
          <p:cNvSpPr>
            <a:spLocks noGrp="1"/>
          </p:cNvSpPr>
          <p:nvPr/>
        </p:nvSpPr>
        <p:spPr>
          <a:xfrm>
            <a:off x="1647825" y="3829050"/>
            <a:ext cx="3714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857C6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Ejemplo: implementar una función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4168010-F92E-4D6B-A860-A1BC596E3A3E}"/>
              </a:ext>
            </a:extLst>
          </p:cNvPr>
          <p:cNvSpPr>
            <a:spLocks noGrp="1"/>
          </p:cNvSpPr>
          <p:nvPr/>
        </p:nvSpPr>
        <p:spPr>
          <a:xfrm>
            <a:off x="3429000" y="4695825"/>
            <a:ext cx="2000250" cy="819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Tarea compleja con etapas que dependen de la anterior.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7E6613E-5BC3-40FE-8CA2-7AAC962CA5E4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2000250" cy="819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Trabajo simple y divisible en unidades independientes.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E368DFB-955C-429B-BFD0-674574BA8864}"/>
              </a:ext>
            </a:extLst>
          </p:cNvPr>
          <p:cNvSpPr>
            <a:spLocks noGrp="1"/>
          </p:cNvSpPr>
          <p:nvPr/>
        </p:nvSpPr>
        <p:spPr>
          <a:xfrm>
            <a:off x="8334375" y="4695825"/>
            <a:ext cx="2000250" cy="819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Tarea compleja con revisiones independientes y rutas condicionales.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48AB2C7-16A1-4A24-B7D4-18C276160702}"/>
              </a:ext>
            </a:extLst>
          </p:cNvPr>
          <p:cNvSpPr>
            <a:spLocks noGrp="1"/>
          </p:cNvSpPr>
          <p:nvPr/>
        </p:nvSpPr>
        <p:spPr>
          <a:xfrm>
            <a:off x="6553200" y="3829050"/>
            <a:ext cx="3714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857C6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Ejemplo: revisar 10 PRs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00EB14-1D09-453E-92B6-701BD250CE23}"/>
              </a:ext>
            </a:extLst>
          </p:cNvPr>
          <p:cNvSpPr>
            <a:spLocks noGrp="1"/>
          </p:cNvSpPr>
          <p:nvPr/>
        </p:nvSpPr>
        <p:spPr>
          <a:xfrm>
            <a:off x="1647825" y="5781675"/>
            <a:ext cx="3714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857C6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Ejemplo: feature con checkpoints</a:t>
            </a:r>
            <a:endParaRPr sz="1100">
              <a:latin typeface="Tahoma"/>
              <a:ea typeface="Tahoma"/>
              <a:cs typeface="Tahom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F367E6C-1C66-4AB3-A2BE-DBCB1B3684E9}"/>
              </a:ext>
            </a:extLst>
          </p:cNvPr>
          <p:cNvSpPr>
            <a:spLocks noGrp="1"/>
          </p:cNvSpPr>
          <p:nvPr/>
        </p:nvSpPr>
        <p:spPr>
          <a:xfrm>
            <a:off x="6553200" y="5781675"/>
            <a:ext cx="3714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857C6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Ejemplo: auth + datos + APIs</a:t>
            </a:r>
            <a:endParaRPr sz="1100">
              <a:latin typeface="Tahoma"/>
              <a:ea typeface="Tahoma"/>
              <a:cs typeface="Tahoma"/>
            </a:endParaRPr>
          </a:p>
        </p:txBody>
      </p:sp>
      <p:pic>
        <p:nvPicPr>
          <p:cNvPr id="5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2" y="400051"/>
            <a:ext cx="867785" cy="183659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80C2779C-110F-521F-7322-B4774D515BDF}"/>
              </a:ext>
            </a:extLst>
          </p:cNvPr>
          <p:cNvSpPr>
            <a:spLocks noGrp="1"/>
          </p:cNvSpPr>
          <p:nvPr/>
        </p:nvSpPr>
        <p:spPr>
          <a:xfrm>
            <a:off x="571501" y="583709"/>
            <a:ext cx="4991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4013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Loop o graph según el trabajo</a:t>
            </a:r>
            <a:endParaRPr sz="270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0095BBB8-652A-DF33-1D12-737C9C40CD44}"/>
              </a:ext>
            </a:extLst>
          </p:cNvPr>
          <p:cNvSpPr>
            <a:spLocks noGrp="1"/>
          </p:cNvSpPr>
          <p:nvPr/>
        </p:nvSpPr>
        <p:spPr>
          <a:xfrm>
            <a:off x="577851" y="1192437"/>
            <a:ext cx="4819339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La complejidad y la necesidad de concurrencia determinan la topología.</a:t>
            </a:r>
            <a:endParaRPr sz="1400">
              <a:latin typeface="Tahoma"/>
              <a:ea typeface="Tahoma"/>
              <a:cs typeface="Tahoma"/>
            </a:endParaRPr>
          </a:p>
        </p:txBody>
      </p:sp>
      <p:sp>
        <p:nvSpPr>
          <p:cNvPr id="31" name="Concurrency Axis">
            <a:extLst>
              <a:ext uri="{FF2B5EF4-FFF2-40B4-BE49-F238E27FC236}">
                <a16:creationId xmlns:a16="http://schemas.microsoft.com/office/drawing/2014/main" id="{9B78208D-7236-47E1-82E5-33CD2CBBEE2D}"/>
              </a:ext>
            </a:extLst>
          </p:cNvPr>
          <p:cNvSpPr>
            <a:spLocks noGrp="1"/>
          </p:cNvSpPr>
          <p:nvPr/>
        </p:nvSpPr>
        <p:spPr>
          <a:xfrm>
            <a:off x="6201726" y="2071688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E53212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E53212"/>
                </a:solidFill>
                <a:latin typeface="Tahoma"/>
                <a:ea typeface="Tahoma"/>
                <a:cs typeface="Tahoma"/>
              </a:rPr>
              <a:t>Mayor necesidad de concurrencia</a:t>
            </a:r>
          </a:p>
        </p:txBody>
      </p:sp>
      <p:sp>
        <p:nvSpPr>
          <p:cNvPr id="32" name="Complexity Axis">
            <a:extLst>
              <a:ext uri="{FF2B5EF4-FFF2-40B4-BE49-F238E27FC236}">
                <a16:creationId xmlns:a16="http://schemas.microsoft.com/office/drawing/2014/main" id="{2D5864D8-3D3B-47ED-B013-55BB92E316E1}"/>
              </a:ext>
            </a:extLst>
          </p:cNvPr>
          <p:cNvSpPr>
            <a:spLocks noGrp="1"/>
          </p:cNvSpPr>
          <p:nvPr/>
        </p:nvSpPr>
        <p:spPr>
          <a:xfrm rot="16200000">
            <a:off x="223837" y="5167313"/>
            <a:ext cx="119062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E53212"/>
                </a:solidFill>
                <a:latin typeface="Tahoma"/>
                <a:ea typeface="Tahoma"/>
                <a:cs typeface="Tahoma"/>
              </a:defRPr>
            </a:pPr>
            <a:r>
              <a:rPr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Mayor </a:t>
            </a:r>
            <a:r>
              <a:rPr sz="1050" b="1" dirty="0" err="1">
                <a:solidFill>
                  <a:srgbClr val="E53212"/>
                </a:solidFill>
                <a:latin typeface="Tahoma"/>
                <a:ea typeface="Tahoma"/>
                <a:cs typeface="Tahoma"/>
              </a:rPr>
              <a:t>complejidad</a:t>
            </a:r>
            <a:endParaRPr sz="1050" b="1" dirty="0">
              <a:solidFill>
                <a:srgbClr val="E532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Complexity Axis">
            <a:extLst>
              <a:ext uri="{FF2B5EF4-FFF2-40B4-BE49-F238E27FC236}">
                <a16:creationId xmlns:a16="http://schemas.microsoft.com/office/drawing/2014/main" id="{F77C4293-F66F-6460-0BDC-4C518E861F26}"/>
              </a:ext>
            </a:extLst>
          </p:cNvPr>
          <p:cNvSpPr>
            <a:spLocks noGrp="1"/>
          </p:cNvSpPr>
          <p:nvPr/>
        </p:nvSpPr>
        <p:spPr>
          <a:xfrm rot="16200000">
            <a:off x="223838" y="2880631"/>
            <a:ext cx="119062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E53212"/>
                </a:solidFill>
                <a:latin typeface="Tahoma"/>
                <a:ea typeface="Tahoma"/>
                <a:cs typeface="Tahoma"/>
              </a:defRPr>
            </a:pPr>
            <a:r>
              <a:rPr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M</a:t>
            </a:r>
            <a:r>
              <a:rPr lang="en-US"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enor</a:t>
            </a:r>
            <a:r>
              <a:rPr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1" dirty="0" err="1">
                <a:solidFill>
                  <a:srgbClr val="E53212"/>
                </a:solidFill>
                <a:latin typeface="Tahoma"/>
                <a:ea typeface="Tahoma"/>
                <a:cs typeface="Tahoma"/>
              </a:rPr>
              <a:t>complejidad</a:t>
            </a:r>
            <a:endParaRPr sz="1050" b="1" dirty="0">
              <a:solidFill>
                <a:srgbClr val="E5321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4" name="Concurrency Axis">
            <a:extLst>
              <a:ext uri="{FF2B5EF4-FFF2-40B4-BE49-F238E27FC236}">
                <a16:creationId xmlns:a16="http://schemas.microsoft.com/office/drawing/2014/main" id="{DADB36B2-39E6-AD70-F61E-87DF5F42BD8A}"/>
              </a:ext>
            </a:extLst>
          </p:cNvPr>
          <p:cNvSpPr>
            <a:spLocks noGrp="1"/>
          </p:cNvSpPr>
          <p:nvPr/>
        </p:nvSpPr>
        <p:spPr>
          <a:xfrm>
            <a:off x="1381124" y="207032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E53212"/>
                </a:solidFill>
                <a:latin typeface="Tahoma"/>
                <a:ea typeface="Tahoma"/>
                <a:cs typeface="Tahoma"/>
              </a:defRPr>
            </a:pPr>
            <a:r>
              <a:rPr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M</a:t>
            </a:r>
            <a:r>
              <a:rPr lang="en-US"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enor</a:t>
            </a:r>
            <a:r>
              <a:rPr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1" dirty="0" err="1">
                <a:solidFill>
                  <a:srgbClr val="E53212"/>
                </a:solidFill>
                <a:latin typeface="Tahoma"/>
                <a:ea typeface="Tahoma"/>
                <a:cs typeface="Tahoma"/>
              </a:rPr>
              <a:t>necesidad</a:t>
            </a:r>
            <a:r>
              <a:rPr sz="1050" b="1" dirty="0">
                <a:solidFill>
                  <a:srgbClr val="E53212"/>
                </a:solidFill>
                <a:latin typeface="Tahoma"/>
                <a:ea typeface="Tahoma"/>
                <a:cs typeface="Tahoma"/>
              </a:rPr>
              <a:t> de </a:t>
            </a:r>
            <a:r>
              <a:rPr sz="1050" b="1" dirty="0" err="1">
                <a:solidFill>
                  <a:srgbClr val="E53212"/>
                </a:solidFill>
                <a:latin typeface="Tahoma"/>
                <a:ea typeface="Tahoma"/>
                <a:cs typeface="Tahoma"/>
              </a:rPr>
              <a:t>concurrencia</a:t>
            </a:r>
            <a:endParaRPr sz="1050" b="1" dirty="0">
              <a:solidFill>
                <a:srgbClr val="E53212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98807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8B4DBD-077A-4D90-856D-32417B219C3C}"/>
              </a:ext>
            </a:extLst>
          </p:cNvPr>
          <p:cNvSpPr>
            <a:spLocks noGrp="1"/>
          </p:cNvSpPr>
          <p:nvPr/>
        </p:nvSpPr>
        <p:spPr>
          <a:xfrm>
            <a:off x="571500" y="2559051"/>
            <a:ext cx="3515125" cy="3515125"/>
          </a:xfrm>
          <a:prstGeom prst="ellipse">
            <a:avLst/>
          </a:prstGeom>
          <a:solidFill>
            <a:srgbClr val="FCF9F3"/>
          </a:solidFill>
          <a:ln w="5385">
            <a:solidFill>
              <a:srgbClr val="E0DACE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764C5B-8FC4-40C0-A6BA-9AC91C2C68CE}"/>
              </a:ext>
            </a:extLst>
          </p:cNvPr>
          <p:cNvSpPr>
            <a:spLocks noGrp="1"/>
          </p:cNvSpPr>
          <p:nvPr/>
        </p:nvSpPr>
        <p:spPr>
          <a:xfrm>
            <a:off x="4338427" y="2559051"/>
            <a:ext cx="3515125" cy="3515125"/>
          </a:xfrm>
          <a:prstGeom prst="ellipse">
            <a:avLst/>
          </a:prstGeom>
          <a:solidFill>
            <a:srgbClr val="FCF9F3"/>
          </a:solidFill>
          <a:ln w="5385">
            <a:solidFill>
              <a:srgbClr val="E0DACE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CAD4A6-E21E-4B16-90ED-3F9517D19DB4}"/>
              </a:ext>
            </a:extLst>
          </p:cNvPr>
          <p:cNvSpPr>
            <a:spLocks noGrp="1"/>
          </p:cNvSpPr>
          <p:nvPr/>
        </p:nvSpPr>
        <p:spPr>
          <a:xfrm>
            <a:off x="8105379" y="2559051"/>
            <a:ext cx="3515125" cy="3515125"/>
          </a:xfrm>
          <a:prstGeom prst="ellipse">
            <a:avLst/>
          </a:prstGeom>
          <a:solidFill>
            <a:srgbClr val="FCF9F3"/>
          </a:solidFill>
          <a:ln w="5385">
            <a:solidFill>
              <a:srgbClr val="E0DACE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BA0A5E8C-2998-4785-8295-315CBFFEBC50}"/>
              </a:ext>
            </a:extLst>
          </p:cNvPr>
          <p:cNvSpPr>
            <a:spLocks noGrp="1"/>
          </p:cNvSpPr>
          <p:nvPr/>
        </p:nvSpPr>
        <p:spPr>
          <a:xfrm>
            <a:off x="965200" y="3835400"/>
            <a:ext cx="1009651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57"/>
              </a:lnSpc>
              <a:buNone/>
            </a:pPr>
            <a:r>
              <a:rPr sz="7400">
                <a:solidFill>
                  <a:srgbClr val="EBE6D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1.</a:t>
            </a:r>
            <a:endParaRPr sz="7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976B785-B45B-4138-B62D-4446F290E2AC}"/>
              </a:ext>
            </a:extLst>
          </p:cNvPr>
          <p:cNvSpPr>
            <a:spLocks noGrp="1"/>
          </p:cNvSpPr>
          <p:nvPr/>
        </p:nvSpPr>
        <p:spPr>
          <a:xfrm>
            <a:off x="4730751" y="3835400"/>
            <a:ext cx="9779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57"/>
              </a:lnSpc>
              <a:buNone/>
            </a:pPr>
            <a:r>
              <a:rPr sz="7400">
                <a:solidFill>
                  <a:srgbClr val="EBE6D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2.</a:t>
            </a:r>
            <a:endParaRPr sz="7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DC72D6-109D-4F88-8831-0211687222E6}"/>
              </a:ext>
            </a:extLst>
          </p:cNvPr>
          <p:cNvSpPr>
            <a:spLocks noGrp="1"/>
          </p:cNvSpPr>
          <p:nvPr/>
        </p:nvSpPr>
        <p:spPr>
          <a:xfrm>
            <a:off x="8496301" y="3835400"/>
            <a:ext cx="971551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57"/>
              </a:lnSpc>
              <a:buNone/>
            </a:pPr>
            <a:r>
              <a:rPr sz="7400">
                <a:solidFill>
                  <a:srgbClr val="EBE6DD">
                    <a:alpha val="99000"/>
                  </a:srgbClr>
                </a:solidFill>
                <a:latin typeface="Tahoma"/>
                <a:ea typeface="Tahoma"/>
                <a:cs typeface="Tahoma"/>
              </a:rPr>
              <a:t>3.</a:t>
            </a:r>
            <a:endParaRPr sz="7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C1888E8-390B-4910-9568-F2E3CECFB601}"/>
              </a:ext>
            </a:extLst>
          </p:cNvPr>
          <p:cNvSpPr>
            <a:spLocks noGrp="1"/>
          </p:cNvSpPr>
          <p:nvPr/>
        </p:nvSpPr>
        <p:spPr>
          <a:xfrm>
            <a:off x="1784351" y="3530771"/>
            <a:ext cx="1949451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Preparar</a:t>
            </a:r>
            <a:endParaRPr sz="1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CFE7D11-D05A-44D3-8949-FDA3902846AD}"/>
              </a:ext>
            </a:extLst>
          </p:cNvPr>
          <p:cNvSpPr>
            <a:spLocks noGrp="1"/>
          </p:cNvSpPr>
          <p:nvPr/>
        </p:nvSpPr>
        <p:spPr>
          <a:xfrm>
            <a:off x="1784351" y="3925575"/>
            <a:ext cx="1949451" cy="1276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El humano define objetivos, límites, permisos y criterios de aceptación.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4A06CA9-CC69-474D-AAE5-059592211C93}"/>
              </a:ext>
            </a:extLst>
          </p:cNvPr>
          <p:cNvSpPr>
            <a:spLocks noGrp="1"/>
          </p:cNvSpPr>
          <p:nvPr/>
        </p:nvSpPr>
        <p:spPr>
          <a:xfrm>
            <a:off x="5549900" y="3530771"/>
            <a:ext cx="195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Ejecutar</a:t>
            </a:r>
            <a:endParaRPr sz="14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7E8DDFE-E7CC-45FB-8C15-3F0C1A9310A2}"/>
              </a:ext>
            </a:extLst>
          </p:cNvPr>
          <p:cNvSpPr>
            <a:spLocks noGrp="1"/>
          </p:cNvSpPr>
          <p:nvPr/>
        </p:nvSpPr>
        <p:spPr>
          <a:xfrm>
            <a:off x="9315451" y="3530771"/>
            <a:ext cx="195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Aprobar</a:t>
            </a:r>
            <a:endParaRPr sz="1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8286170-8FC1-418C-AD86-DA14FEDCAFE2}"/>
              </a:ext>
            </a:extLst>
          </p:cNvPr>
          <p:cNvSpPr>
            <a:spLocks noGrp="1"/>
          </p:cNvSpPr>
          <p:nvPr/>
        </p:nvSpPr>
        <p:spPr>
          <a:xfrm>
            <a:off x="5549900" y="3925575"/>
            <a:ext cx="1955800" cy="1276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Los agentes producen cambios, tests, revisiones y evidencia.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1E9101E-A049-4834-9F4E-37F01011E52B}"/>
              </a:ext>
            </a:extLst>
          </p:cNvPr>
          <p:cNvSpPr>
            <a:spLocks noGrp="1"/>
          </p:cNvSpPr>
          <p:nvPr/>
        </p:nvSpPr>
        <p:spPr>
          <a:xfrm>
            <a:off x="9315451" y="3925575"/>
            <a:ext cx="1955800" cy="1276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Una persona valida riesgos, excepciones y decisiones irreversibles.</a:t>
            </a:r>
            <a:endParaRPr sz="1100">
              <a:solidFill>
                <a:srgbClr val="47433B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C04798C-021F-6C81-DF61-F135C863DB9C}"/>
              </a:ext>
            </a:extLst>
          </p:cNvPr>
          <p:cNvSpPr>
            <a:spLocks noGrp="1"/>
          </p:cNvSpPr>
          <p:nvPr/>
        </p:nvSpPr>
        <p:spPr>
          <a:xfrm>
            <a:off x="571501" y="583709"/>
            <a:ext cx="4991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4013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La autonomía exige control</a:t>
            </a:r>
            <a:endParaRPr sz="270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EF1667B-4A75-FFEC-B3D7-55E36573F9C8}"/>
              </a:ext>
            </a:extLst>
          </p:cNvPr>
          <p:cNvSpPr>
            <a:spLocks noGrp="1"/>
          </p:cNvSpPr>
          <p:nvPr/>
        </p:nvSpPr>
        <p:spPr>
          <a:xfrm>
            <a:off x="577851" y="1192437"/>
            <a:ext cx="4449253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Human-in-the-loop aprueba decisiones relevantes.</a:t>
            </a:r>
            <a:endParaRPr sz="140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50771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 l="2965" t="2836" b="43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2893C36-6597-4E2D-A45A-871D08B52878}"/>
              </a:ext>
            </a:extLst>
          </p:cNvPr>
          <p:cNvSpPr>
            <a:spLocks noGrp="1"/>
          </p:cNvSpPr>
          <p:nvPr/>
        </p:nvSpPr>
        <p:spPr>
          <a:xfrm>
            <a:off x="-549699" y="-454026"/>
            <a:ext cx="12741700" cy="7766051"/>
          </a:xfrm>
          <a:prstGeom prst="rect">
            <a:avLst/>
          </a:prstGeom>
          <a:noFill/>
        </p:spPr>
        <p:txBody>
          <a:bodyPr/>
          <a:lstStyle/>
          <a:p>
            <a:endParaRPr sz="3200"/>
          </a:p>
        </p:txBody>
      </p:sp>
      <p:pic>
        <p:nvPicPr>
          <p:cNvPr id="1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EDA64F4A-7748-4901-01F7-62DAC9BAC9AC}"/>
              </a:ext>
            </a:extLst>
          </p:cNvPr>
          <p:cNvSpPr>
            <a:spLocks noGrp="1"/>
          </p:cNvSpPr>
          <p:nvPr/>
        </p:nvSpPr>
        <p:spPr>
          <a:xfrm>
            <a:off x="571501" y="3149665"/>
            <a:ext cx="5010441" cy="30004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683"/>
              </a:lnSpc>
              <a:buNone/>
            </a:pPr>
            <a:r>
              <a:rPr sz="20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Artefactos agénticos</a:t>
            </a:r>
            <a:endParaRPr sz="2000">
              <a:solidFill>
                <a:srgbClr val="47433B"/>
              </a:solidFill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2851295-16F6-AA2D-59C5-35F0310E3039}"/>
              </a:ext>
            </a:extLst>
          </p:cNvPr>
          <p:cNvSpPr>
            <a:spLocks noGrp="1"/>
          </p:cNvSpPr>
          <p:nvPr/>
        </p:nvSpPr>
        <p:spPr>
          <a:xfrm>
            <a:off x="571501" y="3562223"/>
            <a:ext cx="5010441" cy="26361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Issues, especificaciones, instrucciones versionadas, skills, tests, pipelines y checkpoints forman el contexto operativo del desarrollo.</a:t>
            </a:r>
          </a:p>
          <a:p>
            <a:pPr>
              <a:lnSpc>
                <a:spcPts val="1347"/>
              </a:lnSpc>
              <a:buNone/>
            </a:pPr>
            <a:endParaRPr sz="1100">
              <a:solidFill>
                <a:srgbClr val="47433B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ts val="1347"/>
              </a:lnSpc>
              <a:buNone/>
            </a:pPr>
            <a:r>
              <a:rPr sz="1100">
                <a:solidFill>
                  <a:srgbClr val="47433B"/>
                </a:solidFill>
                <a:latin typeface="Tahoma"/>
                <a:ea typeface="Tahoma"/>
                <a:cs typeface="Tahoma"/>
              </a:rPr>
              <a:t>El equipo convierte su forma de trabajar en información seleccionable, herramientas ejecutables y controles reutilizables.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EFDA3D4-2739-C50D-FC42-EF14CE40D36A}"/>
              </a:ext>
            </a:extLst>
          </p:cNvPr>
          <p:cNvSpPr>
            <a:spLocks noGrp="1"/>
          </p:cNvSpPr>
          <p:nvPr/>
        </p:nvSpPr>
        <p:spPr>
          <a:xfrm>
            <a:off x="571501" y="583708"/>
            <a:ext cx="5010440" cy="8097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981"/>
              </a:lnSpc>
              <a:buNone/>
            </a:pPr>
            <a:r>
              <a:rPr sz="27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El SDLC se vuelve contexto ejecutable</a:t>
            </a:r>
            <a:endParaRPr sz="27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A8578D6-A539-04E1-117F-96C4DE8086F7}"/>
              </a:ext>
            </a:extLst>
          </p:cNvPr>
          <p:cNvSpPr>
            <a:spLocks noGrp="1"/>
          </p:cNvSpPr>
          <p:nvPr/>
        </p:nvSpPr>
        <p:spPr>
          <a:xfrm>
            <a:off x="577851" y="1505961"/>
            <a:ext cx="5004091" cy="4254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Las prácticas del equipo dejan de vivir solo en documentos y pasan a orientar el comportamiento de los agentes.</a:t>
            </a:r>
            <a:endParaRPr sz="140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323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2845891-05D1-4B93-444A-FAC0905174F8}"/>
              </a:ext>
            </a:extLst>
          </p:cNvPr>
          <p:cNvSpPr>
            <a:spLocks noGrp="1"/>
          </p:cNvSpPr>
          <p:nvPr/>
        </p:nvSpPr>
        <p:spPr>
          <a:xfrm>
            <a:off x="0" y="-38099"/>
            <a:ext cx="12192000" cy="6896100"/>
          </a:xfrm>
          <a:prstGeom prst="rect">
            <a:avLst/>
          </a:prstGeom>
          <a:solidFill>
            <a:srgbClr val="FCF9F3"/>
          </a:solidFill>
        </p:spPr>
        <p:txBody>
          <a:bodyPr/>
          <a:lstStyle/>
          <a:p>
            <a:endParaRPr sz="32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F8F505E-5AB8-EFA3-9AFC-CC4E78D97989}"/>
              </a:ext>
            </a:extLst>
          </p:cNvPr>
          <p:cNvSpPr>
            <a:spLocks noGrp="1"/>
          </p:cNvSpPr>
          <p:nvPr/>
        </p:nvSpPr>
        <p:spPr>
          <a:xfrm rot="10800000">
            <a:off x="2813051" y="-555391"/>
            <a:ext cx="9883140" cy="8115300"/>
          </a:xfrm>
          <a:prstGeom prst="rect">
            <a:avLst/>
          </a:prstGeom>
          <a:noFill/>
        </p:spPr>
        <p:txBody>
          <a:bodyPr/>
          <a:lstStyle/>
          <a:p>
            <a:endParaRPr sz="3200"/>
          </a:p>
        </p:txBody>
      </p:sp>
      <p:pic>
        <p:nvPicPr>
          <p:cNvPr id="21" name="Picture 16"/>
          <p:cNvPicPr>
            <a:picLocks noChangeAspect="1"/>
          </p:cNvPicPr>
          <p:nvPr/>
        </p:nvPicPr>
        <p:blipFill>
          <a:blip r:embed="rId4"/>
          <a:srcRect t="2852" r="15632" b="2122"/>
          <a:stretch>
            <a:fillRect/>
          </a:stretch>
        </p:blipFill>
        <p:spPr>
          <a:xfrm>
            <a:off x="2299353" y="-49628"/>
            <a:ext cx="9908140" cy="6974851"/>
          </a:xfrm>
          <a:prstGeom prst="rect">
            <a:avLst/>
          </a:prstGeom>
        </p:spPr>
      </p:pic>
      <p:pic>
        <p:nvPicPr>
          <p:cNvPr id="22" name="Image 2"/>
          <p:cNvPicPr>
            <a:picLocks noChangeAspect="1"/>
          </p:cNvPicPr>
          <p:nvPr/>
        </p:nvPicPr>
        <p:blipFill>
          <a:blip r:embed="rId5"/>
          <a:srcRect b="552"/>
          <a:stretch/>
        </p:blipFill>
        <p:spPr>
          <a:xfrm>
            <a:off x="1813942" y="-49626"/>
            <a:ext cx="5144393" cy="6957252"/>
          </a:xfrm>
          <a:prstGeom prst="rect">
            <a:avLst/>
          </a:prstGeom>
        </p:spPr>
      </p:pic>
      <p:pic>
        <p:nvPicPr>
          <p:cNvPr id="23" name="Image 3"/>
          <p:cNvPicPr>
            <a:picLocks noChangeAspect="1"/>
          </p:cNvPicPr>
          <p:nvPr/>
        </p:nvPicPr>
        <p:blipFill>
          <a:blip r:embed="rId6"/>
          <a:srcRect r="436" b="990"/>
          <a:stretch/>
        </p:blipFill>
        <p:spPr>
          <a:xfrm>
            <a:off x="-30839" y="-58468"/>
            <a:ext cx="12238332" cy="6983691"/>
          </a:xfrm>
          <a:prstGeom prst="rect">
            <a:avLst/>
          </a:prstGeom>
        </p:spPr>
      </p:pic>
      <p:pic>
        <p:nvPicPr>
          <p:cNvPr id="24" name="Imag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00051"/>
            <a:ext cx="867792" cy="183659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D79C6AC-91EF-7FF8-5DCD-FBC7F2EB3A7B}"/>
              </a:ext>
            </a:extLst>
          </p:cNvPr>
          <p:cNvSpPr>
            <a:spLocks noGrp="1"/>
          </p:cNvSpPr>
          <p:nvPr/>
        </p:nvSpPr>
        <p:spPr>
          <a:xfrm>
            <a:off x="609601" y="2438400"/>
            <a:ext cx="4792980" cy="198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7068"/>
              </a:lnSpc>
              <a:buNone/>
            </a:pPr>
            <a:r>
              <a:rPr sz="7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Sistemas,</a:t>
            </a:r>
            <a:endParaRPr sz="7000"/>
          </a:p>
          <a:p>
            <a:pPr>
              <a:lnSpc>
                <a:spcPts val="7068"/>
              </a:lnSpc>
              <a:buNone/>
            </a:pPr>
            <a:r>
              <a:rPr sz="700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no prompts</a:t>
            </a:r>
            <a:endParaRPr sz="700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C2CD06E-37FF-E2FD-B9E8-85C19902EFD0}"/>
              </a:ext>
            </a:extLst>
          </p:cNvPr>
          <p:cNvSpPr>
            <a:spLocks noGrp="1"/>
          </p:cNvSpPr>
          <p:nvPr/>
        </p:nvSpPr>
        <p:spPr>
          <a:xfrm>
            <a:off x="609601" y="5295923"/>
            <a:ext cx="3192780" cy="67985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09"/>
              </a:lnSpc>
              <a:buNone/>
            </a:pPr>
            <a:r>
              <a:rPr sz="140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Contexto útil. Ejecución verificable. Autonomía gobernable.</a:t>
            </a:r>
            <a:endParaRPr sz="140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68062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2845891-05D1-4B93-444A-FAC0905174F8}"/>
              </a:ext>
            </a:extLst>
          </p:cNvPr>
          <p:cNvSpPr>
            <a:spLocks noGrp="1"/>
          </p:cNvSpPr>
          <p:nvPr/>
        </p:nvSpPr>
        <p:spPr>
          <a:xfrm>
            <a:off x="0" y="-38099"/>
            <a:ext cx="12192000" cy="6896100"/>
          </a:xfrm>
          <a:prstGeom prst="rect">
            <a:avLst/>
          </a:prstGeom>
          <a:solidFill>
            <a:srgbClr val="FCF9F3"/>
          </a:solidFill>
        </p:spPr>
        <p:txBody>
          <a:bodyPr/>
          <a:lstStyle/>
          <a:p>
            <a:endParaRPr sz="32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F8F505E-5AB8-EFA3-9AFC-CC4E78D97989}"/>
              </a:ext>
            </a:extLst>
          </p:cNvPr>
          <p:cNvSpPr>
            <a:spLocks noGrp="1"/>
          </p:cNvSpPr>
          <p:nvPr/>
        </p:nvSpPr>
        <p:spPr>
          <a:xfrm rot="10800000">
            <a:off x="2813051" y="-555391"/>
            <a:ext cx="9883140" cy="8115300"/>
          </a:xfrm>
          <a:prstGeom prst="rect">
            <a:avLst/>
          </a:prstGeom>
          <a:noFill/>
        </p:spPr>
        <p:txBody>
          <a:bodyPr/>
          <a:lstStyle/>
          <a:p>
            <a:endParaRPr sz="3200"/>
          </a:p>
        </p:txBody>
      </p:sp>
      <p:pic>
        <p:nvPicPr>
          <p:cNvPr id="24" name="Imag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500" y="400051"/>
            <a:ext cx="867792" cy="183659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D79C6AC-91EF-7FF8-5DCD-FBC7F2EB3A7B}"/>
              </a:ext>
            </a:extLst>
          </p:cNvPr>
          <p:cNvSpPr>
            <a:spLocks noGrp="1"/>
          </p:cNvSpPr>
          <p:nvPr/>
        </p:nvSpPr>
        <p:spPr>
          <a:xfrm>
            <a:off x="179832" y="2873122"/>
            <a:ext cx="4792980" cy="10736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7068"/>
              </a:lnSpc>
              <a:buNone/>
            </a:pPr>
            <a:r>
              <a:rPr lang="en-US" sz="6000" dirty="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¿</a:t>
            </a:r>
            <a:r>
              <a:rPr sz="6000" dirty="0" err="1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Preguntas</a:t>
            </a:r>
            <a:r>
              <a:rPr lang="en-US" sz="6000" dirty="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?</a:t>
            </a:r>
            <a:endParaRPr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C2CD06E-37FF-E2FD-B9E8-85C19902EFD0}"/>
              </a:ext>
            </a:extLst>
          </p:cNvPr>
          <p:cNvSpPr>
            <a:spLocks noGrp="1"/>
          </p:cNvSpPr>
          <p:nvPr/>
        </p:nvSpPr>
        <p:spPr>
          <a:xfrm>
            <a:off x="508254" y="4464072"/>
            <a:ext cx="4136135" cy="1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09"/>
              </a:lnSpc>
              <a:buNone/>
            </a:pP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Dudas,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objeciones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y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los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casos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reales de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tu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equipo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.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Abramos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el debate.</a:t>
            </a:r>
            <a:endParaRPr sz="1400" dirty="0">
              <a:latin typeface="Tahoma"/>
              <a:ea typeface="Tahoma"/>
              <a:cs typeface="Tahoma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CDC62794-8FD3-5FDB-7B03-00C6D345E0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70"/>
          <a:stretch>
            <a:fillRect/>
          </a:stretch>
        </p:blipFill>
        <p:spPr>
          <a:xfrm>
            <a:off x="5044048" y="0"/>
            <a:ext cx="7147952" cy="639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62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0551" y="400051"/>
            <a:ext cx="867792" cy="18365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2845891-05D1-4B93-444A-FAC0905174F8}"/>
              </a:ext>
            </a:extLst>
          </p:cNvPr>
          <p:cNvSpPr>
            <a:spLocks noGrp="1"/>
          </p:cNvSpPr>
          <p:nvPr/>
        </p:nvSpPr>
        <p:spPr>
          <a:xfrm>
            <a:off x="0" y="-38099"/>
            <a:ext cx="12192000" cy="6896100"/>
          </a:xfrm>
          <a:prstGeom prst="rect">
            <a:avLst/>
          </a:prstGeom>
          <a:solidFill>
            <a:srgbClr val="FCF9F3"/>
          </a:solidFill>
        </p:spPr>
        <p:txBody>
          <a:bodyPr/>
          <a:lstStyle/>
          <a:p>
            <a:endParaRPr sz="32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F8F505E-5AB8-EFA3-9AFC-CC4E78D97989}"/>
              </a:ext>
            </a:extLst>
          </p:cNvPr>
          <p:cNvSpPr>
            <a:spLocks noGrp="1"/>
          </p:cNvSpPr>
          <p:nvPr/>
        </p:nvSpPr>
        <p:spPr>
          <a:xfrm rot="10800000">
            <a:off x="2813051" y="-555391"/>
            <a:ext cx="9883140" cy="8115300"/>
          </a:xfrm>
          <a:prstGeom prst="rect">
            <a:avLst/>
          </a:prstGeom>
          <a:noFill/>
        </p:spPr>
        <p:txBody>
          <a:bodyPr/>
          <a:lstStyle/>
          <a:p>
            <a:endParaRPr sz="3200"/>
          </a:p>
        </p:txBody>
      </p:sp>
      <p:pic>
        <p:nvPicPr>
          <p:cNvPr id="21" name="Picture 16"/>
          <p:cNvPicPr>
            <a:picLocks noChangeAspect="1"/>
          </p:cNvPicPr>
          <p:nvPr/>
        </p:nvPicPr>
        <p:blipFill>
          <a:blip r:embed="rId3"/>
          <a:srcRect t="2852" r="15632" b="2122"/>
          <a:stretch>
            <a:fillRect/>
          </a:stretch>
        </p:blipFill>
        <p:spPr>
          <a:xfrm>
            <a:off x="2299353" y="-49628"/>
            <a:ext cx="9908140" cy="6974851"/>
          </a:xfrm>
          <a:prstGeom prst="rect">
            <a:avLst/>
          </a:prstGeom>
        </p:spPr>
      </p:pic>
      <p:pic>
        <p:nvPicPr>
          <p:cNvPr id="22" name="Image 2"/>
          <p:cNvPicPr>
            <a:picLocks noChangeAspect="1"/>
          </p:cNvPicPr>
          <p:nvPr/>
        </p:nvPicPr>
        <p:blipFill>
          <a:blip r:embed="rId4"/>
          <a:srcRect b="552"/>
          <a:stretch/>
        </p:blipFill>
        <p:spPr>
          <a:xfrm>
            <a:off x="1813942" y="-49626"/>
            <a:ext cx="5144393" cy="6957252"/>
          </a:xfrm>
          <a:prstGeom prst="rect">
            <a:avLst/>
          </a:prstGeom>
        </p:spPr>
      </p:pic>
      <p:pic>
        <p:nvPicPr>
          <p:cNvPr id="23" name="Image 3"/>
          <p:cNvPicPr>
            <a:picLocks noChangeAspect="1"/>
          </p:cNvPicPr>
          <p:nvPr/>
        </p:nvPicPr>
        <p:blipFill>
          <a:blip r:embed="rId5"/>
          <a:srcRect r="436" b="990"/>
          <a:stretch/>
        </p:blipFill>
        <p:spPr>
          <a:xfrm>
            <a:off x="-30839" y="-58468"/>
            <a:ext cx="12238332" cy="6983691"/>
          </a:xfrm>
          <a:prstGeom prst="rect">
            <a:avLst/>
          </a:prstGeom>
        </p:spPr>
      </p:pic>
      <p:pic>
        <p:nvPicPr>
          <p:cNvPr id="24" name="Imag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500" y="400051"/>
            <a:ext cx="867792" cy="183659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D79C6AC-91EF-7FF8-5DCD-FBC7F2EB3A7B}"/>
              </a:ext>
            </a:extLst>
          </p:cNvPr>
          <p:cNvSpPr>
            <a:spLocks noGrp="1"/>
          </p:cNvSpPr>
          <p:nvPr/>
        </p:nvSpPr>
        <p:spPr>
          <a:xfrm>
            <a:off x="609601" y="2438400"/>
            <a:ext cx="4792980" cy="198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7068"/>
              </a:lnSpc>
              <a:buNone/>
            </a:pPr>
            <a:r>
              <a:rPr lang="en-US" sz="7000" dirty="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¡</a:t>
            </a:r>
            <a:r>
              <a:rPr sz="7000" dirty="0" err="1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Muchas</a:t>
            </a:r>
            <a:r>
              <a:rPr lang="en-US" sz="7000" dirty="0"/>
              <a:t> </a:t>
            </a:r>
            <a:r>
              <a:rPr lang="en-US" sz="7000" dirty="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g</a:t>
            </a:r>
            <a:r>
              <a:rPr sz="7000" dirty="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racias</a:t>
            </a:r>
            <a:r>
              <a:rPr lang="en-US" sz="7000" dirty="0">
                <a:solidFill>
                  <a:srgbClr val="DD2C00">
                    <a:alpha val="99000"/>
                  </a:srgbClr>
                </a:solidFill>
                <a:latin typeface="Tahoma"/>
                <a:ea typeface="Tahoma"/>
                <a:cs typeface="Tahoma"/>
              </a:rPr>
              <a:t>!</a:t>
            </a:r>
            <a:endParaRPr sz="7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C2CD06E-37FF-E2FD-B9E8-85C19902EFD0}"/>
              </a:ext>
            </a:extLst>
          </p:cNvPr>
          <p:cNvSpPr>
            <a:spLocks noGrp="1"/>
          </p:cNvSpPr>
          <p:nvPr/>
        </p:nvSpPr>
        <p:spPr>
          <a:xfrm>
            <a:off x="571500" y="1400257"/>
            <a:ext cx="6172200" cy="1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09"/>
              </a:lnSpc>
              <a:buNone/>
            </a:pP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Dejá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de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escribir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el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próximo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prompt: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diseñá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el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sistema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que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ya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 no lo </a:t>
            </a:r>
            <a:r>
              <a:rPr sz="1400" dirty="0" err="1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necesita</a:t>
            </a:r>
            <a:r>
              <a:rPr sz="1400" dirty="0">
                <a:solidFill>
                  <a:srgbClr val="47433B">
                    <a:alpha val="99000"/>
                  </a:srgbClr>
                </a:solidFill>
                <a:latin typeface="Tahoma"/>
                <a:ea typeface="Tahoma"/>
                <a:cs typeface="Tahoma"/>
              </a:rPr>
              <a:t>.</a:t>
            </a:r>
            <a:endParaRPr sz="1400" dirty="0">
              <a:latin typeface="Tahoma"/>
              <a:ea typeface="Tahoma"/>
              <a:cs typeface="Tahoma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A983488-1550-EA77-E116-B58E21AC6357}"/>
              </a:ext>
            </a:extLst>
          </p:cNvPr>
          <p:cNvSpPr/>
          <p:nvPr/>
        </p:nvSpPr>
        <p:spPr>
          <a:xfrm>
            <a:off x="609601" y="5295923"/>
            <a:ext cx="3192780" cy="679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9"/>
              </a:lnSpc>
            </a:pPr>
            <a:r>
              <a:rPr lang="en-US" sz="1400" dirty="0">
                <a:solidFill>
                  <a:srgbClr val="47433B">
                    <a:alpha val="99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Ezequiel Etchecoin, Senior </a:t>
            </a:r>
            <a:r>
              <a:rPr lang="en-US" sz="1400" dirty="0" err="1">
                <a:solidFill>
                  <a:srgbClr val="47433B">
                    <a:alpha val="99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.Net</a:t>
            </a:r>
            <a:r>
              <a:rPr lang="en-US" sz="1400" dirty="0">
                <a:solidFill>
                  <a:srgbClr val="47433B">
                    <a:alpha val="99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Engineer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ts val="2109"/>
              </a:lnSpc>
            </a:pPr>
            <a:r>
              <a:rPr lang="en-US" sz="1400">
                <a:solidFill>
                  <a:srgbClr val="47433B">
                    <a:alpha val="99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ezequiel.etchecoin@</a:t>
            </a:r>
            <a:r>
              <a:rPr lang="en-US" sz="1400" dirty="0">
                <a:solidFill>
                  <a:srgbClr val="47433B">
                    <a:alpha val="99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avenga.com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06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Avenga 2">
      <a:dk1>
        <a:srgbClr val="47433B"/>
      </a:dk1>
      <a:lt1>
        <a:srgbClr val="FBF8F3"/>
      </a:lt1>
      <a:dk2>
        <a:srgbClr val="B2A893"/>
      </a:dk2>
      <a:lt2>
        <a:srgbClr val="DBD7CB"/>
      </a:lt2>
      <a:accent1>
        <a:srgbClr val="DD2C00"/>
      </a:accent1>
      <a:accent2>
        <a:srgbClr val="FEA890"/>
      </a:accent2>
      <a:accent3>
        <a:srgbClr val="857B6D"/>
      </a:accent3>
      <a:accent4>
        <a:srgbClr val="EEEDE8"/>
      </a:accent4>
      <a:accent5>
        <a:srgbClr val="FDFBFA"/>
      </a:accent5>
      <a:accent6>
        <a:srgbClr val="F7F3ED"/>
      </a:accent6>
      <a:hlink>
        <a:srgbClr val="857C6D"/>
      </a:hlink>
      <a:folHlink>
        <a:srgbClr val="EBE6DD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venga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Theme">
  <a:themeElements>
    <a:clrScheme name="Avenga 2">
      <a:dk1>
        <a:srgbClr val="47433B"/>
      </a:dk1>
      <a:lt1>
        <a:srgbClr val="FBF8F3"/>
      </a:lt1>
      <a:dk2>
        <a:srgbClr val="B2A893"/>
      </a:dk2>
      <a:lt2>
        <a:srgbClr val="DBD7CB"/>
      </a:lt2>
      <a:accent1>
        <a:srgbClr val="DD2C00"/>
      </a:accent1>
      <a:accent2>
        <a:srgbClr val="FEA890"/>
      </a:accent2>
      <a:accent3>
        <a:srgbClr val="857B6D"/>
      </a:accent3>
      <a:accent4>
        <a:srgbClr val="EEEDE8"/>
      </a:accent4>
      <a:accent5>
        <a:srgbClr val="FDFBFA"/>
      </a:accent5>
      <a:accent6>
        <a:srgbClr val="F7F3ED"/>
      </a:accent6>
      <a:hlink>
        <a:srgbClr val="857C6D"/>
      </a:hlink>
      <a:folHlink>
        <a:srgbClr val="EBE6DD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venga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2086</Words>
  <Application>Microsoft Office PowerPoint</Application>
  <DocSecurity>0</DocSecurity>
  <PresentationFormat>Panorámica</PresentationFormat>
  <Paragraphs>274</Paragraphs>
  <Slides>18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Tahoma</vt:lpstr>
      <vt:lpstr>Calibri</vt:lpstr>
      <vt:lpstr>Calibri Light</vt:lpstr>
      <vt:lpstr>Arial</vt:lpstr>
      <vt:lpstr>Office 2013 - 2022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Ezequiel Etchecoin</cp:lastModifiedBy>
  <cp:revision>3</cp:revision>
  <dcterms:created xsi:type="dcterms:W3CDTF">2026-09-19T21:30:01Z</dcterms:created>
  <dcterms:modified xsi:type="dcterms:W3CDTF">2026-09-22T02:58:37Z</dcterms:modified>
</cp:coreProperties>
</file>