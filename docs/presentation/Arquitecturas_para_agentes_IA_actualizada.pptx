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jpeg" ContentType="image/jpe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93193a0124478" /><Relationship Type="http://schemas.openxmlformats.org/officeDocument/2006/relationships/extended-properties" Target="/docProps/app.xml" Id="Rb47138fe06d84b99" /><Relationship Type="http://schemas.openxmlformats.org/officeDocument/2006/relationships/officeDocument" Target="/ppt/presentation.xml" Id="R227e2eccc08f4490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4e6768e5c92d49cb"/>
  </p:sldMasterIdLst>
  <p:notesMasterIdLst>
    <p:notesMasterId xmlns:r="http://schemas.openxmlformats.org/officeDocument/2006/relationships" r:id="Rf0acd0f048d94e66"/>
  </p:notesMasterIdLst>
  <p:sldIdLst>
    <p:sldId xmlns:r="http://schemas.openxmlformats.org/officeDocument/2006/relationships" id="256" r:id="R742dfb4d9a1345e7"/>
    <p:sldId xmlns:r="http://schemas.openxmlformats.org/officeDocument/2006/relationships" id="257" r:id="Re54fcce643ff4690"/>
    <p:sldId xmlns:r="http://schemas.openxmlformats.org/officeDocument/2006/relationships" id="258" r:id="Rc33487e8dd0e4074"/>
    <p:sldId xmlns:r="http://schemas.openxmlformats.org/officeDocument/2006/relationships" id="259" r:id="Rea79a4397e7e4025"/>
    <p:sldId xmlns:r="http://schemas.openxmlformats.org/officeDocument/2006/relationships" id="260" r:id="R64701feb12d84d65"/>
    <p:sldId xmlns:r="http://schemas.openxmlformats.org/officeDocument/2006/relationships" id="261" r:id="R5abc091a24b6401d"/>
    <p:sldId xmlns:r="http://schemas.openxmlformats.org/officeDocument/2006/relationships" id="262" r:id="Rf5ea045d6ab74f59"/>
    <p:sldId xmlns:r="http://schemas.openxmlformats.org/officeDocument/2006/relationships" id="263" r:id="R7b7f4700dbed48e2"/>
    <p:sldId xmlns:r="http://schemas.openxmlformats.org/officeDocument/2006/relationships" id="264" r:id="Rd20b06147be74b07"/>
    <p:sldId xmlns:r="http://schemas.openxmlformats.org/officeDocument/2006/relationships" id="265" r:id="R721a952588df489e"/>
    <p:sldId xmlns:r="http://schemas.openxmlformats.org/officeDocument/2006/relationships" id="266" r:id="R8d4820da5bc84d7d"/>
    <p:sldId xmlns:r="http://schemas.openxmlformats.org/officeDocument/2006/relationships" id="267" r:id="R9f49dd58f94c494d"/>
    <p:sldId xmlns:r="http://schemas.openxmlformats.org/officeDocument/2006/relationships" id="268" r:id="Re034e109562d4b5d"/>
    <p:sldId xmlns:r="http://schemas.openxmlformats.org/officeDocument/2006/relationships" id="269" r:id="Ra06789e3e3a046e2"/>
    <p:sldId xmlns:r="http://schemas.openxmlformats.org/officeDocument/2006/relationships" id="270" r:id="R645b6838bbba4f25"/>
    <p:sldId xmlns:r="http://schemas.openxmlformats.org/officeDocument/2006/relationships" id="271" r:id="Recf1c570dd2849de"/>
    <p:sldId xmlns:r="http://schemas.openxmlformats.org/officeDocument/2006/relationships" id="272" r:id="R20eba6ece1b24337"/>
  </p:sldIdLst>
  <p:sldSz cx="12192000" cy="6858000"/>
  <p:notesSz cx="6858000" cy="9144000"/>
  <p:embeddedFontLst>
    <p:embeddedFont>
      <p:font typeface="Tahoma"/>
      <p:regular xmlns:r="http://schemas.openxmlformats.org/officeDocument/2006/relationships" r:id="R3c3d2e6759c44527"/>
      <p:bold xmlns:r="http://schemas.openxmlformats.org/officeDocument/2006/relationships" r:id="R9df522dc534045a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09896503be4777" /><Relationship Type="http://schemas.openxmlformats.org/officeDocument/2006/relationships/slideMaster" Target="/ppt/slideMasters/slideMaster1.xml" Id="R4e6768e5c92d49cb" /><Relationship Type="http://schemas.openxmlformats.org/officeDocument/2006/relationships/notesMaster" Target="/ppt/notesMasters/notesMaster1.xml" Id="Rf0acd0f048d94e66" /><Relationship Type="http://schemas.openxmlformats.org/officeDocument/2006/relationships/presProps" Target="/ppt/presProps.xml" Id="Raa3c1482e1c14d48" /><Relationship Type="http://schemas.openxmlformats.org/officeDocument/2006/relationships/viewProps" Target="/ppt/viewProps.xml" Id="R2c972c5b55e04458" /><Relationship Type="http://schemas.openxmlformats.org/officeDocument/2006/relationships/tableStyles" Target="/ppt/tableStyles.xml" Id="R8fc289ae5f6d4f0c" /><Relationship Type="http://schemas.openxmlformats.org/officeDocument/2006/relationships/font" Target="/ppt/fonts/font.dat" Id="R3c3d2e6759c44527" /><Relationship Type="http://schemas.openxmlformats.org/officeDocument/2006/relationships/font" Target="/ppt/fonts/font2.dat" Id="R9df522dc534045a6" /><Relationship Type="http://schemas.openxmlformats.org/officeDocument/2006/relationships/slide" Target="/ppt/slides/slide1.xml" Id="R742dfb4d9a1345e7" /><Relationship Type="http://schemas.openxmlformats.org/officeDocument/2006/relationships/slide" Target="/ppt/slides/slide2.xml" Id="Re54fcce643ff4690" /><Relationship Type="http://schemas.openxmlformats.org/officeDocument/2006/relationships/slide" Target="/ppt/slides/slide3.xml" Id="Rc33487e8dd0e4074" /><Relationship Type="http://schemas.openxmlformats.org/officeDocument/2006/relationships/slide" Target="/ppt/slides/slide4.xml" Id="Rea79a4397e7e4025" /><Relationship Type="http://schemas.openxmlformats.org/officeDocument/2006/relationships/slide" Target="/ppt/slides/slide5.xml" Id="R64701feb12d84d65" /><Relationship Type="http://schemas.openxmlformats.org/officeDocument/2006/relationships/slide" Target="/ppt/slides/slide6.xml" Id="R5abc091a24b6401d" /><Relationship Type="http://schemas.openxmlformats.org/officeDocument/2006/relationships/slide" Target="/ppt/slides/slide7.xml" Id="Rf5ea045d6ab74f59" /><Relationship Type="http://schemas.openxmlformats.org/officeDocument/2006/relationships/slide" Target="/ppt/slides/slide8.xml" Id="R7b7f4700dbed48e2" /><Relationship Type="http://schemas.openxmlformats.org/officeDocument/2006/relationships/slide" Target="/ppt/slides/slide9.xml" Id="Rd20b06147be74b07" /><Relationship Type="http://schemas.openxmlformats.org/officeDocument/2006/relationships/slide" Target="/ppt/slides/slide10.xml" Id="R721a952588df489e" /><Relationship Type="http://schemas.openxmlformats.org/officeDocument/2006/relationships/slide" Target="/ppt/slides/slide11.xml" Id="R8d4820da5bc84d7d" /><Relationship Type="http://schemas.openxmlformats.org/officeDocument/2006/relationships/slide" Target="/ppt/slides/slide12.xml" Id="R9f49dd58f94c494d" /><Relationship Type="http://schemas.openxmlformats.org/officeDocument/2006/relationships/slide" Target="/ppt/slides/slide13.xml" Id="Re034e109562d4b5d" /><Relationship Type="http://schemas.openxmlformats.org/officeDocument/2006/relationships/slide" Target="/ppt/slides/slide14.xml" Id="Ra06789e3e3a046e2" /><Relationship Type="http://schemas.openxmlformats.org/officeDocument/2006/relationships/slide" Target="/ppt/slides/slide15.xml" Id="R645b6838bbba4f25" /><Relationship Type="http://schemas.openxmlformats.org/officeDocument/2006/relationships/slide" Target="/ppt/slides/slide16.xml" Id="Recf1c570dd2849de" /><Relationship Type="http://schemas.openxmlformats.org/officeDocument/2006/relationships/slide" Target="/ppt/slides/slide17.xml" Id="R20eba6ece1b243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9965b05db94d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008bcec6bc4555" /><Relationship Type="http://schemas.openxmlformats.org/officeDocument/2006/relationships/notesMaster" Target="/ppt/notesMasters/notesMaster1.xml" Id="R9d25141dfcfb42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6ebcaa9775441f" /><Relationship Type="http://schemas.openxmlformats.org/officeDocument/2006/relationships/notesMaster" Target="/ppt/notesMasters/notesMaster1.xml" Id="R2aa5e35cd32a40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fb83ee81114672" /><Relationship Type="http://schemas.openxmlformats.org/officeDocument/2006/relationships/notesMaster" Target="/ppt/notesMasters/notesMaster1.xml" Id="Rde3183b6feb94f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180a2495d5445d" /><Relationship Type="http://schemas.openxmlformats.org/officeDocument/2006/relationships/notesMaster" Target="/ppt/notesMasters/notesMaster1.xml" Id="Rfcafb7fb4c2447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087deb286f466f" /><Relationship Type="http://schemas.openxmlformats.org/officeDocument/2006/relationships/notesMaster" Target="/ppt/notesMasters/notesMaster1.xml" Id="R2e16c067914f4f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029cdd348148a8" /><Relationship Type="http://schemas.openxmlformats.org/officeDocument/2006/relationships/notesMaster" Target="/ppt/notesMasters/notesMaster1.xml" Id="R547df652cda245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10a8b39ff74e98" /><Relationship Type="http://schemas.openxmlformats.org/officeDocument/2006/relationships/notesMaster" Target="/ppt/notesMasters/notesMaster1.xml" Id="Rdcdc3b09f6fa43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9f5145bce1472d" /><Relationship Type="http://schemas.openxmlformats.org/officeDocument/2006/relationships/notesMaster" Target="/ppt/notesMasters/notesMaster1.xml" Id="R6628c30bb6b54d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07999113e74f78" /><Relationship Type="http://schemas.openxmlformats.org/officeDocument/2006/relationships/notesMaster" Target="/ppt/notesMasters/notesMaster1.xml" Id="R2562387b41594a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46034420864c5f" /><Relationship Type="http://schemas.openxmlformats.org/officeDocument/2006/relationships/notesMaster" Target="/ppt/notesMasters/notesMaster1.xml" Id="Re7c4db4ac95d48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3e893d5f8b4f96" /><Relationship Type="http://schemas.openxmlformats.org/officeDocument/2006/relationships/notesMaster" Target="/ppt/notesMasters/notesMaster1.xml" Id="Ref8bfaafcda14a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b0e016c95a4d77" /><Relationship Type="http://schemas.openxmlformats.org/officeDocument/2006/relationships/notesMaster" Target="/ppt/notesMasters/notesMaster1.xml" Id="Red4384313dff4b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5f58998e514887" /><Relationship Type="http://schemas.openxmlformats.org/officeDocument/2006/relationships/notesMaster" Target="/ppt/notesMasters/notesMaster1.xml" Id="Rd06cd2f129c14c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68d3cf040c4a01" /><Relationship Type="http://schemas.openxmlformats.org/officeDocument/2006/relationships/notesMaster" Target="/ppt/notesMasters/notesMaster1.xml" Id="R1e610dce3d604c0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eaaef46dbf4624" /><Relationship Type="http://schemas.openxmlformats.org/officeDocument/2006/relationships/notesMaster" Target="/ppt/notesMasters/notesMaster1.xml" Id="R6d1ecba051c54e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72d9ea64a24779" /><Relationship Type="http://schemas.openxmlformats.org/officeDocument/2006/relationships/notesMaster" Target="/ppt/notesMasters/notesMaster1.xml" Id="Re4d020d7705b429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5917f5202854d76" /><Relationship Type="http://schemas.openxmlformats.org/officeDocument/2006/relationships/notesMaster" Target="/ppt/notesMasters/notesMaster1.xml" Id="R9feeac2da58344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2 minutos.</a:t>
            </a:r>
            <a:endParaRPr/>
          </a:p>
          <a:p xmlns:a="http://schemas.openxmlformats.org/drawingml/2006/main">
            <a:r>
              <a:t>Abrir con una pregunta: ¿cuánto de nuestro trabajo con IA sigue dependiendo de que una persona escriba el próximo prompt?</a:t>
            </a:r>
            <a:endParaRPr/>
          </a:p>
          <a:p xmlns:a="http://schemas.openxmlformats.org/drawingml/2006/main">
            <a:r>
              <a:t>Anticipar que la charla alternará conceptos breves con demostraciones en vivo.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3 minutos.</a:t>
            </a:r>
            <a:endParaRPr/>
          </a:p>
          <a:p xmlns:a="http://schemas.openxmlformats.org/drawingml/2006/main">
            <a:r>
              <a:t>Diferenciar una respuesta plausible de un proceso confiable.</a:t>
            </a:r>
            <a:endParaRPr/>
          </a:p>
          <a:p xmlns:a="http://schemas.openxmlformats.org/drawingml/2006/main">
            <a:r>
              <a:t>Introducir el cambio de foco: instrucción, información disponible, capacidad de actuar y control del progreso.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“From Loops to Graphs: The Next Paradigm in AI Agent Engineering”,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4 minutos.</a:t>
            </a:r>
            <a:endParaRPr/>
          </a:p>
          <a:p xmlns:a="http://schemas.openxmlformats.org/drawingml/2006/main">
            <a:r>
              <a:t>Presentar la secuencia como un modelo didáctico, no como una taxonomía universal ni una carrera hacia el grafo.</a:t>
            </a:r>
            <a:endParaRPr/>
          </a:p>
          <a:p xmlns:a="http://schemas.openxmlformats.org/drawingml/2006/main">
            <a:r>
              <a:t>Prompt diseña la instrucción. Context diseña lo que el modelo puede ver. Harness vuelve ese contexto ejecutable. Loop diseña la iteración. Graph diseña la topología del trabajo.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“The Evolution: Four Paradigms in Four Years”,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 del bloque: 8 minutos.</a:t>
            </a:r>
            <a:endParaRPr/>
          </a:p>
          <a:p xmlns:a="http://schemas.openxmlformats.org/drawingml/2006/main">
            <a:r>
              <a:t>Cambiar a Visual Studio y comenzar desde una aplicación de consola vacía.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4 minutos, después de la primera demo.</a:t>
            </a:r>
            <a:endParaRPr/>
          </a:p>
          <a:p xmlns:a="http://schemas.openxmlformats.org/drawingml/2006/main">
            <a:r>
              <a:t>Explicar que un buen prompt puede fallar si recibe información irrelevante, incompleta o desactualizada.</a:t>
            </a:r>
            <a:endParaRPr/>
          </a:p>
          <a:p xmlns:a="http://schemas.openxmlformats.org/drawingml/2006/main">
            <a:r>
              <a:t>Context engineering incluye system prompts, ejemplos, RAG, memoria, tool descriptions y el estado actual de la tarea.</a:t>
            </a:r>
            <a:endParaRPr/>
          </a:p>
          <a:p xmlns:a="http://schemas.openxmlformats.org/drawingml/2006/main">
            <a:r>
              <a:t>Transición: seleccionar información todavía no le da al modelo capacidad para actuar. Esa capacidad aparece en el harness.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“The Evolution: Four Paradigms in Four Years”,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 del bloque: 12 minutos.</a:t>
            </a:r>
            <a:endParaRPr/>
          </a:p>
          <a:p xmlns:a="http://schemas.openxmlformats.org/drawingml/2006/main">
            <a:r>
              <a:t>El contexto define qué información recibe el modelo. El harness añade la interfaz para actuar sobre el entorno y obtener feedback verificable.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contexto responde “qué necesita saber”. El harness responde “qué puede hacer, bajo qué reglas y con qué evidencia”.</a:t>
            </a:r>
            <a:endParaRPr/>
          </a:p>
          <a:p xmlns:a="http://schemas.openxmlformats.org/drawingml/2006/main">
            <a:r>
              <a:t>Un prompt largo no reemplaza ninguna de las dos capas.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“The Evolution: Four Paradigms in Four Years”,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Cambiar a la demo.</a:t>
            </a:r>
            <a:endParaRPr/>
          </a:p>
          <a:p xmlns:a="http://schemas.openxmlformats.org/drawingml/2006/main">
            <a:r>
              <a:t>Entregar un objetivo más general y mostrar cómo el agente inspecciona, modifica, compila y prueba dentro del harness.</a:t>
            </a:r>
            <a:endParaRPr/>
          </a:p>
          <a:p xmlns:a="http://schemas.openxmlformats.org/drawingml/2006/main">
            <a:r>
              <a:t>No buscar perfección arquitectónica: la evidencia clave es una entrega funcional y verificada.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 del bloque: 15 minutos.</a:t>
            </a:r>
            <a:endParaRPr/>
          </a:p>
          <a:p xmlns:a="http://schemas.openxmlformats.org/drawingml/2006/main">
            <a:r>
              <a:t>Abrir el tablero Kanban preparado con issues pequeños y criterios de aceptación claros.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Demo: tomar un issue del tablero, aplicar TDD y dejar que el agente itere.</a:t>
            </a:r>
            <a:endParaRPr/>
          </a:p>
          <a:p xmlns:a="http://schemas.openxmlformats.org/drawingml/2006/main">
            <a:r>
              <a:t>Marcar explícitamente la condición de salida: criterios aceptados, tests verdes y cambio listo para revisión.</a:t>
            </a:r>
            <a:endParaRPr/>
          </a:p>
          <a:p xmlns:a="http://schemas.openxmlformats.org/drawingml/2006/main">
            <a:r>
              <a:t>Si una iteración se desvía, usarlo como evidencia de por qué límites y observabilidad importan.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 del bloque: 15 minutos.</a:t>
            </a:r>
            <a:endParaRPr/>
          </a:p>
          <a:p xmlns:a="http://schemas.openxmlformats.org/drawingml/2006/main">
            <a:r>
              <a:t>Explicar que el grafo agrega estructura explícita al flujo: nodos, transiciones, dependencias y condiciones.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una topología concreta: Planner, Worker, tres reviewers paralelos, Synthesizer y gate.</a:t>
            </a:r>
            <a:endParaRPr/>
          </a:p>
          <a:p xmlns:a="http://schemas.openxmlformats.org/drawingml/2006/main">
            <a:r>
              <a:t>La ganancia no proviene de agregar personajes, sino de separar responsabilidades, permitir concurrencia y enrutar feedback al nodo correcto.</a:t>
            </a:r>
            <a:endParaRPr/>
          </a:p>
          <a:p xmlns:a="http://schemas.openxmlformats.org/drawingml/2006/main">
            <a:r>
              <a:t>Un reviewer independiente necesita criterios y evidencia propios.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“Graph Topology in Action: The Parallel Review Pattern”,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4 minutos.</a:t>
            </a:r>
            <a:endParaRPr/>
          </a:p>
          <a:p xmlns:a="http://schemas.openxmlformats.org/drawingml/2006/main">
            <a:r>
              <a:t>Explicar que Graph no representa un nivel obligatorio de madurez. La topología debe responder a la forma del trabajo.</a:t>
            </a:r>
            <a:endParaRPr/>
          </a:p>
          <a:p xmlns:a="http://schemas.openxmlformats.org/drawingml/2006/main">
            <a:r>
              <a:t>Single loop sirve para tareas simples. Parallel loops para unidades independientes. Staged loop para procesos complejos pero secuenciales. Graph para complejidad con verificaciones independientes y routing condicional.</a:t>
            </a:r>
            <a:endParaRPr/>
          </a:p>
          <a:p xmlns:a="http://schemas.openxmlformats.org/drawingml/2006/main">
            <a:r>
              <a:t>Frase clave: un graph organiza nodos; muchos de esos nodos ejecutan sus propios loops.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Flowtivity, “When to Use Loops vs Graphs: The Decision Matrix”, 2026: https://flowtivity.ai/blog/graph-engineering-2026-guide-openclaw-codex/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3 minutos.</a:t>
            </a:r>
            <a:endParaRPr/>
          </a:p>
          <a:p xmlns:a="http://schemas.openxmlformats.org/drawingml/2006/main">
            <a:r>
              <a:t>Aclarar que los checkpoints deben ubicarse por riesgo y costo de reversión, no después de cada acción.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3 minutos.</a:t>
            </a:r>
            <a:endParaRPr/>
          </a:p>
          <a:p xmlns:a="http://schemas.openxmlformats.org/drawingml/2006/main">
            <a:r>
              <a:t>Conectar con la experiencia real del equipo: metodología, Definition of Done, convenciones, revisión y delivery se convierten en artefactos consumibles por agentes.</a:t>
            </a:r>
            <a:endParaRPr/>
          </a:p>
          <a:p xmlns:a="http://schemas.openxmlformats.org/drawingml/2006/main">
            <a:r>
              <a:t>Esta es la transición desde prompt engineering hacia ingeniería agéntica.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asignar tiempo fijo: usar únicamente si quedan al menos 5 minutos antes del cierre.</a:t>
            </a:r>
            <a:endParaRPr/>
          </a:p>
          <a:p xmlns:a="http://schemas.openxmlformats.org/drawingml/2006/main">
            <a:r>
              <a:t>Tener preparado un despliegue previo como respaldo visual si el deploy en vivo demora.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Tiempo sugerido: 3 minutos más preguntas.</a:t>
            </a:r>
            <a:endParaRPr/>
          </a:p>
          <a:p xmlns:a="http://schemas.openxmlformats.org/drawingml/2006/main">
            <a:r>
              <a:t>Cerrar retomando la pregunta inicial.</a:t>
            </a:r>
            <a:endParaRPr/>
          </a:p>
          <a:p xmlns:a="http://schemas.openxmlformats.org/drawingml/2006/main">
            <a:r>
              <a:t>Síntesis: Prompt expresa intención. Context selecciona información. Harness aporta capacidad de actuar. Loop aporta persistencia. Graph aporta coordinación. Los artefactos conectan todo con el SDLC.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Avenga template deck (visual assets and brand styling).</a:t>
            </a:r>
            <a:endParaRPr/>
          </a:p>
          <a:p xmlns:a="http://schemas.openxmlformats.org/drawingml/2006/main">
            <a:r>
              <a:t>- Presentation concepts and demo plan supplied by Ezequiel Etchecoin.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9c80d3b3949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3dc9025359416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83514a30c42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486dbcee948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eaf16a91444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e243f0dcb64e7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7a3e1116d464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a4ec0af9f742f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2e5d66f6a245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5df14ef254c5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8e60d2bf48464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af91e4f2d2483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0dd4ade2fc4604" /><Relationship Type="http://schemas.openxmlformats.org/officeDocument/2006/relationships/image" Target="/ppt/media/image.png" Id="R604184b48bd545d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43F392-74A1-4EF9-8107-400BCFBF2D3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184B0D0-0921-48DA-AA6F-D21B7D6A343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7FEAFC-BF11-4427-989F-2FD73F667A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994223-4B66-41D0-BB72-D6F222D6AA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1B1DA2-07C4-4F40-81C9-F609810701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2E2BCE-C6BF-4F13-AC84-B4321D7DE6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C68E6FE-BD00-4039-8007-F3FD772BDE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21625E-74FD-4311-9101-831818E94B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3A2E47-7634-411F-82D3-BE9AFEE585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A5BBF1-6A48-4262-9FC4-7D6FA9B724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17515B-FC82-40D7-B7F5-712E9825A6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03226E-1E48-482E-B839-DCBCD3F14B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C68C73-A29B-4A80-946E-1EEFC5A235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D8F8BC-F450-4A1E-9D4A-69603D1C12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0B74F9-F94C-40D0-A0ED-E4A14C293B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BEC1CE-8B57-4DBF-902E-67AAF84698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A10D49E-60BD-40A8-B4E1-52D86BBC8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4DE2704-33CE-4FA4-AACC-BD2245B66B0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A9E3849-F4E0-4BA5-9C67-91BDD451D7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4D63D1F-7241-47E4-B930-DCBA77F301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20A56D-0803-4DBD-9CD8-90FF38BD22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C86C94-55D9-4E57-B997-EFB7CD856C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5A5347A-FEEB-4675-AAA8-30AEF70422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ECA4C2-6E85-4C8B-881E-06F1866697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2AC19D-16D5-4323-90C0-C4C02D5416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F6F532-D2EC-4A0F-84B2-CD63BE50DE7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B57FAAC-0DE6-4A71-B16D-6F3EFB18B4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CA48D12-241C-4FE4-9C6A-107391147B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74B17C0-C0EC-4ED4-8B63-434DBE6A31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CF8079-C5B0-4588-A3EE-B85F555B0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DD9882F-F168-4A1E-95BE-63CC5C7DFB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ED4144A-F1F9-4567-9DD6-DDEBE3AAF2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426E74D-0D78-4591-9D46-AB0E7311E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3461707-E4DA-4AC4-9074-DF99035B0B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CD35E4C-4059-41EA-805F-7B46B84B30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3EB5CE1-623D-434F-8C8A-73890EA40A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8D8FE2-2388-4EA6-8760-2CCB6FE13A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F0B657B-2776-45EC-9727-1AF47EDD8C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DC9DC9F-EF6E-45B6-BA65-AD004FB211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173740C-C5E0-4685-90F4-400D9BD4FF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D4C67F-4A11-473D-A1C1-D5883330C1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3F46A6-9F2F-424E-B5FC-7AC1489E06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30ADAD-0E26-477C-A901-43C0268696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99FE20-5866-4A8A-A7B7-2DB96DB0CB1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22D37B0-5B01-4AA8-8267-EC61D076C4E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E5FAD60-CB5C-48A5-B9C7-6A2D491D46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AFCD47-51BC-483C-BBA9-122B5E33FD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F33042-34CC-4DAA-899F-D5BA62CADC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CCE7F1-A05C-4F9C-9E83-2B0BEC5641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3AC3157-3692-4CA1-8F46-8AF6B1FEEE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70D65F7-C148-45EE-BB24-4BB938072D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0A7FAE-9984-44EC-B2CE-62C7699230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040C59-F4A1-45D4-B15E-1F02393B8C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F1E4A48-09CE-4D5F-AFD4-4BCBBA7CD9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DF7029-37B7-455D-B8F5-6CCD655B31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F20C60-D2AD-41B3-A0A5-33CE92D235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CD8F96E-AB68-4BB0-9657-480CC8CAFB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205CF0A-DF0A-4D1F-BEDF-1526EFEC35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>
  <p:cSld name="Empty"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12CE33-3693-F2FE-1179-3CE810920C44}"/>
              </a:ext>
            </a:extLst>
          </p:cNvPr>
          <p:cNvSpPr>
            <a:spLocks xmlns:a="http://schemas.openxmlformats.org/drawingml/2006/main" noGrp="1"/>
          </p:cNvSpPr>
          <p:nvPr>
            <p:ph type="sldNum" idx="26"/>
          </p:nvPr>
        </p:nvSpPr>
        <p:spPr>
          <a:xfrm xmlns:a="http://schemas.openxmlformats.org/drawingml/2006/main">
            <a:off x="921666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chemeClr val="tx2"/>
                </a:solidFill>
                <a:latin typeface="Tahoma"/>
                <a:ea typeface="Tahoma"/>
                <a:cs typeface="Tahoma"/>
              </a:defRPr>
            </a:lvl1pPr>
          </a:lstStyle>
          <a:p xmlns:a="http://schemas.openxmlformats.org/drawingml/2006/main">
            <a:fld id="{1AD6CA63-AF0D-8049-A3D3-C10DC7CEFA53}" type="slidenum">
              <a:t>‹Nº›</a:t>
            </a:fld>
            <a:endParaRPr>
              <a:solidFill>
                <a:schemeClr val="tx2"/>
              </a:solidFill>
            </a:endParaRP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1_Background Logo"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184b48bd545d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7" name="Text Placeholder 13">
            <a:extLst xmlns:a="http://schemas.openxmlformats.org/drawingml/2006/main">
              <a:ext uri="{FF2B5EF4-FFF2-40B4-BE49-F238E27FC236}">
                <a16:creationId xmlns:a16="http://schemas.microsoft.com/office/drawing/2014/main" id="{883BA7EF-F283-4FBC-6F04-F7779E5922C1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446163" y="662838"/>
            <a:ext cx="2242915" cy="3041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2700">
                <a:solidFill>
                  <a:srgbClr val="DD2C00"/>
                </a:solidFill>
                <a:latin typeface="Tahoma"/>
                <a:ea typeface="Tahoma"/>
                <a:cs typeface="Tahoma"/>
              </a:defRPr>
            </a:lvl1pPr>
          </a:lstStyle>
          <a:p xmlns:a="http://schemas.openxmlformats.org/drawingml/2006/main">
            <a:r>
              <a:t>Headline</a:t>
            </a:r>
          </a:p>
        </p:txBody>
      </p:sp>
      <p:sp>
        <p:nvSpPr>
          <p:cNvPr id="13" name="Text Placeholder 15">
            <a:extLst xmlns:a="http://schemas.openxmlformats.org/drawingml/2006/main">
              <a:ext uri="{FF2B5EF4-FFF2-40B4-BE49-F238E27FC236}">
                <a16:creationId xmlns:a16="http://schemas.microsoft.com/office/drawing/2014/main" id="{1A6152B7-87A6-13AF-9BDB-91410A288F74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446163" y="1384938"/>
            <a:ext cx="5578671" cy="3041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Font typeface="Arial"/>
              <a:buNone/>
              <a:defRPr sz="1500">
                <a:latin typeface="Tahoma"/>
                <a:ea typeface="Tahoma"/>
                <a:cs typeface="Tahoma"/>
              </a:defRPr>
            </a:lvl1pPr>
          </a:lstStyle>
          <a:p xmlns:a="http://schemas.openxmlformats.org/drawingml/2006/main">
            <a:pPr marL="0" indent="0" algn="l">
              <a:lnSpc>
                <a:spcPts val="1069"/>
              </a:lnSpc>
              <a:buNone/>
            </a:pPr>
            <a:r>
              <a:rPr sz="12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Every engagement is powered by three proprietary assets a philosophy, a platform, and a measurement framework.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32BE06-8039-9805-88D1-5871A888763F}"/>
              </a:ext>
            </a:extLst>
          </p:cNvPr>
          <p:cNvSpPr>
            <a:spLocks xmlns:a="http://schemas.openxmlformats.org/drawingml/2006/main" noGrp="1"/>
          </p:cNvSpPr>
          <p:nvPr>
            <p:ph type="sldNum" idx="26"/>
          </p:nvPr>
        </p:nvSpPr>
        <p:spPr>
          <a:xfrm xmlns:a="http://schemas.openxmlformats.org/drawingml/2006/main">
            <a:off x="921666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chemeClr val="tx1"/>
                </a:solidFill>
                <a:latin typeface="Tahoma"/>
                <a:ea typeface="Tahoma"/>
                <a:cs typeface="Tahoma"/>
              </a:defRPr>
            </a:lvl1pPr>
          </a:lstStyle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9aa9e2515541e9" /><Relationship Type="http://schemas.openxmlformats.org/officeDocument/2006/relationships/slideLayout" Target="/ppt/slideLayouts/slideLayout1.xml" Id="R93249854472845d2" /><Relationship Type="http://schemas.openxmlformats.org/officeDocument/2006/relationships/slideLayout" Target="/ppt/slideLayouts/slideLayout2.xml" Id="Re12ebeeccb214e01" /><Relationship Type="http://schemas.openxmlformats.org/officeDocument/2006/relationships/slideLayout" Target="/ppt/slideLayouts/slideLayout3.xml" Id="Rebddd482cf414bab" /><Relationship Type="http://schemas.openxmlformats.org/officeDocument/2006/relationships/slideLayout" Target="/ppt/slideLayouts/slideLayout4.xml" Id="Rf2c720c25e5e4969" /><Relationship Type="http://schemas.openxmlformats.org/officeDocument/2006/relationships/slideLayout" Target="/ppt/slideLayouts/slideLayout5.xml" Id="Rd940df61a80b4342" /><Relationship Type="http://schemas.openxmlformats.org/officeDocument/2006/relationships/slideLayout" Target="/ppt/slideLayouts/slideLayout6.xml" Id="R3db6548d9fcb4953" /><Relationship Type="http://schemas.openxmlformats.org/officeDocument/2006/relationships/slideLayout" Target="/ppt/slideLayouts/slideLayout7.xml" Id="R84d29d5d5c854c83" /><Relationship Type="http://schemas.openxmlformats.org/officeDocument/2006/relationships/slideLayout" Target="/ppt/slideLayouts/slideLayout8.xml" Id="R06f119c1b0c14b54" /><Relationship Type="http://schemas.openxmlformats.org/officeDocument/2006/relationships/slideLayout" Target="/ppt/slideLayouts/slideLayout9.xml" Id="R776df0965d144ecb" /><Relationship Type="http://schemas.openxmlformats.org/officeDocument/2006/relationships/slideLayout" Target="/ppt/slideLayouts/slideLayout10.xml" Id="Rd4083417ab12408f" /><Relationship Type="http://schemas.openxmlformats.org/officeDocument/2006/relationships/slideLayout" Target="/ppt/slideLayouts/slideLayout11.xml" Id="R5d456c03fc9c485e" /><Relationship Type="http://schemas.openxmlformats.org/officeDocument/2006/relationships/slideLayout" Target="/ppt/slideLayouts/slideLayout12.xml" Id="Raeaca1bf23a14b98" /><Relationship Type="http://schemas.openxmlformats.org/officeDocument/2006/relationships/slideLayout" Target="/ppt/slideLayouts/slideLayout13.xml" Id="Rce74f9046e66404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8B660ED-668C-483C-B265-48A621BDE5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075BCA-504D-4540-9BFF-63EC944D52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05F4AE9-807D-4606-9802-C3BFD7BC32A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168D15-9D2F-4735-9847-CFCCE828975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F1C9BA6-D195-43C0-8EF1-24203F83712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8F63A3B-78C7-47BE-AE5E-E10140E04643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249854472845d2"/>
    <p:sldLayoutId xmlns:r="http://schemas.openxmlformats.org/officeDocument/2006/relationships" id="2147483650" r:id="Re12ebeeccb214e01"/>
    <p:sldLayoutId xmlns:r="http://schemas.openxmlformats.org/officeDocument/2006/relationships" id="2147483651" r:id="Rebddd482cf414bab"/>
    <p:sldLayoutId xmlns:r="http://schemas.openxmlformats.org/officeDocument/2006/relationships" id="2147483652" r:id="Rf2c720c25e5e4969"/>
    <p:sldLayoutId xmlns:r="http://schemas.openxmlformats.org/officeDocument/2006/relationships" id="2147483653" r:id="Rd940df61a80b4342"/>
    <p:sldLayoutId xmlns:r="http://schemas.openxmlformats.org/officeDocument/2006/relationships" id="2147483654" r:id="R3db6548d9fcb4953"/>
    <p:sldLayoutId xmlns:r="http://schemas.openxmlformats.org/officeDocument/2006/relationships" id="2147483655" r:id="R84d29d5d5c854c83"/>
    <p:sldLayoutId xmlns:r="http://schemas.openxmlformats.org/officeDocument/2006/relationships" id="2147483656" r:id="R06f119c1b0c14b54"/>
    <p:sldLayoutId xmlns:r="http://schemas.openxmlformats.org/officeDocument/2006/relationships" id="2147483657" r:id="R776df0965d144ecb"/>
    <p:sldLayoutId xmlns:r="http://schemas.openxmlformats.org/officeDocument/2006/relationships" id="2147483658" r:id="Rd4083417ab12408f"/>
    <p:sldLayoutId xmlns:r="http://schemas.openxmlformats.org/officeDocument/2006/relationships" id="2147483659" r:id="R5d456c03fc9c485e"/>
    <p:sldLayoutId xmlns:r="http://schemas.openxmlformats.org/officeDocument/2006/relationships" id="2147483660" r:id="Raeaca1bf23a14b98"/>
    <p:sldLayoutId xmlns:r="http://schemas.openxmlformats.org/officeDocument/2006/relationships" id="2147483661" r:id="Rce74f9046e664042"/>
  </p:sldLayoutIdLst>
  <p:hf sldNum="0"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68d1864e952421d" /><Relationship Type="http://schemas.openxmlformats.org/officeDocument/2006/relationships/image" Target="/ppt/media/image.png" Id="R8af9b10fb1b943d5" /><Relationship Type="http://schemas.openxmlformats.org/officeDocument/2006/relationships/image" Target="/ppt/media/image.jpeg" Id="R0c3107c15d44404a" /><Relationship Type="http://schemas.openxmlformats.org/officeDocument/2006/relationships/image" Target="/ppt/media/image2.png" Id="Rfb73efccd9124f9e" /><Relationship Type="http://schemas.openxmlformats.org/officeDocument/2006/relationships/image" Target="/ppt/media/image3.png" Id="R801c0e0e1e4644bf" /><Relationship Type="http://schemas.openxmlformats.org/officeDocument/2006/relationships/notesSlide" Target="/ppt/notesSlides/notesSlide1.xml" Id="Rcdf21de468a24d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e8873fc50004a32" /><Relationship Type="http://schemas.openxmlformats.org/officeDocument/2006/relationships/image" Target="/ppt/media/image4.png" Id="Rb803599a71ec4cd5" /><Relationship Type="http://schemas.openxmlformats.org/officeDocument/2006/relationships/image" Target="/ppt/media/image5.png" Id="R960f7891ffbf44da" /><Relationship Type="http://schemas.openxmlformats.org/officeDocument/2006/relationships/notesSlide" Target="/ppt/notesSlides/notesSlide2.xml" Id="R1ad612f595e743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949810ce462423d" /><Relationship Type="http://schemas.openxmlformats.org/officeDocument/2006/relationships/image" Target="/ppt/media/image6.png" Id="Rb3e901f74ec34724" /><Relationship Type="http://schemas.openxmlformats.org/officeDocument/2006/relationships/notesSlide" Target="/ppt/notesSlides/notesSlide3.xml" Id="Ra29f6d380bfd41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f27253be94845a9" /><Relationship Type="http://schemas.openxmlformats.org/officeDocument/2006/relationships/image" Target="/ppt/media/image7.png" Id="R257e33c33d0a4033" /><Relationship Type="http://schemas.openxmlformats.org/officeDocument/2006/relationships/notesSlide" Target="/ppt/notesSlides/notesSlide4.xml" Id="R4e1bf04d25154e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76cb66435584bae" /><Relationship Type="http://schemas.openxmlformats.org/officeDocument/2006/relationships/image" Target="/ppt/media/image8.png" Id="Rc320a0002b9f42b9" /><Relationship Type="http://schemas.openxmlformats.org/officeDocument/2006/relationships/notesSlide" Target="/ppt/notesSlides/notesSlide5.xml" Id="R2a3043bdce744c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fa8a3d3f8784433" /><Relationship Type="http://schemas.openxmlformats.org/officeDocument/2006/relationships/image" Target="/ppt/media/image.png" Id="R4e212f68fdbf4a2f" /><Relationship Type="http://schemas.openxmlformats.org/officeDocument/2006/relationships/image" Target="/ppt/media/image2.jpeg" Id="Rc3a8d03aa3324a3e" /><Relationship Type="http://schemas.openxmlformats.org/officeDocument/2006/relationships/image" Target="/ppt/media/image.svg" Id="Rc0b148a5a5ae4822" /><Relationship Type="http://schemas.openxmlformats.org/officeDocument/2006/relationships/image" Target="/ppt/media/image.jpeg" Id="Raf0d8b370b9d4264" /><Relationship Type="http://schemas.openxmlformats.org/officeDocument/2006/relationships/notesSlide" Target="/ppt/notesSlides/notesSlide6.xml" Id="R55f2878c411c49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ff4b98a15344215" /><Relationship Type="http://schemas.openxmlformats.org/officeDocument/2006/relationships/image" Target="/ppt/media/image8.png" Id="R6f498bae04224eaa" /><Relationship Type="http://schemas.openxmlformats.org/officeDocument/2006/relationships/notesSlide" Target="/ppt/notesSlides/notesSlide7.xml" Id="R9ab6984b8bb249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7f14e0f0caa4516" /><Relationship Type="http://schemas.openxmlformats.org/officeDocument/2006/relationships/image" Target="/ppt/media/image9.png" Id="R616bb05d5ca04e2b" /><Relationship Type="http://schemas.openxmlformats.org/officeDocument/2006/relationships/image" Target="/ppt/media/image6.png" Id="R1268793cef3c423a" /><Relationship Type="http://schemas.openxmlformats.org/officeDocument/2006/relationships/notesSlide" Target="/ppt/notesSlides/notesSlide8.xml" Id="R44b9e8feb8d94e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d44f2eb34784490" /><Relationship Type="http://schemas.openxmlformats.org/officeDocument/2006/relationships/image" Target="/ppt/media/image7.png" Id="R7690f776466f4ca2" /><Relationship Type="http://schemas.openxmlformats.org/officeDocument/2006/relationships/notesSlide" Target="/ppt/notesSlides/notesSlide9.xml" Id="Re8104326831642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40d38ba59684667" /><Relationship Type="http://schemas.openxmlformats.org/officeDocument/2006/relationships/image" Target="/ppt/media/image10.png" Id="R497666693d59477e" /><Relationship Type="http://schemas.openxmlformats.org/officeDocument/2006/relationships/notesSlide" Target="/ppt/notesSlides/notesSlide10.xml" Id="R94f86fbf697542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21db660b54a4332" /><Relationship Type="http://schemas.openxmlformats.org/officeDocument/2006/relationships/image" Target="/ppt/media/image.png" Id="R163c6239e0dd477e" /><Relationship Type="http://schemas.openxmlformats.org/officeDocument/2006/relationships/image" Target="/ppt/media/image2.jpeg" Id="Re7a06fad9e464d1b" /><Relationship Type="http://schemas.openxmlformats.org/officeDocument/2006/relationships/image" Target="/ppt/media/image.jpeg" Id="Re44e6e1980e44dc5" /><Relationship Type="http://schemas.openxmlformats.org/officeDocument/2006/relationships/image" Target="/ppt/media/image.svg" Id="R07b20a27a7ee4a33" /><Relationship Type="http://schemas.openxmlformats.org/officeDocument/2006/relationships/notesSlide" Target="/ppt/notesSlides/notesSlide11.xml" Id="R9021ceb1388443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75513abd97f42fe" /><Relationship Type="http://schemas.openxmlformats.org/officeDocument/2006/relationships/image" Target="/ppt/media/image5.png" Id="R9b5bd4b6da3f4235" /><Relationship Type="http://schemas.openxmlformats.org/officeDocument/2006/relationships/notesSlide" Target="/ppt/notesSlides/notesSlide12.xml" Id="Reff1229ba62d47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5652c9a60d95431c" /><Relationship Type="http://schemas.openxmlformats.org/officeDocument/2006/relationships/image" Target="/ppt/media/image6.png" Id="Rcdb5da48c72a4f78" /><Relationship Type="http://schemas.openxmlformats.org/officeDocument/2006/relationships/notesSlide" Target="/ppt/notesSlides/notesSlide13.xml" Id="Raf38e017010747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1304d0c13e146bd" /><Relationship Type="http://schemas.openxmlformats.org/officeDocument/2006/relationships/image" Target="/ppt/media/image8.png" Id="Rd05c42ac1fcf4094" /><Relationship Type="http://schemas.openxmlformats.org/officeDocument/2006/relationships/notesSlide" Target="/ppt/notesSlides/notesSlide14.xml" Id="R88079de942c24d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96de9ff9fa14b0a" /><Relationship Type="http://schemas.openxmlformats.org/officeDocument/2006/relationships/image" Target="/ppt/media/image4.png" Id="Rfddc5af175e44b01" /><Relationship Type="http://schemas.openxmlformats.org/officeDocument/2006/relationships/image" Target="/ppt/media/image5.png" Id="R3a6de6b46537465d" /><Relationship Type="http://schemas.openxmlformats.org/officeDocument/2006/relationships/notesSlide" Target="/ppt/notesSlides/notesSlide15.xml" Id="R368212684395486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34b27892b83406f" /><Relationship Type="http://schemas.openxmlformats.org/officeDocument/2006/relationships/image" Target="/ppt/media/image9.png" Id="R016ea286a16943e8" /><Relationship Type="http://schemas.openxmlformats.org/officeDocument/2006/relationships/image" Target="/ppt/media/image6.png" Id="R70bac37596d04b87" /><Relationship Type="http://schemas.openxmlformats.org/officeDocument/2006/relationships/notesSlide" Target="/ppt/notesSlides/notesSlide16.xml" Id="Rf5bf0d33d8bf4b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c12bd6824744154" /><Relationship Type="http://schemas.openxmlformats.org/officeDocument/2006/relationships/image" Target="/ppt/media/image.png" Id="R70239a1908644ed0" /><Relationship Type="http://schemas.openxmlformats.org/officeDocument/2006/relationships/image" Target="/ppt/media/image.jpeg" Id="R1c519a48494c40b5" /><Relationship Type="http://schemas.openxmlformats.org/officeDocument/2006/relationships/image" Target="/ppt/media/image2.png" Id="Rdf4ceb665cdb4915" /><Relationship Type="http://schemas.openxmlformats.org/officeDocument/2006/relationships/image" Target="/ppt/media/image3.png" Id="R4806e866169b4632" /><Relationship Type="http://schemas.openxmlformats.org/officeDocument/2006/relationships/notesSlide" Target="/ppt/notesSlides/notesSlide17.xml" Id="R48e0fc24804d447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9b10fb1b943d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1810C90-0760-C58D-E274-703C94BC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38099"/>
            <a:ext cx="12192000" cy="689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9F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EFEF2530-ED9F-A5D5-FF05-3C7AE2DC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813051" y="-555391"/>
            <a:ext cx="9883140" cy="811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2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107c15d44404a"/>
          <a:srcRect xmlns:a="http://schemas.openxmlformats.org/drawingml/2006/main" l="0" t="2852" r="15632" b="21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52056" y="-288174"/>
            <a:ext cx="10151514" cy="7146174"/>
          </a:xfrm>
          <a:prstGeom xmlns:a="http://schemas.openxmlformats.org/drawingml/2006/main" prst="rect">
            <a:avLst/>
          </a:prstGeom>
        </p:spPr>
      </p:pic>
      <p:pic>
        <p:nvPicPr>
          <p:cNvPr id="2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3efccd9124f9e"/>
          <a:srcRect xmlns:a="http://schemas.openxmlformats.org/drawingml/2006/main" l="0" t="0" r="0" b="552"/>
          <a:stretch xmlns:a="http://schemas.openxmlformats.org/drawingml/2006/main"/>
        </p:blipFill>
        <p:spPr>
          <a:xfrm xmlns:a="http://schemas.openxmlformats.org/drawingml/2006/main">
            <a:off x="1813942" y="-49626"/>
            <a:ext cx="5144393" cy="6957252"/>
          </a:xfrm>
          <a:prstGeom xmlns:a="http://schemas.openxmlformats.org/drawingml/2006/main" prst="rect">
            <a:avLst/>
          </a:prstGeom>
        </p:spPr>
      </p:pic>
      <p:pic>
        <p:nvPicPr>
          <p:cNvPr id="2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c0e0e1e4644bf"/>
          <a:srcRect xmlns:a="http://schemas.openxmlformats.org/drawingml/2006/main" l="0" t="0" r="436" b="990"/>
          <a:stretch xmlns:a="http://schemas.openxmlformats.org/drawingml/2006/main"/>
        </p:blipFill>
        <p:spPr>
          <a:xfrm xmlns:a="http://schemas.openxmlformats.org/drawingml/2006/main">
            <a:off x="-339702" y="-288175"/>
            <a:ext cx="12543272" cy="7157702"/>
          </a:xfrm>
          <a:prstGeom xmlns:a="http://schemas.openxmlformats.org/drawingml/2006/main" prst="rect">
            <a:avLst/>
          </a:prstGeom>
        </p:spPr>
      </p:pic>
      <p:pic>
        <p:nvPicPr>
          <p:cNvPr id="2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9b10fb1b943d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8" name="Text 0">
            <a:extLst xmlns:a="http://schemas.openxmlformats.org/drawingml/2006/main">
              <a:ext uri="{FF2B5EF4-FFF2-40B4-BE49-F238E27FC236}">
                <a16:creationId xmlns:a16="http://schemas.microsoft.com/office/drawing/2014/main" id="{E481C300-E935-91FC-C676-32A76BD2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2692401"/>
            <a:ext cx="4857751" cy="161971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3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Más allá del prompt</a:t>
            </a:r>
            <a:endParaRPr sz="3400">
              <a:latin typeface="Tahoma"/>
              <a:ea typeface="Tahoma"/>
              <a:cs typeface="Tahoma"/>
            </a:endParaRPr>
          </a:p>
        </p:txBody>
      </p:sp>
      <p:sp>
        <p:nvSpPr>
          <p:cNvPr id="9" name="Text 2">
            <a:extLst xmlns:a="http://schemas.openxmlformats.org/drawingml/2006/main">
              <a:ext uri="{FF2B5EF4-FFF2-40B4-BE49-F238E27FC236}">
                <a16:creationId xmlns:a16="http://schemas.microsoft.com/office/drawing/2014/main" id="{69937CF4-07B6-B322-1601-99B4C8DC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4416424"/>
            <a:ext cx="4229100" cy="3238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900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Arquitecturas para agentes de IA en el ciclo de vida del software</a:t>
            </a:r>
            <a:endParaRPr sz="1400"/>
          </a:p>
        </p:txBody>
      </p:sp>
      <p:sp>
        <p:nvSpPr>
          <p:cNvPr id="13" name="Text 3">
            <a:extLst xmlns:a="http://schemas.openxmlformats.org/drawingml/2006/main">
              <a:ext uri="{FF2B5EF4-FFF2-40B4-BE49-F238E27FC236}">
                <a16:creationId xmlns:a16="http://schemas.microsoft.com/office/drawing/2014/main" id="{00FBD0DF-B24C-BA70-750A-716C86E8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6020437"/>
            <a:ext cx="1866900" cy="2857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09"/>
              </a:lnSpc>
              <a:buNone/>
            </a:pPr>
            <a:r>
              <a:rPr sz="1200">
                <a:latin typeface="Tahoma"/>
                <a:ea typeface="Tahoma"/>
                <a:cs typeface="Tahoma"/>
              </a:rPr>
              <a:t>Ezequiel Etchecoin · 2026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755508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3599a71ec4cd5"/>
          <a:srcRect xmlns:a="http://schemas.openxmlformats.org/drawingml/2006/main" l="2965" t="2836" r="0" b="43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49699" y="-454026"/>
            <a:ext cx="12741700" cy="7766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f7891ffbf44d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9" name="Text 1">
            <a:extLst xmlns:a="http://schemas.openxmlformats.org/drawingml/2006/main"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3149665"/>
            <a:ext cx="5010441" cy="3000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2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La pregunta cambió</a:t>
            </a:r>
            <a:endParaRPr sz="2000">
              <a:solidFill>
                <a:srgbClr val="47433B"/>
              </a:solidFill>
            </a:endParaRPr>
          </a:p>
        </p:txBody>
      </p:sp>
      <p:sp>
        <p:nvSpPr>
          <p:cNvPr id="10" name="Text 2">
            <a:extLst xmlns:a="http://schemas.openxmlformats.org/drawingml/2006/main"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3562223"/>
            <a:ext cx="5010441" cy="263618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Antes: ¿qué instrucción produce mejor código?</a:t>
            </a:r>
            <a:endParaRPr sz="11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/>
            </a:r>
          </a:p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Ahora: ¿qué información necesita el modelo, qué puede hacer con ella y cómo verificamos el resultado?</a:t>
            </a:r>
          </a:p>
        </p:txBody>
      </p:sp>
      <p:sp>
        <p:nvSpPr>
          <p:cNvPr id="13" name="Text 6">
            <a:extLst xmlns:a="http://schemas.openxmlformats.org/drawingml/2006/main"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8"/>
            <a:ext cx="5010440" cy="8097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Escribir prompts no es construir un sistema</a:t>
            </a:r>
            <a:endParaRPr sz="2700"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505961"/>
            <a:ext cx="5004091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prompt inicia la tarea. El contexto, el entorno de ejecución y los ciclos determinan la confiabilidad.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CE35EC-3EAF-4177-A944-F820E076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2419351"/>
            <a:ext cx="2130289" cy="3750509"/>
          </a:xfrm>
          <a:prstGeom xmlns:a="http://schemas.openxmlformats.org/drawingml/2006/main" prst="roundRect">
            <a:avLst>
              <a:gd name="adj" fmla="val 5698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BCB4D3F-2332-4595-8979-A0E442DF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117" y="2419351"/>
            <a:ext cx="2137791" cy="3750509"/>
          </a:xfrm>
          <a:prstGeom xmlns:a="http://schemas.openxmlformats.org/drawingml/2006/main" prst="roundRect">
            <a:avLst>
              <a:gd name="adj" fmla="val 4760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D4A9BB2-DB3F-48B4-957F-AAF894EF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316" y="2419351"/>
            <a:ext cx="2130289" cy="3750509"/>
          </a:xfrm>
          <a:prstGeom xmlns:a="http://schemas.openxmlformats.org/drawingml/2006/main" prst="roundRect">
            <a:avLst>
              <a:gd name="adj" fmla="val 4146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A2C645-B99B-4819-93C2-F1E3E7CA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417" y="2419351"/>
            <a:ext cx="2130289" cy="3750509"/>
          </a:xfrm>
          <a:prstGeom xmlns:a="http://schemas.openxmlformats.org/drawingml/2006/main" prst="roundRect">
            <a:avLst>
              <a:gd name="adj" fmla="val 4717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405BADD-5C20-4351-9671-AE344AE1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0200" y="2419351"/>
            <a:ext cx="2130289" cy="3750509"/>
          </a:xfrm>
          <a:prstGeom xmlns:a="http://schemas.openxmlformats.org/drawingml/2006/main" prst="roundRect">
            <a:avLst>
              <a:gd name="adj" fmla="val 4718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DE2712B-C95B-4231-9F5D-77116255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48" y="2816904"/>
            <a:ext cx="1314451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Prompt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F12F42-FE71-48F1-8329-744AD495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34" y="5614797"/>
            <a:ext cx="16002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Instrucción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2A3741C-7509-416D-87C0-05CA1FA1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36" y="5614797"/>
            <a:ext cx="16002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B22A1E8-3AF2-40AE-AC3C-E6CB47E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138" y="5614797"/>
            <a:ext cx="16002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Entrega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7568694-1F94-4B38-BF8E-B6EF8B6A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2465" y="5614797"/>
            <a:ext cx="16002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Issue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62ED1B-7B4A-4EE6-BABD-D0B0E604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0268" y="5614797"/>
            <a:ext cx="16002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Workflow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BF2971A-14C4-41C7-81ED-951112FD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33" y="2816904"/>
            <a:ext cx="1454151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6D7EB5-7978-4F73-A314-1213E128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141" y="2816904"/>
            <a:ext cx="15180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Harness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A7C9B49-84DB-4270-9A62-7C2C6F14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2441" y="2816904"/>
            <a:ext cx="1479551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Loop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33DC860-1FF9-4ED3-BA48-D209A8DF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0248" y="2816904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Graph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2BB78A-AFFB-4B79-A32E-7EB2E426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49" y="3334473"/>
            <a:ext cx="1605217" cy="10253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Define la tarea, las restricciones y el formato esperado.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2653375-4414-4BB1-88DC-1C8D5CF5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33" y="3334473"/>
            <a:ext cx="1605217" cy="10253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Selecciona información, ejemplos, memoria y estado relevante.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08850BA-0DFF-4736-83F6-A8483B8E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141" y="3334473"/>
            <a:ext cx="1605217" cy="10253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Conecta contexto, herramientas, reglas y validación.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3B28E42-E600-4D9D-8DF3-71268BB4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2441" y="3334473"/>
            <a:ext cx="1605217" cy="10253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Repite acciones hasta alcanzar una salida observable.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65D569D-D990-44BF-AA1C-3FD6B36B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0249" y="3334473"/>
            <a:ext cx="1605217" cy="10253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Coordina roles, dependencias y rutas de validación.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AB95EA0-F0DA-4F08-AD6F-4642FB35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49" y="5464764"/>
            <a:ext cx="16052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53B377C-0EFA-4798-A4F2-D36DECC8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33" y="5464764"/>
            <a:ext cx="16052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534BF89-C8EA-48CB-8F90-79E107A1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141" y="5464764"/>
            <a:ext cx="16052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C2647E8-DDCF-4232-A826-B1741764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949" y="5464764"/>
            <a:ext cx="16052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495A352-569C-4064-9C06-E14DC3A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2757" y="5464764"/>
            <a:ext cx="16052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9913E55-AE2A-46CD-AC6F-9A41B9FD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48" y="4908551"/>
            <a:ext cx="16002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11CFFBF-56A4-4E6D-9E6F-07BA7685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32" y="4908551"/>
            <a:ext cx="16002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FB1FFC-AEC9-42AD-928A-AB7F067D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249" y="4908551"/>
            <a:ext cx="16002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A0134FF-D33F-45C7-B89F-F3B4A9B0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567" y="4908551"/>
            <a:ext cx="1606551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83C4CD0-F218-4109-AB43-AEE23796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5242" y="4909689"/>
            <a:ext cx="1575213" cy="5550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5.</a:t>
            </a:r>
            <a:endParaRPr sz="5400">
              <a:latin typeface="Tahoma"/>
              <a:ea typeface="Tahoma"/>
              <a:cs typeface="Tahoma"/>
            </a:endParaRPr>
          </a:p>
        </p:txBody>
      </p:sp>
      <p:pic>
        <p:nvPicPr>
          <p:cNvPr id="6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901f74ec3472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6" name="Text 6">
            <a:extLst xmlns:a="http://schemas.openxmlformats.org/drawingml/2006/main">
              <a:ext uri="{FF2B5EF4-FFF2-40B4-BE49-F238E27FC236}">
                <a16:creationId xmlns:a16="http://schemas.microsoft.com/office/drawing/2014/main" id="{CDC314E1-0341-0686-ACE8-6415444C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Evolución de la arquitectura</a:t>
            </a:r>
            <a:endParaRPr sz="2700"/>
          </a:p>
        </p:txBody>
      </p:sp>
      <p:sp>
        <p:nvSpPr>
          <p:cNvPr id="33" name="Text 5">
            <a:extLst xmlns:a="http://schemas.openxmlformats.org/drawingml/2006/main">
              <a:ext uri="{FF2B5EF4-FFF2-40B4-BE49-F238E27FC236}">
                <a16:creationId xmlns:a16="http://schemas.microsoft.com/office/drawing/2014/main" id="{C9DDB942-E9CF-434D-6854-CE47544F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192437"/>
            <a:ext cx="4808188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etapa resuelve un límite de la anterior y cambia la unidad que diseñamos.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009370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e33c33d0a4033"/>
          <a:srcRect xmlns:a="http://schemas.openxmlformats.org/drawingml/2006/main" l="0" t="0" r="-1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6301"/>
            <a:ext cx="5340349" cy="20637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Prompt</a:t>
            </a:r>
            <a:endParaRPr sz="8000"/>
          </a:p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03066"/>
            <a:ext cx="5340413" cy="674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humano divide el problema y guía cada transformación.</a:t>
            </a:r>
            <a:endParaRPr sz="2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63147"/>
            <a:ext cx="2312504" cy="2777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Visual Studio + Copilot Chat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0922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654">
            <a:solidFill>
              <a:srgbClr val="B2A89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427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379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0a0002b9f42b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3835400"/>
            <a:ext cx="1009651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0751" y="3835400"/>
            <a:ext cx="9779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1" y="3835400"/>
            <a:ext cx="971551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351" y="3530771"/>
            <a:ext cx="1949451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Seleccionar</a:t>
            </a:r>
            <a:endParaRPr sz="14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351" y="3925575"/>
            <a:ext cx="1949451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Objetivo, código, ejemplos y restricciones relevantes para la decisión actual.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0" y="3530771"/>
            <a:ext cx="1955800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Organizar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1" y="3530771"/>
            <a:ext cx="1955800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Actualizar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0" y="3925575"/>
            <a:ext cx="1955800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Priorizar fuentes, memoria y estado sin saturar la ventana de contexto.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1" y="3925575"/>
            <a:ext cx="1955800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Incorporar resultados de herramientas y decisiones del trabajo en curso.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6">
            <a:extLst xmlns:a="http://schemas.openxmlformats.org/drawingml/2006/main"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 engineering</a:t>
            </a:r>
            <a:endParaRPr sz="2700"/>
          </a:p>
        </p:txBody>
      </p:sp>
      <p:sp>
        <p:nvSpPr>
          <p:cNvPr id="6" name="Text 5">
            <a:extLst xmlns:a="http://schemas.openxmlformats.org/drawingml/2006/main"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192437"/>
            <a:ext cx="4449253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Diseña la información que el modelo recibe en cada momento.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12f68fdbf4a2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38099"/>
            <a:ext cx="12192000" cy="689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9F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7" name="Picture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a8d03aa3324a3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2644" y="-38099"/>
            <a:ext cx="12215426" cy="6898123"/>
          </a:xfrm>
          <a:prstGeom xmlns:a="http://schemas.openxmlformats.org/drawingml/2006/main" prst="rect">
            <a:avLst/>
          </a:prstGeom>
        </p:spPr>
      </p:pic>
      <p:sp>
        <p:nvSpPr>
          <p:cNvPr id="19" name="Text 2">
            <a:extLst xmlns:a="http://schemas.openxmlformats.org/drawingml/2006/main"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63147"/>
            <a:ext cx="2312504" cy="2777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producto + tests + entrega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 xmlns:a="http://schemas.openxmlformats.org/drawingml/2006/main"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6301"/>
            <a:ext cx="5340349" cy="20637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Harness</a:t>
            </a:r>
            <a:endParaRPr sz="8000"/>
          </a:p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21" name="Text 1">
            <a:extLst xmlns:a="http://schemas.openxmlformats.org/drawingml/2006/main"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03066"/>
            <a:ext cx="5340413" cy="674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Convierte el contexto en capacidad operativa mediante herramientas, reglas y validación.</a:t>
            </a:r>
            <a:endParaRPr sz="2000"/>
          </a:p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0d8b370b9d4264">
            <a:extLst>
              <a:ext uri="{96DAC541-7B7A-43D3-8B79-37D633B846F1}">
                <asvg:svgBlip xmlns:asvg="http://schemas.microsoft.com/office/drawing/2016/SVG/main" r:embed="Rc0b148a5a5ae4822"/>
              </a:ext>
            </a:extLst>
          </a:blip>
          <a:srcRect xmlns:a="http://schemas.openxmlformats.org/drawingml/2006/main" l="321" t="0" r="321" b="0"/>
          <a:stretch xmlns:a="http://schemas.openxmlformats.org/drawingml/2006/main"/>
        </p:blipFill>
        <p:spPr>
          <a:xfrm xmlns:a="http://schemas.openxmlformats.org/drawingml/2006/main">
            <a:off x="10750551" y="372671"/>
            <a:ext cx="867792" cy="1836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52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CA09645-D8B8-44AD-9D27-432F9381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6200"/>
            <a:ext cx="2670363" cy="3658091"/>
          </a:xfrm>
          <a:prstGeom xmlns:a="http://schemas.openxmlformats.org/drawingml/2006/main" prst="roundRect">
            <a:avLst>
              <a:gd name="adj" fmla="val 4789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A66A65-EC27-43C1-A642-3736F628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2257" y="2616200"/>
            <a:ext cx="2677864" cy="3658091"/>
          </a:xfrm>
          <a:prstGeom xmlns:a="http://schemas.openxmlformats.org/drawingml/2006/main" prst="roundRect">
            <a:avLst>
              <a:gd name="adj" fmla="val 4818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1BFD362-A2D9-4E62-A62E-CF937752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879" y="2616200"/>
            <a:ext cx="2670363" cy="3658091"/>
          </a:xfrm>
          <a:prstGeom xmlns:a="http://schemas.openxmlformats.org/drawingml/2006/main" prst="roundRect">
            <a:avLst>
              <a:gd name="adj" fmla="val 5112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36BFBD0-DFAB-48FD-81AB-C1844B45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127" y="2616200"/>
            <a:ext cx="2670363" cy="3658091"/>
          </a:xfrm>
          <a:prstGeom xmlns:a="http://schemas.openxmlformats.org/drawingml/2006/main" prst="roundRect">
            <a:avLst>
              <a:gd name="adj" fmla="val 4789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B74C5E3-4395-4CBA-BA20-04A4EAA5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3" y="4208822"/>
            <a:ext cx="2115287" cy="2179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3D7917-6DE9-4A5A-99B4-B232393C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280" y="4208822"/>
            <a:ext cx="2115287" cy="2179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Reglas</a:t>
            </a:r>
            <a:endParaRPr sz="1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208C8A1-9D32-486B-AE89-8AFAA325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903" y="4208822"/>
            <a:ext cx="2115287" cy="2179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2FC80B5-6FB1-41DF-BBF8-4E2D7820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2661" y="4208822"/>
            <a:ext cx="2115287" cy="2179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19EC8B2-332F-4A5F-BC78-BCCD23BB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5" y="4603970"/>
            <a:ext cx="2115287" cy="12751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Objetivo, repositorio, convenciones, memoria y estado actual de la tarea.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52BFA74-3883-4ED7-9EA2-3B2A1F30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282" y="4603970"/>
            <a:ext cx="2115287" cy="12751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Restricciones, límites, definición de terminado y permisos.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05AEB69-AEEC-4DA4-B37B-958D177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903" y="4603970"/>
            <a:ext cx="2115287" cy="12751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Editor, terminal, archivos, tests y control de versiones.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3ABC3D4-FBFF-4BB9-9821-508A4DD5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2661" y="4603970"/>
            <a:ext cx="2115287" cy="12751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Compilación, unit tests y evidencia antes de aceptar el resultado.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E7E2349-48EB-47A8-9592-78AC2B28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5" y="2863734"/>
            <a:ext cx="1507705" cy="304167"/>
          </a:xfrm>
          <a:prstGeom xmlns:a="http://schemas.openxmlformats.org/drawingml/2006/main" prst="roundRect">
            <a:avLst>
              <a:gd name="adj" fmla="val 284093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8239961-D4D2-42CE-B019-5A1207E3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14" y="2934893"/>
            <a:ext cx="1047751" cy="1841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01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855A698-3BD1-4F86-B4AF-1758B05D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282" y="2863734"/>
            <a:ext cx="1507705" cy="304167"/>
          </a:xfrm>
          <a:prstGeom xmlns:a="http://schemas.openxmlformats.org/drawingml/2006/main" prst="roundRect">
            <a:avLst>
              <a:gd name="adj" fmla="val 284093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D8787B0-CCE3-4500-AAD2-07D7F300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270" y="2934893"/>
            <a:ext cx="1047751" cy="1841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03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1A873F6-08E6-4D0B-B027-36E646BD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904" y="2863734"/>
            <a:ext cx="1507705" cy="304167"/>
          </a:xfrm>
          <a:prstGeom xmlns:a="http://schemas.openxmlformats.org/drawingml/2006/main" prst="roundRect">
            <a:avLst>
              <a:gd name="adj" fmla="val 284093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78ED3FF-BA30-4078-8DAC-4757327C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893" y="2934893"/>
            <a:ext cx="1047751" cy="1841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02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8001F93-5F38-4D13-9F2E-5F9D88AB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2661" y="2863734"/>
            <a:ext cx="1507705" cy="304167"/>
          </a:xfrm>
          <a:prstGeom xmlns:a="http://schemas.openxmlformats.org/drawingml/2006/main" prst="roundRect">
            <a:avLst>
              <a:gd name="adj" fmla="val 284093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5344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CE7C964-E512-4CC8-9D24-A939E161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2649" y="2934893"/>
            <a:ext cx="1047751" cy="1841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04</a:t>
            </a:r>
            <a:endParaRPr sz="1000">
              <a:solidFill>
                <a:srgbClr val="47433B"/>
              </a:solidFill>
            </a:endParaRPr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98bae04224eaa"/>
          <a:srcRect xmlns:a="http://schemas.openxmlformats.org/drawingml/2006/main" l="0" t="0" r="-1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26" name="Text 6">
            <a:extLst xmlns:a="http://schemas.openxmlformats.org/drawingml/2006/main">
              <a:ext uri="{FF2B5EF4-FFF2-40B4-BE49-F238E27FC236}">
                <a16:creationId xmlns:a16="http://schemas.microsoft.com/office/drawing/2014/main" id="{E4147A36-84F9-9A48-E740-F72DB148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709"/>
            <a:ext cx="5850781" cy="1113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45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Del contexto al harness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3134562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2AC5CF-C7A6-4C8E-815A-5CE577DE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9851"/>
            <a:ext cx="11049000" cy="3750509"/>
          </a:xfrm>
          <a:prstGeom xmlns:a="http://schemas.openxmlformats.org/drawingml/2006/main" prst="roundRect">
            <a:avLst>
              <a:gd name="adj" fmla="val 4120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bb05d5ca04e2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809580" y="2609851"/>
            <a:ext cx="6810921" cy="375050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9A96468-5750-4BA2-B3FB-5A7D3C10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072" y="3037409"/>
            <a:ext cx="3300437" cy="39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Demo: aplicación de consola componentizada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A867E8A-4B3E-4AD9-8FB3-3F13DA11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057" y="3735003"/>
            <a:ext cx="3300437" cy="19952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Implementar un caso de uso completo; separar dominio, aplicación e infraestructura; generar unit tests; compilar y corregir hasta obtener una entrega funcional.</a:t>
            </a:r>
          </a:p>
        </p:txBody>
      </p:sp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8793cef3c423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13" name="Text 5">
            <a:extLst xmlns:a="http://schemas.openxmlformats.org/drawingml/2006/main">
              <a:ext uri="{FF2B5EF4-FFF2-40B4-BE49-F238E27FC236}">
                <a16:creationId xmlns:a16="http://schemas.microsoft.com/office/drawing/2014/main" id="{7B054CF0-DA6C-E9F2-686C-8A05D43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505961"/>
            <a:ext cx="4908549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agente recibe el objetivo; el harness le proporciona los medios para alcanzarlo.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4" name="Text 6">
            <a:extLst xmlns:a="http://schemas.openxmlformats.org/drawingml/2006/main">
              <a:ext uri="{FF2B5EF4-FFF2-40B4-BE49-F238E27FC236}">
                <a16:creationId xmlns:a16="http://schemas.microsoft.com/office/drawing/2014/main" id="{BF4E0E03-1D82-C320-5492-7AAF451E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77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Una consigna amplia puede producir una entrega completa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660938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0f776466f4ca2"/>
          <a:srcRect xmlns:a="http://schemas.openxmlformats.org/drawingml/2006/main" l="0" t="0" r="-1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6301"/>
            <a:ext cx="5340349" cy="20637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</a:t>
            </a:r>
            <a:endParaRPr sz="8000"/>
          </a:p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03066"/>
            <a:ext cx="5340413" cy="674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agente deja de esperar cada instrucción y comienza a conducir iteraciones.</a:t>
            </a:r>
            <a:endParaRPr sz="2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63147"/>
            <a:ext cx="2312504" cy="2777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GitHub Issues + TDD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0922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654">
            <a:solidFill>
              <a:srgbClr val="B2A89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AE2619C-630D-451A-A05E-00E25A4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361" y="4152744"/>
            <a:ext cx="1435100" cy="273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Issue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7D3AFB-A07F-44DB-92EC-A3934E34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5" y="3681034"/>
            <a:ext cx="1048924" cy="2733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Test rojo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E1F0B27-536D-480E-B124-C4554D1A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677" y="3957406"/>
            <a:ext cx="1494791" cy="2733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Verificar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0A3160-89B0-4F91-910D-EA75F00E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5246" y="3511137"/>
            <a:ext cx="1380368" cy="2297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6F075BD-BABE-4E02-9376-EBBBD4FC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870200" y="5082865"/>
            <a:ext cx="18865851" cy="75640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263">
            <a:solidFill>
              <a:srgbClr val="CFC5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E742105-D00F-47E9-AFB2-805B7631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360" y="5651645"/>
            <a:ext cx="169896" cy="169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C5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7E938A6-2BBC-4E9D-82E0-C3D4FA99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5" y="5134571"/>
            <a:ext cx="169896" cy="169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C5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30ECA9-0653-4E69-876E-28F7ED95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3567" y="5193664"/>
            <a:ext cx="169896" cy="169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C5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686E455-AFF1-4B1C-BE6E-BAE11911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5679" y="4994223"/>
            <a:ext cx="169896" cy="169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C5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6FE50E1-1007-450E-AA97-6818A585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00" y="3794565"/>
            <a:ext cx="2031365" cy="434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5576C27-AFE0-4C3D-8B57-B0B9CFCE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55" y="3349985"/>
            <a:ext cx="2031365" cy="4094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D5811BB-529A-4606-9BF1-DF779B98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2837" y="3601786"/>
            <a:ext cx="1494791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7A629EA-3B81-4080-8352-6988BE56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0006" y="3158215"/>
            <a:ext cx="2046605" cy="4247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5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CADD991-17DC-45C5-8A83-0CBEFC47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360" y="4407583"/>
            <a:ext cx="2029405" cy="9869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Lee alcance, criterios de aceptación y dependencias.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25ED74-5E2B-491B-B296-FC4A7588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5" y="3934828"/>
            <a:ext cx="2046603" cy="92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Convierte el comportamiento esperado en un test que falla.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D583677-E6E3-4734-A703-3CBA2C8D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676" y="4211201"/>
            <a:ext cx="2029405" cy="923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Ejecuta tests, inspecciona fallos y vuelve al ciclo si hace falta.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A25FB5A-F885-4923-ABCF-693191B8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5245" y="3764933"/>
            <a:ext cx="2046605" cy="923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Realiza el cambio mínimo para satisfacer la prueba.</a:t>
            </a:r>
            <a:endParaRPr sz="1100">
              <a:solidFill>
                <a:srgbClr val="47433B"/>
              </a:solidFill>
            </a:endParaRPr>
          </a:p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66693d59477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24" name="Text 6">
            <a:extLst xmlns:a="http://schemas.openxmlformats.org/drawingml/2006/main">
              <a:ext uri="{FF2B5EF4-FFF2-40B4-BE49-F238E27FC236}">
                <a16:creationId xmlns:a16="http://schemas.microsoft.com/office/drawing/2014/main" id="{3D887A09-7BC4-5A94-C717-41B5CAD5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loop busca una salida</a:t>
            </a:r>
            <a:endParaRPr sz="2700"/>
          </a:p>
        </p:txBody>
      </p:sp>
      <p:sp>
        <p:nvSpPr>
          <p:cNvPr id="3" name="Text 5">
            <a:extLst xmlns:a="http://schemas.openxmlformats.org/drawingml/2006/main">
              <a:ext uri="{FF2B5EF4-FFF2-40B4-BE49-F238E27FC236}">
                <a16:creationId xmlns:a16="http://schemas.microsoft.com/office/drawing/2014/main" id="{026DEF75-5C73-24A2-7812-BA47514A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192437"/>
            <a:ext cx="4856594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ciclo ejecuta, verifica y decide si continuar.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042719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c6239e0dd477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38099"/>
            <a:ext cx="12192000" cy="689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9F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7" name="Picture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06fad9e464d1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2644" y="-38099"/>
            <a:ext cx="12215426" cy="6898123"/>
          </a:xfrm>
          <a:prstGeom xmlns:a="http://schemas.openxmlformats.org/drawingml/2006/main" prst="rect">
            <a:avLst/>
          </a:prstGeom>
        </p:spPr>
      </p:pic>
      <p:sp>
        <p:nvSpPr>
          <p:cNvPr id="19" name="Text 2">
            <a:extLst xmlns:a="http://schemas.openxmlformats.org/drawingml/2006/main"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63147"/>
            <a:ext cx="2312504" cy="2777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agentes especializados + reviews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 xmlns:a="http://schemas.openxmlformats.org/drawingml/2006/main"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6301"/>
            <a:ext cx="5340349" cy="20637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8000"/>
          </a:p>
          <a:p xmlns:a="http://schemas.openxmlformats.org/drawingml/2006/main"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21" name="Text 1">
            <a:extLst xmlns:a="http://schemas.openxmlformats.org/drawingml/2006/main"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03066"/>
            <a:ext cx="5340413" cy="674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trabajo se modela como roles, dependencias y rutas de validación.</a:t>
            </a:r>
            <a:endParaRPr sz="2000"/>
          </a:p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e6e1980e44dc5">
            <a:extLst>
              <a:ext uri="{96DAC541-7B7A-43D3-8B79-37D633B846F1}">
                <asvg:svgBlip xmlns:asvg="http://schemas.microsoft.com/office/drawing/2016/SVG/main" r:embed="R07b20a27a7ee4a33"/>
              </a:ext>
            </a:extLst>
          </a:blip>
          <a:srcRect xmlns:a="http://schemas.openxmlformats.org/drawingml/2006/main" l="321" t="0" r="321" b="0"/>
          <a:stretch xmlns:a="http://schemas.openxmlformats.org/drawingml/2006/main"/>
        </p:blipFill>
        <p:spPr>
          <a:xfrm xmlns:a="http://schemas.openxmlformats.org/drawingml/2006/main">
            <a:off x="10750551" y="372671"/>
            <a:ext cx="867792" cy="1836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52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5176C6F-477B-4436-A07B-4D0D8D04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978" y="1136967"/>
            <a:ext cx="975597" cy="249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5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/>
            </a:r>
            <a:endParaRPr sz="1500">
              <a:solidFill>
                <a:srgbClr val="47433B"/>
              </a:solidFill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95903E-3F0F-4C6C-A9A7-3DBAB0CF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594" y="2817526"/>
            <a:ext cx="975597" cy="249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5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/>
            </a:r>
            <a:endParaRPr sz="1500">
              <a:solidFill>
                <a:srgbClr val="47433B"/>
              </a:solidFill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3AB292-D256-4F78-8ADF-255E202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4608" y="3769709"/>
            <a:ext cx="889745" cy="2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5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/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1D3ED65-11E1-4D93-81E0-0C51D584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0118" y="3106302"/>
            <a:ext cx="975597" cy="249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5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/>
            </a:r>
            <a:endParaRPr sz="1500">
              <a:solidFill>
                <a:srgbClr val="47433B"/>
              </a:solidFill>
            </a:endParaRP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74CD285-985B-472B-AD42-B4D58A82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816982">
            <a:off x="8963809" y="3794909"/>
            <a:ext cx="433896" cy="433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DEF5C66-5838-4B73-AFDB-A32FF2E5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816982">
            <a:off x="7852596" y="2734496"/>
            <a:ext cx="2001921" cy="200192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15A1749-7188-4F15-910B-89845FF9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11456">
            <a:off x="7179747" y="1467811"/>
            <a:ext cx="3556269" cy="438910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5B7EE3B-EEE7-4A4C-BCB0-2D8538B3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767396">
            <a:off x="5567979" y="1275285"/>
            <a:ext cx="6438296" cy="476172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CDA8F49-A952-42DC-B3A2-CD3BD121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2014">
            <a:off x="7963606" y="3137606"/>
            <a:ext cx="117620" cy="1176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448C431-DE33-40FC-89A3-859669CD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2014">
            <a:off x="10895492" y="2830992"/>
            <a:ext cx="193233" cy="19323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88D34F9-B787-4860-91F3-7487DF1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2014">
            <a:off x="8550774" y="1028874"/>
            <a:ext cx="285648" cy="28564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902D374-7861-4AD0-BEC7-07BDF0F2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249">
            <a:off x="5104607" y="4024791"/>
            <a:ext cx="393171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3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D428683-CE6B-4FF6-9B50-2F88D038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3565661"/>
            <a:ext cx="3574589" cy="243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Worker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E4A15BF-8E03-4B00-8A00-64336E77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4549064"/>
            <a:ext cx="3574589" cy="243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Revisiones paralelas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5F5664B-21CD-4435-BB9F-DBC8D8F2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771" y="5571488"/>
            <a:ext cx="2029243" cy="2443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333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/>
            </a:r>
            <a:endParaRPr sz="1333">
              <a:latin typeface="Tahoma"/>
              <a:ea typeface="Tahoma"/>
              <a:cs typeface="Tahoma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42AE0F0-9833-413D-B8EE-F819061D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2" y="2867993"/>
            <a:ext cx="2653625" cy="4292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Interpreta el issue y produce un plan con criterios de salida.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D1FA153-8D04-422C-8FC5-0FAE0618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2" y="3812375"/>
            <a:ext cx="2653625" cy="4292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 código y tests dentro del alcance acordado.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B1F6F66-D622-424F-8054-4ED345A9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4795778"/>
            <a:ext cx="2708259" cy="366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Seguridad, lógica y mantenibilidad verifican en forma independiente.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6AE1586-E027-4F00-87F6-20602954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2" y="5785292"/>
            <a:ext cx="2653625" cy="4292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401"/>
              </a:lnSpc>
              <a:buNone/>
            </a:pPr>
            <a:r>
              <a:rPr sz="110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Consolida evidencia y decide si aprobar o regresar al worker.</a:t>
            </a:r>
            <a:endParaRPr sz="1100">
              <a:solidFill>
                <a:srgbClr val="DD2C00"/>
              </a:solidFill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F209D7B-9C2E-4128-9535-2B8188F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3432979"/>
            <a:ext cx="35745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561">
            <a:solidFill>
              <a:srgbClr val="B2A89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B98F082-D16C-4810-A994-0F0226D0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4431991"/>
            <a:ext cx="35745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561">
            <a:solidFill>
              <a:srgbClr val="B2A89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2B2C7DE-1391-427F-B0A9-BD1D3DAD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5431003"/>
            <a:ext cx="35745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561">
            <a:solidFill>
              <a:srgbClr val="B2A89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7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bd4b6da3f423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0" name="Text 13">
            <a:extLst xmlns:a="http://schemas.openxmlformats.org/drawingml/2006/main">
              <a:ext uri="{FF2B5EF4-FFF2-40B4-BE49-F238E27FC236}">
                <a16:creationId xmlns:a16="http://schemas.microsoft.com/office/drawing/2014/main" id="{FC9D1DFE-EB69-298D-2C0D-43FA215C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53" y="2608209"/>
            <a:ext cx="3574589" cy="243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Planificador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32" name="Text 6">
            <a:extLst xmlns:a="http://schemas.openxmlformats.org/drawingml/2006/main">
              <a:ext uri="{FF2B5EF4-FFF2-40B4-BE49-F238E27FC236}">
                <a16:creationId xmlns:a16="http://schemas.microsoft.com/office/drawing/2014/main" id="{951C849C-3A61-A922-160F-F25B6868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8"/>
            <a:ext cx="4991100" cy="80518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graph hace explícita la topología</a:t>
            </a:r>
            <a:endParaRPr sz="2700"/>
          </a:p>
        </p:txBody>
      </p:sp>
      <p:sp>
        <p:nvSpPr>
          <p:cNvPr id="14" name="Text 5">
            <a:extLst xmlns:a="http://schemas.openxmlformats.org/drawingml/2006/main">
              <a:ext uri="{FF2B5EF4-FFF2-40B4-BE49-F238E27FC236}">
                <a16:creationId xmlns:a16="http://schemas.microsoft.com/office/drawing/2014/main" id="{CCBA1839-EE12-7B43-0DAA-7D124741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505961"/>
            <a:ext cx="4949065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 nodos trabajan con contratos. Las aristas deciden qué ocurre después.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6" name="Text 14">
            <a:extLst xmlns:a="http://schemas.openxmlformats.org/drawingml/2006/main">
              <a:ext uri="{FF2B5EF4-FFF2-40B4-BE49-F238E27FC236}">
                <a16:creationId xmlns:a16="http://schemas.microsoft.com/office/drawing/2014/main" id="{AB15303B-F3B5-E5EE-90F6-CA18EDE5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5555517"/>
            <a:ext cx="3574589" cy="243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752"/>
              </a:lnSpc>
              <a:buNone/>
            </a:pPr>
            <a:r>
              <a:rPr sz="140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Síntesis y gate</a:t>
            </a:r>
            <a:endParaRPr sz="1400">
              <a:solidFill>
                <a:srgbClr val="DD2C00"/>
              </a:solidFill>
            </a:endParaRPr>
          </a:p>
        </p:txBody>
      </p:sp>
      <p:sp>
        <p:nvSpPr>
          <p:cNvPr id="34" name="Graph Planner">
            <a:extLst xmlns:a="http://schemas.openxmlformats.org/drawingml/2006/main">
              <a:ext uri="{FF2B5EF4-FFF2-40B4-BE49-F238E27FC236}">
                <a16:creationId xmlns:a16="http://schemas.microsoft.com/office/drawing/2014/main" id="{36AAA514-AEED-411A-B82F-3CD784E4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8F6F1"/>
          </a:solidFill>
          <a:ln xmlns:a="http://schemas.openxmlformats.org/drawingml/2006/main" w="12383">
            <a:solidFill>
              <a:srgbClr val="E53212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Planner</a:t>
            </a:r>
          </a:p>
        </p:txBody>
      </p:sp>
      <p:sp>
        <p:nvSpPr>
          <p:cNvPr id="35" name="Graph Worker">
            <a:extLst xmlns:a="http://schemas.openxmlformats.org/drawingml/2006/main">
              <a:ext uri="{FF2B5EF4-FFF2-40B4-BE49-F238E27FC236}">
                <a16:creationId xmlns:a16="http://schemas.microsoft.com/office/drawing/2014/main" id="{8869F702-BC40-4646-81B6-C741C620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670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53212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Worker</a:t>
            </a:r>
          </a:p>
        </p:txBody>
      </p:sp>
      <p:sp>
        <p:nvSpPr>
          <p:cNvPr id="36" name="Security Reviewer">
            <a:extLst xmlns:a="http://schemas.openxmlformats.org/drawingml/2006/main">
              <a:ext uri="{FF2B5EF4-FFF2-40B4-BE49-F238E27FC236}">
                <a16:creationId xmlns:a16="http://schemas.microsoft.com/office/drawing/2014/main" id="{C4081F88-4C91-4553-9D52-BA5F18A0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1428750" cy="42862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8F6F1"/>
          </a:solidFill>
          <a:ln xmlns:a="http://schemas.openxmlformats.org/drawingml/2006/main" w="12383">
            <a:solidFill>
              <a:srgbClr val="CFC9B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Security</a:t>
            </a:r>
          </a:p>
        </p:txBody>
      </p:sp>
      <p:sp>
        <p:nvSpPr>
          <p:cNvPr id="37" name="Logic Reviewer">
            <a:extLst xmlns:a="http://schemas.openxmlformats.org/drawingml/2006/main">
              <a:ext uri="{FF2B5EF4-FFF2-40B4-BE49-F238E27FC236}">
                <a16:creationId xmlns:a16="http://schemas.microsoft.com/office/drawing/2014/main" id="{3B5A825D-4D45-4B84-9AC4-47966EE0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71875"/>
            <a:ext cx="1428750" cy="42862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8F6F1"/>
          </a:solidFill>
          <a:ln xmlns:a="http://schemas.openxmlformats.org/drawingml/2006/main" w="12383">
            <a:solidFill>
              <a:srgbClr val="CFC9B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Logic</a:t>
            </a:r>
          </a:p>
        </p:txBody>
      </p:sp>
      <p:sp>
        <p:nvSpPr>
          <p:cNvPr id="38" name="Maintainability Reviewer">
            <a:extLst xmlns:a="http://schemas.openxmlformats.org/drawingml/2006/main">
              <a:ext uri="{FF2B5EF4-FFF2-40B4-BE49-F238E27FC236}">
                <a16:creationId xmlns:a16="http://schemas.microsoft.com/office/drawing/2014/main" id="{883BE171-B275-481B-B63B-E5C78544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571875"/>
            <a:ext cx="1428750" cy="42862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8F6F1"/>
          </a:solidFill>
          <a:ln xmlns:a="http://schemas.openxmlformats.org/drawingml/2006/main" w="12383">
            <a:solidFill>
              <a:srgbClr val="CFC9B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Maintainability</a:t>
            </a:r>
          </a:p>
        </p:txBody>
      </p:sp>
      <p:sp>
        <p:nvSpPr>
          <p:cNvPr id="39" name="Graph Synthesizer">
            <a:extLst xmlns:a="http://schemas.openxmlformats.org/drawingml/2006/main">
              <a:ext uri="{FF2B5EF4-FFF2-40B4-BE49-F238E27FC236}">
                <a16:creationId xmlns:a16="http://schemas.microsoft.com/office/drawing/2014/main" id="{0ACEFA44-19A2-47BB-9E78-A7620746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53212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Synthesizer</a:t>
            </a:r>
          </a:p>
        </p:txBody>
      </p:sp>
      <p:sp>
        <p:nvSpPr>
          <p:cNvPr id="40" name="Graph Gate">
            <a:extLst xmlns:a="http://schemas.openxmlformats.org/drawingml/2006/main">
              <a:ext uri="{FF2B5EF4-FFF2-40B4-BE49-F238E27FC236}">
                <a16:creationId xmlns:a16="http://schemas.microsoft.com/office/drawing/2014/main" id="{A6CF36F3-750C-4362-9AC2-992CB181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3875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3212"/>
          </a:solidFill>
          <a:ln xmlns:a="http://schemas.openxmlformats.org/drawingml/2006/main" w="12383">
            <a:solidFill>
              <a:srgbClr val="E53212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Pass / revise</a:t>
            </a:r>
          </a:p>
        </p:txBody>
      </p:sp>
      <p:cxnSp>
        <p:nvCxnSpPr>
          <p:cNvPr id="83" name=""/>
          <p:cNvCxnSpPr>
            <a:stCxn xmlns:a="http://schemas.openxmlformats.org/drawingml/2006/main" id="34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8810625" y="2409825"/>
            <a:ext cx="0" cy="257175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35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 flipH="1">
            <a:off x="6905625" y="3124200"/>
            <a:ext cx="1905000" cy="4476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35" idx="2"/>
            <a:endCxn xmlns:a="http://schemas.openxmlformats.org/drawingml/2006/main" id="37" idx="0"/>
          </p:cNvCxnSpPr>
          <p:nvPr/>
        </p:nvCxnSpPr>
        <p:spPr>
          <a:xfrm xmlns:a="http://schemas.openxmlformats.org/drawingml/2006/main">
            <a:off x="8810625" y="3124200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5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8810625" y="3124200"/>
            <a:ext cx="1905000" cy="4476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36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>
            <a:off x="6905625" y="4000500"/>
            <a:ext cx="1905000" cy="4572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37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>
            <a:off x="8810625" y="400050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38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8810625" y="4000500"/>
            <a:ext cx="1905000" cy="4572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90" name=""/>
          <p:cNvCxnSpPr>
            <a:stCxn xmlns:a="http://schemas.openxmlformats.org/drawingml/2006/main" id="39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8810625" y="49149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A9A39B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5510198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23FBA5C-AF6F-4830-B073-36A0440E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4333875" cy="1666875"/>
          </a:xfrm>
          <a:prstGeom xmlns:a="http://schemas.openxmlformats.org/drawingml/2006/main" prst="roundRect">
            <a:avLst>
              <a:gd name="adj" fmla="val 6312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EF35763-F1F1-4004-A148-CBC0D759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24375"/>
            <a:ext cx="4333875" cy="1666875"/>
          </a:xfrm>
          <a:prstGeom xmlns:a="http://schemas.openxmlformats.org/drawingml/2006/main" prst="roundRect">
            <a:avLst>
              <a:gd name="adj" fmla="val 5285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E90F202-8ABF-4D5E-9FE4-9E9BF189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4333875" cy="1666875"/>
          </a:xfrm>
          <a:prstGeom xmlns:a="http://schemas.openxmlformats.org/drawingml/2006/main" prst="roundRect">
            <a:avLst>
              <a:gd name="adj" fmla="val 5490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2FCF6B3-0AC2-4911-B426-0DE2B4E4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4333875" cy="1666875"/>
          </a:xfrm>
          <a:prstGeom xmlns:a="http://schemas.openxmlformats.org/drawingml/2006/main" prst="roundRect">
            <a:avLst>
              <a:gd name="adj" fmla="val 5966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2" name="Round Same Side Corner Rectangle 21">
            <a:extLst xmlns:a="http://schemas.openxmlformats.org/drawingml/2006/main">
              <a:ext uri="{FF2B5EF4-FFF2-40B4-BE49-F238E27FC236}">
                <a16:creationId xmlns:a16="http://schemas.microsoft.com/office/drawing/2014/main" id="{D6DDD592-98A9-D4C1-2760-C861EA8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381125" y="3762375"/>
            <a:ext cx="4333875" cy="476250"/>
          </a:xfrm>
          <a:prstGeom xmlns:a="http://schemas.openxmlformats.org/drawingml/2006/main" prst="round2SameRect">
            <a:avLst>
              <a:gd name="adj1" fmla="val 18213"/>
              <a:gd name="adj2" fmla="val 0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Round Same Side Corner Rectangle 22">
            <a:extLst xmlns:a="http://schemas.openxmlformats.org/drawingml/2006/main">
              <a:ext uri="{FF2B5EF4-FFF2-40B4-BE49-F238E27FC236}">
                <a16:creationId xmlns:a16="http://schemas.microsoft.com/office/drawing/2014/main" id="{9634BB5C-AC6A-B713-27BE-1742CF79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286500" y="3762375"/>
            <a:ext cx="4333875" cy="476250"/>
          </a:xfrm>
          <a:prstGeom xmlns:a="http://schemas.openxmlformats.org/drawingml/2006/main" prst="round2SameRect">
            <a:avLst>
              <a:gd name="adj1" fmla="val 18213"/>
              <a:gd name="adj2" fmla="val 0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Round Same Side Corner Rectangle 27">
            <a:extLst xmlns:a="http://schemas.openxmlformats.org/drawingml/2006/main">
              <a:ext uri="{FF2B5EF4-FFF2-40B4-BE49-F238E27FC236}">
                <a16:creationId xmlns:a16="http://schemas.microsoft.com/office/drawing/2014/main" id="{65D8E0E5-F776-3579-9F86-D4E721B1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381125" y="5715000"/>
            <a:ext cx="4333875" cy="476250"/>
          </a:xfrm>
          <a:prstGeom xmlns:a="http://schemas.openxmlformats.org/drawingml/2006/main" prst="round2SameRect">
            <a:avLst>
              <a:gd name="adj1" fmla="val 18213"/>
              <a:gd name="adj2" fmla="val 0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Round Same Side Corner Rectangle 28">
            <a:extLst xmlns:a="http://schemas.openxmlformats.org/drawingml/2006/main">
              <a:ext uri="{FF2B5EF4-FFF2-40B4-BE49-F238E27FC236}">
                <a16:creationId xmlns:a16="http://schemas.microsoft.com/office/drawing/2014/main" id="{09595243-22B5-763F-2E68-F9404D26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286500" y="5715000"/>
            <a:ext cx="4333875" cy="476250"/>
          </a:xfrm>
          <a:prstGeom xmlns:a="http://schemas.openxmlformats.org/drawingml/2006/main" prst="round2SameRect">
            <a:avLst>
              <a:gd name="adj1" fmla="val 18213"/>
              <a:gd name="adj2" fmla="val 0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585CF87-C276-49D8-A574-1052393D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7622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Single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27EF360-F400-4D9C-BF83-5F264853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7148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Staged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861AFE8-4C85-42F0-BA53-05F445AF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622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Parallel loops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E456358-9656-4B4E-9B66-A0ABEEBD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7148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1D481D1-4FCB-49E1-B3CE-D5E88495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43200"/>
            <a:ext cx="200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simple con pocos pasos y una sola condición de éxito.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7ECFC3A-09FD-4FC7-B34A-A270FE0F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8290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implementar una función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4168010-F92E-4D6B-A860-A1BC596E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95825"/>
            <a:ext cx="200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etapas que dependen de la anterior.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7E6613E-5BC3-40FE-8CA2-7AAC962C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43200"/>
            <a:ext cx="200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Trabajo simple y divisible en unidades independientes.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E368DFB-955C-429B-BFD0-674574BA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695825"/>
            <a:ext cx="200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revisiones independientes y rutas condicionales.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48AB2C7-16A1-4A24-B7D4-18C27616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290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revisar 10 PRs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000EB14-1D09-453E-92B6-701BD250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7816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feature con checkpoints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F367E6C-1C66-4AB3-A2BE-DBCB1B36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7816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auth + datos + APIs</a:t>
            </a:r>
            <a:endParaRPr sz="1100">
              <a:latin typeface="Tahoma"/>
              <a:ea typeface="Tahoma"/>
              <a:cs typeface="Tahoma"/>
            </a:endParaRPr>
          </a:p>
        </p:txBody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5da48c72a4f7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2" y="400051"/>
            <a:ext cx="867785" cy="183659"/>
          </a:xfrm>
          <a:prstGeom xmlns:a="http://schemas.openxmlformats.org/drawingml/2006/main" prst="rect">
            <a:avLst/>
          </a:prstGeom>
        </p:spPr>
      </p:pic>
      <p:sp>
        <p:nvSpPr>
          <p:cNvPr id="27" name="Text 6">
            <a:extLst xmlns:a="http://schemas.openxmlformats.org/drawingml/2006/main">
              <a:ext uri="{FF2B5EF4-FFF2-40B4-BE49-F238E27FC236}">
                <a16:creationId xmlns:a16="http://schemas.microsoft.com/office/drawing/2014/main" id="{80C2779C-110F-521F-7322-B4774D51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 o graph según el trabajo</a:t>
            </a:r>
            <a:endParaRPr sz="2700"/>
          </a:p>
        </p:txBody>
      </p:sp>
      <p:sp>
        <p:nvSpPr>
          <p:cNvPr id="3" name="Text 5">
            <a:extLst xmlns:a="http://schemas.openxmlformats.org/drawingml/2006/main">
              <a:ext uri="{FF2B5EF4-FFF2-40B4-BE49-F238E27FC236}">
                <a16:creationId xmlns:a16="http://schemas.microsoft.com/office/drawing/2014/main" id="{0095BBB8-652A-DF33-1D12-737C9C40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192437"/>
            <a:ext cx="4819339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complejidad y la necesidad de concurrencia determinan la topología.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31" name="Concurrency Axis">
            <a:extLst xmlns:a="http://schemas.openxmlformats.org/drawingml/2006/main">
              <a:ext uri="{FF2B5EF4-FFF2-40B4-BE49-F238E27FC236}">
                <a16:creationId xmlns:a16="http://schemas.microsoft.com/office/drawing/2014/main" id="{9B78208D-7236-47E1-82E5-33CD2CBB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955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necesidad de concurrencia</a:t>
            </a:r>
          </a:p>
        </p:txBody>
      </p:sp>
      <p:sp>
        <p:nvSpPr>
          <p:cNvPr id="32" name="Complexity Axis">
            <a:extLst xmlns:a="http://schemas.openxmlformats.org/drawingml/2006/main">
              <a:ext uri="{FF2B5EF4-FFF2-40B4-BE49-F238E27FC236}">
                <a16:creationId xmlns:a16="http://schemas.microsoft.com/office/drawing/2014/main" id="{2D5864D8-3D3B-47ED-B013-55BB92E3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381000" y="3571875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complejidad</a:t>
            </a:r>
          </a:p>
        </p:txBody>
      </p:sp>
    </p:spTree>
    <p:extLst>
      <p:ext uri="{BB962C8B-B14F-4D97-AF65-F5344CB8AC3E}">
        <p14:creationId xmlns:p14="http://schemas.microsoft.com/office/powerpoint/2010/main" val="3988079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427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379" y="2559051"/>
            <a:ext cx="3515125" cy="351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9F3"/>
          </a:solidFill>
          <a:ln xmlns:a="http://schemas.openxmlformats.org/drawingml/2006/main" w="5385">
            <a:solidFill>
              <a:srgbClr val="E0DA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c42ac1fcf409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3835400"/>
            <a:ext cx="1009651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0751" y="3835400"/>
            <a:ext cx="9779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1" y="3835400"/>
            <a:ext cx="971551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351" y="3530771"/>
            <a:ext cx="1949451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Preparar</a:t>
            </a:r>
            <a:endParaRPr sz="14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351" y="3925575"/>
            <a:ext cx="1949451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humano define objetivos, límites, permisos y criterios de aceptación.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0" y="3530771"/>
            <a:ext cx="1955800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Ejecutar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1" y="3530771"/>
            <a:ext cx="1955800" cy="43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Aprobar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0" y="3925575"/>
            <a:ext cx="1955800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Los agentes producen cambios, tests, revisiones y evidencia.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1" y="3925575"/>
            <a:ext cx="1955800" cy="12763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Una persona valida riesgos, excepciones y decisiones irreversibles.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6">
            <a:extLst xmlns:a="http://schemas.openxmlformats.org/drawingml/2006/main"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autonomía exige control</a:t>
            </a:r>
            <a:endParaRPr sz="2700"/>
          </a:p>
        </p:txBody>
      </p:sp>
      <p:sp>
        <p:nvSpPr>
          <p:cNvPr id="6" name="Text 5">
            <a:extLst xmlns:a="http://schemas.openxmlformats.org/drawingml/2006/main"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192437"/>
            <a:ext cx="4449253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Human-in-the-loop aprueba decisiones relevantes.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c5af175e44b01"/>
          <a:srcRect xmlns:a="http://schemas.openxmlformats.org/drawingml/2006/main" l="2965" t="2836" r="0" b="43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49699" y="-454026"/>
            <a:ext cx="12741700" cy="7766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de6b46537465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9" name="Text 1">
            <a:extLst xmlns:a="http://schemas.openxmlformats.org/drawingml/2006/main"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3149665"/>
            <a:ext cx="5010441" cy="3000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2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Artefactos agénticos</a:t>
            </a:r>
            <a:endParaRPr sz="2000">
              <a:solidFill>
                <a:srgbClr val="47433B"/>
              </a:solidFill>
            </a:endParaRPr>
          </a:p>
        </p:txBody>
      </p:sp>
      <p:sp>
        <p:nvSpPr>
          <p:cNvPr id="10" name="Text 2">
            <a:extLst xmlns:a="http://schemas.openxmlformats.org/drawingml/2006/main"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3562223"/>
            <a:ext cx="5010441" cy="263618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Issues, especificaciones, instrucciones versionadas, skills, tests, pipelines y checkpoints forman el contexto operativo del desarrollo.</a:t>
            </a:r>
            <a:endParaRPr sz="11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/>
            </a:r>
          </a:p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equipo convierte su forma de trabajar en información seleccionable, herramientas ejecutables y controles reutilizables.</a:t>
            </a:r>
          </a:p>
        </p:txBody>
      </p:sp>
      <p:sp>
        <p:nvSpPr>
          <p:cNvPr id="13" name="Text 6">
            <a:extLst xmlns:a="http://schemas.openxmlformats.org/drawingml/2006/main"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8"/>
            <a:ext cx="5010440" cy="8097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SDLC se vuelve contexto ejecutable</a:t>
            </a:r>
            <a:endParaRPr sz="2700"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505961"/>
            <a:ext cx="5004091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Las prácticas del equipo dejan de vivir solo en documentos y pasan a orientar el comportamiento de los agentes.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9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2AC5CF-C7A6-4C8E-815A-5CE577DE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9851"/>
            <a:ext cx="11049000" cy="3750509"/>
          </a:xfrm>
          <a:prstGeom xmlns:a="http://schemas.openxmlformats.org/drawingml/2006/main" prst="roundRect">
            <a:avLst>
              <a:gd name="adj" fmla="val 4120"/>
            </a:avLst>
          </a:prstGeom>
          <a:solidFill xmlns:a="http://schemas.openxmlformats.org/drawingml/2006/main">
            <a:srgbClr val="F7F4E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ea286a16943e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809580" y="2609851"/>
            <a:ext cx="6810921" cy="375050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9A96468-5750-4BA2-B3FB-5A7D3C10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072" y="3037409"/>
            <a:ext cx="3300437" cy="39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683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Azure App Service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A867E8A-4B3E-4AD9-8FB3-3F13DA11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057" y="3735003"/>
            <a:ext cx="3300437" cy="19952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Evolucionar la solución a una API o web mínima; generar el pipeline; desplegar una versión verificable; extender el grafo desde el issue hasta el delivery.</a:t>
            </a:r>
          </a:p>
        </p:txBody>
      </p:sp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ac37596d04b8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13" name="Text 5">
            <a:extLst xmlns:a="http://schemas.openxmlformats.org/drawingml/2006/main">
              <a:ext uri="{FF2B5EF4-FFF2-40B4-BE49-F238E27FC236}">
                <a16:creationId xmlns:a16="http://schemas.microsoft.com/office/drawing/2014/main" id="{7B054CF0-DA6C-E9F2-686C-8A05D43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1" y="1505961"/>
            <a:ext cx="4908549" cy="4254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Solo si el tiempo y la estabilidad de las demos lo permiten.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4" name="Text 6">
            <a:extLst xmlns:a="http://schemas.openxmlformats.org/drawingml/2006/main">
              <a:ext uri="{FF2B5EF4-FFF2-40B4-BE49-F238E27FC236}">
                <a16:creationId xmlns:a16="http://schemas.microsoft.com/office/drawing/2014/main" id="{BF4E0E03-1D82-C320-5492-7AAF451E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1" y="583709"/>
            <a:ext cx="4991100" cy="77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Stretch goal: llegar hasta producción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660938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39a1908644ed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50551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38099"/>
            <a:ext cx="12192000" cy="689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9F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813051" y="-555391"/>
            <a:ext cx="9883140" cy="811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200"/>
          </a:p>
        </p:txBody>
      </p:sp>
      <p:pic>
        <p:nvPicPr>
          <p:cNvPr id="21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19a48494c40b5"/>
          <a:srcRect xmlns:a="http://schemas.openxmlformats.org/drawingml/2006/main" l="0" t="2852" r="15632" b="21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99353" y="-49628"/>
            <a:ext cx="9908140" cy="6974851"/>
          </a:xfrm>
          <a:prstGeom xmlns:a="http://schemas.openxmlformats.org/drawingml/2006/main" prst="rect">
            <a:avLst/>
          </a:prstGeom>
        </p:spPr>
      </p:pic>
      <p:pic>
        <p:nvPicPr>
          <p:cNvPr id="2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4ceb665cdb4915"/>
          <a:srcRect xmlns:a="http://schemas.openxmlformats.org/drawingml/2006/main" l="0" t="0" r="0" b="552"/>
          <a:stretch xmlns:a="http://schemas.openxmlformats.org/drawingml/2006/main"/>
        </p:blipFill>
        <p:spPr>
          <a:xfrm xmlns:a="http://schemas.openxmlformats.org/drawingml/2006/main">
            <a:off x="1813942" y="-49626"/>
            <a:ext cx="5144393" cy="6957252"/>
          </a:xfrm>
          <a:prstGeom xmlns:a="http://schemas.openxmlformats.org/drawingml/2006/main" prst="rect">
            <a:avLst/>
          </a:prstGeom>
        </p:spPr>
      </p:pic>
      <p:pic>
        <p:nvPicPr>
          <p:cNvPr id="2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6e866169b4632"/>
          <a:srcRect xmlns:a="http://schemas.openxmlformats.org/drawingml/2006/main" l="0" t="0" r="436" b="990"/>
          <a:stretch xmlns:a="http://schemas.openxmlformats.org/drawingml/2006/main"/>
        </p:blipFill>
        <p:spPr>
          <a:xfrm xmlns:a="http://schemas.openxmlformats.org/drawingml/2006/main">
            <a:off x="-30839" y="-58468"/>
            <a:ext cx="12238332" cy="6983691"/>
          </a:xfrm>
          <a:prstGeom xmlns:a="http://schemas.openxmlformats.org/drawingml/2006/main" prst="rect">
            <a:avLst/>
          </a:prstGeom>
        </p:spPr>
      </p:pic>
      <p:pic>
        <p:nvPicPr>
          <p:cNvPr id="2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39a1908644ed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400051"/>
            <a:ext cx="867792" cy="183659"/>
          </a:xfrm>
          <a:prstGeom xmlns:a="http://schemas.openxmlformats.org/drawingml/2006/main" prst="rect">
            <a:avLst/>
          </a:prstGeom>
        </p:spPr>
      </p:pic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1" y="2438400"/>
            <a:ext cx="4792980" cy="198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7068"/>
              </a:lnSpc>
              <a:buNone/>
            </a:pPr>
            <a:r>
              <a:rPr sz="7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Sistemas,</a:t>
            </a:r>
            <a:endParaRPr sz="7000"/>
          </a:p>
          <a:p xmlns:a="http://schemas.openxmlformats.org/drawingml/2006/main">
            <a:pPr>
              <a:lnSpc>
                <a:spcPts val="7068"/>
              </a:lnSpc>
              <a:buNone/>
            </a:pPr>
            <a:r>
              <a:rPr sz="7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no prompts</a:t>
            </a:r>
            <a:endParaRPr sz="7000"/>
          </a:p>
        </p:txBody>
      </p:sp>
      <p:sp>
        <p:nvSpPr>
          <p:cNvPr id="12" name="Text 3">
            <a:extLst xmlns:a="http://schemas.openxmlformats.org/drawingml/2006/main"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1" y="5295923"/>
            <a:ext cx="3192780" cy="6798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>
              <a:lnSpc>
                <a:spcPts val="2109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 útil. Ejecución verificable. Autonomía gobernable.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68062322"/>
      </p:ext>
    </p:extLst>
  </p:cSld>
</p:sld>
</file>

<file path=ppt/theme/theme1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2026-09-19T21:30:01.4140000Z</dcterms:created>
  <dcterms:modified xsi:type="dcterms:W3CDTF">2026-09-19T21:30:01.4140000Z</dcterms:modified>
</coreProperties>
</file>